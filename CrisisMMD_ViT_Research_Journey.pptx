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8DD462C-3358-9375-0EC3-CF2E6C5FD6A2}">
          <p14:sldIdLst>
            <p14:sldId id="256"/>
          </p14:sldIdLst>
        </p14:section>
        <p14:section name="Overview" id="{F5E0F1A3-D59E-80BC-9B99-6F5E23F43D24}">
          <p14:sldIdLst>
            <p14:sldId id="257"/>
            <p14:sldId id="258"/>
          </p14:sldIdLst>
        </p14:section>
        <p14:section name="How the models work" id="{16F6E5C0-A3CF-11A4-AA08-8CBA8E12E425}">
          <p14:sldIdLst>
            <p14:sldId id="259"/>
            <p14:sldId id="260"/>
          </p14:sldIdLst>
        </p14:section>
        <p14:section name="Experiments" id="{E4AB58C4-AAEB-C519-1477-EDB80FC32806}">
          <p14:sldIdLst>
            <p14:sldId id="261"/>
          </p14:sldIdLst>
        </p14:section>
        <p14:section name="The journey" id="{630D0D70-2AF4-0A0F-CCFE-F2808079EC89}">
          <p14:sldIdLst>
            <p14:sldId id="262"/>
            <p14:sldId id="263"/>
            <p14:sldId id="264"/>
            <p14:sldId id="265"/>
          </p14:sldIdLst>
        </p14:section>
        <p14:section name="Results" id="{5829D34C-B073-F0F0-625C-E774A5467BCD}">
          <p14:sldIdLst>
            <p14:sldId id="266"/>
            <p14:sldId id="267"/>
            <p14:sldId id="268"/>
            <p14:sldId id="269"/>
          </p14:sldIdLst>
        </p14:section>
        <p14:section name="Close" id="{CC7FCF40-E265-FAA5-5FB1-AF5FD84380F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3285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I compared three pretrained vision transformers on disaster-damage images and documented what each tuning decision changed. The grid on the right is a picture of how a ViT sees an image: as a grid of patches.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slide about the project description. Click 1: the problem. Click 2: the data, 3,463 images and three damage labels. Click 3: the four research questions. Click 4: the real objective. This is a research project about how the models work and how my decisions changed them, not an accuracy race.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talk. Six stations. Each click brings in one station: the question I asked, and what I changed to answer it. I come back to this order on every stage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The image is cut into 16 by 16 patches, 196 in total. Each patch is turned into a vector, a position and a class token are added, and the sequence goes through 12 encoder blocks. The class token is read by a linear layer to give three scores. Last three clicks: what self-attention does, why it matters for damage photos, and the key term: the CLS token.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transformer family, different ideas. ViT learns from labels with plain global attention. ConViT adds a gated positional attention that starts out behaving like a convolution. DINOv2 uses no labels at all: a student network learns to match a teacher on different crops of the same image. Each card comes with the key term underneath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result: the class balance and the rules. Click 1: class counts, little or no damage is 63 percent of the data. Click 2: the split, with the key term stratified. Then three rules: Macro-F1 as the metric because of the imbalance, validation-only selection, and an image-level split that is not event-held-out.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I froze each backbone and trained only a linear classifier on top, so this isolates the quality of the pretrained features. Click 1: what I did, plus the key term linear probe. Click 2: ViT and ConViT land around 50 to 52 percent Macro-F1. Click 3: DINOv2 reaches 57.30. This is the number I start the journey from. Click 4: the full validation scores. Click 5: the decision.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57.30. Click 1 and 2: I swept the learning rate of the linear classifier, and 3e-4 gave 59.10. Click 3: I then unfroze the last one, then two, transformer blocks; this is the key term unfreezing. Click 4: one block gave 60.00. Click 5: two blocks had the best accuracy but a lower Macro-F1, which is why I select on Macro-F1.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question: is the classifier on top, and the loss it is trained with, limiting the model? Click 2: two head designs, Conv plus GroupNorm at 64.92 and an MLP at 64.81. Click 3: the key term, focal loss, with its formula and label smoothing. Click 4: focal loss gamma 1 reached 65.74, the highest Macro-F1 so far. Click 5: these were separate runs, so I read the direction, not a clean one-variable proof.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change was to the input pipeline. This is the only controlled series: same model, same focal loss gamma 1, only the training transform changes. Click 2 to 4: baseline, realistic and RandAugment, each with its numbers. Click 5: realistic is selected for the highest Macro-F1, but only by 0.11 points, so the choice is small and I say so.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journey on one axis, validation Macro-F1. Each click adds the next change: 57.30 to 59.10 to 60.00, then the jump to 64.92 and 65.74 from head and loss, and finally 64.18 for the realistic-augmentation checkpoint. Last click: why the last point is lower than the one before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selected checkpoint is the realistic-augmentation run. Click 1: its exact configuration, so it can be reproduced. Then the locked test result on 693 images, evaluated once: accuracy 69.41, balanced accuracy 61.30, Macro-F1 59.78, weighted F1 70.23. Macro-F1 is lower because the rarer classes are harder.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checkpoint, two sets. Each click shows one metric: validation in blue, test in amber. The test scores are lower by 4.40, 4.30 and 2.31 points. Last click: what that gap can and cannot tell us.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slide. The printed per-class report shows supports of 95, 165 and 433. The dataset has 2,166, 823 and 474 images in the other order, so the first and third class names look swapped. The overall metrics are not affected, but I do not interpret the per-class names until I verify the label mapping. Last click: the key terms precision, recall and support.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each tied to something inside the models. One: pretraining objective decides the starting point. Two: more adaptation is not automatically better. Three: head and loss reshape class balance. Four: augmentation moves different metrics in different directions, and the gaps are small.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Limits: single runs, image-level split, separate runs in stage 3, the label check. Responsible use: crisis images involve real people; this is decision support only. Next steps: fix the mapping, repeat with seeds, event-held-out testing, error analysis and efficiency measurements.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From 57.30 percent validation Macro-F1 with a frozen DINOv2 probe to 64.18 with the selected checkpoint. On 693 held-out test images it scores 59.78 Macro-F1 and 69.41 accuracy. The main result of the project is the documented comparison: what each decision changed, including the mixed outcomes. Then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6583680" cy="2286000"/>
          </a:xfrm>
          <a:prstGeom prst="rect">
            <a:avLst/>
          </a:prstGeom>
          <a:noFill/>
          <a:ln/>
        </p:spPr>
        <p:txBody>
          <a:bodyPr wrap="square" rtlCol="0"/>
          <a:lstStyle>
            <a:lvl1pPr marL="0" indent="0" algn="l">
              <a:buNone/>
              <a:defRPr lang="en-US" sz="4000" b="1" dirty="0">
                <a:solidFill>
                  <a:schemeClr val="tx2"/>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977640"/>
            <a:ext cx="6400800" cy="914400"/>
          </a:xfrm>
          <a:prstGeom prst="rect">
            <a:avLst/>
          </a:prstGeom>
          <a:noFill/>
          <a:ln/>
        </p:spPr>
        <p:txBody>
          <a:bodyPr wrap="square" rtlCol="0"/>
          <a:lstStyle>
            <a:lvl1pPr marL="0" indent="0" algn="l">
              <a:buNone/>
              <a:defRPr lang="en-US" sz="2000" dirty="0">
                <a:solidFill>
                  <a:schemeClr val="tx1"/>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rtlCol="0"/>
          <a:lstStyle>
            <a:lvl1pPr marL="0" indent="0" algn="l">
              <a:buNone/>
              <a:defRPr lang="en-US" sz="1200" b="1" dirty="0">
                <a:solidFill>
                  <a:schemeClr val="accent1"/>
                </a:solidFill>
              </a:defRPr>
            </a:lvl1pPr>
          </a:lstStyle>
          <a:p>
            <a:pPr marL="0" indent="0" algn="l">
              <a:buNone/>
            </a:pP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rgbClr val="5B6B82"/>
                </a:solidFill>
              </a:rPr>
              <a:t>MAAI 901  |  Vision Transformers on CrisisMMD</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731520" y="1554480"/>
            <a:ext cx="6583680" cy="2286000"/>
          </a:xfrm>
          <a:prstGeom prst="rect">
            <a:avLst/>
          </a:prstGeom>
          <a:noFill/>
          <a:ln/>
        </p:spPr>
        <p:txBody>
          <a:bodyPr wrap="square" lIns="0" tIns="0" rIns="0" bIns="0" rtlCol="0" anchor="t"/>
          <a:lstStyle/>
          <a:p>
            <a:pPr marL="0" indent="0" algn="l">
              <a:buNone/>
            </a:pPr>
            <a:r>
              <a:rPr lang="en-US" sz="4000" b="1" dirty="0">
                <a:solidFill>
                  <a:schemeClr val="tx2"/>
                </a:solidFill>
              </a:rPr>
              <a:t>Vision Transformers for Disaster Damage Classification</a:t>
            </a:r>
            <a:endParaRPr lang="en-US" sz="4000" dirty="0"/>
          </a:p>
        </p:txBody>
      </p:sp>
      <p:sp>
        <p:nvSpPr>
          <p:cNvPr id="4" name="Text 0"/>
          <p:cNvSpPr>
            <a:spLocks noGrp="1"/>
          </p:cNvSpPr>
          <p:nvPr>
            <p:ph type="body" idx="101" hasCustomPrompt="1"/>
          </p:nvPr>
        </p:nvSpPr>
        <p:spPr>
          <a:xfrm>
            <a:off x="731520" y="3977640"/>
            <a:ext cx="6400800" cy="914400"/>
          </a:xfrm>
          <a:prstGeom prst="rect">
            <a:avLst/>
          </a:prstGeom>
          <a:noFill/>
          <a:ln/>
        </p:spPr>
        <p:txBody>
          <a:bodyPr wrap="square" lIns="0" tIns="0" rIns="0" bIns="0" rtlCol="0" anchor="t"/>
          <a:lstStyle/>
          <a:p>
            <a:pPr marL="0" indent="0" algn="l">
              <a:buNone/>
            </a:pPr>
            <a:r>
              <a:rPr lang="en-US" sz="2000" dirty="0">
                <a:solidFill>
                  <a:schemeClr val="tx1"/>
                </a:solidFill>
              </a:rPr>
              <a:t>An experimental study of ViT, ConViT and DINOv2 on CrisisMMD image data</a:t>
            </a:r>
            <a:endParaRPr lang="en-US" sz="2000" dirty="0"/>
          </a:p>
        </p:txBody>
      </p:sp>
      <p:sp>
        <p:nvSpPr>
          <p:cNvPr id="5" name="Text 2"/>
          <p:cNvSpPr txBox="1"/>
          <p:nvPr/>
        </p:nvSpPr>
        <p:spPr>
          <a:xfrm>
            <a:off x="731520" y="5257800"/>
            <a:ext cx="5486400" cy="731520"/>
          </a:xfrm>
          <a:prstGeom prst="rect">
            <a:avLst/>
          </a:prstGeom>
          <a:noFill/>
          <a:ln/>
        </p:spPr>
        <p:txBody>
          <a:bodyPr wrap="square" lIns="0" tIns="0" rIns="0" bIns="0" rtlCol="0" anchor="t"/>
          <a:lstStyle/>
          <a:p>
            <a:pPr marL="0" indent="0">
              <a:buNone/>
            </a:pPr>
            <a:r>
              <a:rPr lang="en-US" sz="1600" b="1" dirty="0">
                <a:solidFill>
                  <a:schemeClr val="accent1"/>
                </a:solidFill>
              </a:rPr>
              <a:t>MAAI 901</a:t>
            </a:r>
            <a:endParaRPr lang="en-US" sz="1600" dirty="0"/>
          </a:p>
          <a:p>
            <a:pPr marL="0" indent="0">
              <a:buNone/>
            </a:pPr>
            <a:r>
              <a:rPr lang="en-US" sz="1600" dirty="0">
                <a:solidFill>
                  <a:schemeClr val="tx1"/>
                </a:solidFill>
              </a:rPr>
              <a:t>Hozefa Mustan Kanchwala</a:t>
            </a:r>
            <a:endParaRPr lang="en-US" sz="1600" dirty="0"/>
          </a:p>
        </p:txBody>
      </p:sp>
      <p:sp>
        <p:nvSpPr>
          <p:cNvPr id="6" name="patch_0_0"/>
          <p:cNvSpPr/>
          <p:nvPr/>
        </p:nvSpPr>
        <p:spPr>
          <a:xfrm>
            <a:off x="7818120" y="1463040"/>
            <a:ext cx="566928" cy="566928"/>
          </a:xfrm>
          <a:prstGeom prst="roundRect">
            <a:avLst>
              <a:gd name="adj" fmla="val 8065"/>
            </a:avLst>
          </a:prstGeom>
          <a:solidFill>
            <a:schemeClr val="accent2">
              <a:alpha val="70000"/>
            </a:schemeClr>
          </a:solidFill>
          <a:ln/>
        </p:spPr>
        <p:txBody>
          <a:bodyPr/>
          <a:lstStyle/>
          <a:p>
            <a:endParaRPr lang="en-US"/>
          </a:p>
        </p:txBody>
      </p:sp>
      <p:sp>
        <p:nvSpPr>
          <p:cNvPr id="7" name="patch_0_1"/>
          <p:cNvSpPr/>
          <p:nvPr/>
        </p:nvSpPr>
        <p:spPr>
          <a:xfrm>
            <a:off x="8458200" y="1463040"/>
            <a:ext cx="566928" cy="566928"/>
          </a:xfrm>
          <a:prstGeom prst="roundRect">
            <a:avLst>
              <a:gd name="adj" fmla="val 8065"/>
            </a:avLst>
          </a:prstGeom>
          <a:solidFill>
            <a:schemeClr val="accent1">
              <a:alpha val="30000"/>
            </a:schemeClr>
          </a:solidFill>
          <a:ln/>
        </p:spPr>
        <p:txBody>
          <a:bodyPr/>
          <a:lstStyle/>
          <a:p>
            <a:endParaRPr lang="en-US"/>
          </a:p>
        </p:txBody>
      </p:sp>
      <p:sp>
        <p:nvSpPr>
          <p:cNvPr id="8" name="patch_0_2"/>
          <p:cNvSpPr/>
          <p:nvPr/>
        </p:nvSpPr>
        <p:spPr>
          <a:xfrm>
            <a:off x="9098280" y="1463040"/>
            <a:ext cx="566928" cy="566928"/>
          </a:xfrm>
          <a:prstGeom prst="roundRect">
            <a:avLst>
              <a:gd name="adj" fmla="val 8065"/>
            </a:avLst>
          </a:prstGeom>
          <a:solidFill>
            <a:schemeClr val="accent1">
              <a:alpha val="55000"/>
            </a:schemeClr>
          </a:solidFill>
          <a:ln/>
        </p:spPr>
        <p:txBody>
          <a:bodyPr/>
          <a:lstStyle/>
          <a:p>
            <a:endParaRPr lang="en-US"/>
          </a:p>
        </p:txBody>
      </p:sp>
      <p:sp>
        <p:nvSpPr>
          <p:cNvPr id="9" name="patch_0_3"/>
          <p:cNvSpPr/>
          <p:nvPr/>
        </p:nvSpPr>
        <p:spPr>
          <a:xfrm>
            <a:off x="9738360" y="1463040"/>
            <a:ext cx="566928" cy="566928"/>
          </a:xfrm>
          <a:prstGeom prst="roundRect">
            <a:avLst>
              <a:gd name="adj" fmla="val 8065"/>
            </a:avLst>
          </a:prstGeom>
          <a:solidFill>
            <a:schemeClr val="accent2">
              <a:alpha val="15000"/>
            </a:schemeClr>
          </a:solidFill>
          <a:ln/>
        </p:spPr>
        <p:txBody>
          <a:bodyPr/>
          <a:lstStyle/>
          <a:p>
            <a:endParaRPr lang="en-US"/>
          </a:p>
        </p:txBody>
      </p:sp>
      <p:sp>
        <p:nvSpPr>
          <p:cNvPr id="10" name="patch_0_4"/>
          <p:cNvSpPr/>
          <p:nvPr/>
        </p:nvSpPr>
        <p:spPr>
          <a:xfrm>
            <a:off x="10378440" y="1463040"/>
            <a:ext cx="566928" cy="566928"/>
          </a:xfrm>
          <a:prstGeom prst="roundRect">
            <a:avLst>
              <a:gd name="adj" fmla="val 8065"/>
            </a:avLst>
          </a:prstGeom>
          <a:solidFill>
            <a:schemeClr val="accent1">
              <a:alpha val="75000"/>
            </a:schemeClr>
          </a:solidFill>
          <a:ln/>
        </p:spPr>
        <p:txBody>
          <a:bodyPr/>
          <a:lstStyle/>
          <a:p>
            <a:endParaRPr lang="en-US"/>
          </a:p>
        </p:txBody>
      </p:sp>
      <p:sp>
        <p:nvSpPr>
          <p:cNvPr id="11" name="patch_0_5"/>
          <p:cNvSpPr/>
          <p:nvPr/>
        </p:nvSpPr>
        <p:spPr>
          <a:xfrm>
            <a:off x="11018520" y="1463040"/>
            <a:ext cx="566928" cy="566928"/>
          </a:xfrm>
          <a:prstGeom prst="roundRect">
            <a:avLst>
              <a:gd name="adj" fmla="val 8065"/>
            </a:avLst>
          </a:prstGeom>
          <a:solidFill>
            <a:schemeClr val="accent1">
              <a:alpha val="40000"/>
            </a:schemeClr>
          </a:solidFill>
          <a:ln/>
        </p:spPr>
        <p:txBody>
          <a:bodyPr/>
          <a:lstStyle/>
          <a:p>
            <a:endParaRPr lang="en-US"/>
          </a:p>
        </p:txBody>
      </p:sp>
      <p:sp>
        <p:nvSpPr>
          <p:cNvPr id="12" name="patch_1_0"/>
          <p:cNvSpPr/>
          <p:nvPr/>
        </p:nvSpPr>
        <p:spPr>
          <a:xfrm>
            <a:off x="7818120" y="2103120"/>
            <a:ext cx="566928" cy="566928"/>
          </a:xfrm>
          <a:prstGeom prst="roundRect">
            <a:avLst>
              <a:gd name="adj" fmla="val 8065"/>
            </a:avLst>
          </a:prstGeom>
          <a:solidFill>
            <a:schemeClr val="accent1">
              <a:alpha val="35000"/>
            </a:schemeClr>
          </a:solidFill>
          <a:ln/>
        </p:spPr>
        <p:txBody>
          <a:bodyPr/>
          <a:lstStyle/>
          <a:p>
            <a:endParaRPr lang="en-US"/>
          </a:p>
        </p:txBody>
      </p:sp>
      <p:sp>
        <p:nvSpPr>
          <p:cNvPr id="13" name="patch_1_1"/>
          <p:cNvSpPr/>
          <p:nvPr/>
        </p:nvSpPr>
        <p:spPr>
          <a:xfrm>
            <a:off x="8458200" y="2103120"/>
            <a:ext cx="566928" cy="566928"/>
          </a:xfrm>
          <a:prstGeom prst="roundRect">
            <a:avLst>
              <a:gd name="adj" fmla="val 8065"/>
            </a:avLst>
          </a:prstGeom>
          <a:solidFill>
            <a:schemeClr val="accent1">
              <a:alpha val="65000"/>
            </a:schemeClr>
          </a:solidFill>
          <a:ln/>
        </p:spPr>
        <p:txBody>
          <a:bodyPr/>
          <a:lstStyle/>
          <a:p>
            <a:endParaRPr lang="en-US"/>
          </a:p>
        </p:txBody>
      </p:sp>
      <p:sp>
        <p:nvSpPr>
          <p:cNvPr id="14" name="patch_1_2"/>
          <p:cNvSpPr/>
          <p:nvPr/>
        </p:nvSpPr>
        <p:spPr>
          <a:xfrm>
            <a:off x="9098280" y="2103120"/>
            <a:ext cx="566928" cy="566928"/>
          </a:xfrm>
          <a:prstGeom prst="roundRect">
            <a:avLst>
              <a:gd name="adj" fmla="val 8065"/>
            </a:avLst>
          </a:prstGeom>
          <a:solidFill>
            <a:schemeClr val="accent2">
              <a:alpha val="20000"/>
            </a:schemeClr>
          </a:solidFill>
          <a:ln/>
        </p:spPr>
        <p:txBody>
          <a:bodyPr/>
          <a:lstStyle/>
          <a:p>
            <a:endParaRPr lang="en-US"/>
          </a:p>
        </p:txBody>
      </p:sp>
      <p:sp>
        <p:nvSpPr>
          <p:cNvPr id="15" name="patch_1_3"/>
          <p:cNvSpPr/>
          <p:nvPr/>
        </p:nvSpPr>
        <p:spPr>
          <a:xfrm>
            <a:off x="9738360" y="2103120"/>
            <a:ext cx="566928" cy="566928"/>
          </a:xfrm>
          <a:prstGeom prst="roundRect">
            <a:avLst>
              <a:gd name="adj" fmla="val 8065"/>
            </a:avLst>
          </a:prstGeom>
          <a:solidFill>
            <a:schemeClr val="accent1">
              <a:alpha val="60000"/>
            </a:schemeClr>
          </a:solidFill>
          <a:ln/>
        </p:spPr>
        <p:txBody>
          <a:bodyPr/>
          <a:lstStyle/>
          <a:p>
            <a:endParaRPr lang="en-US"/>
          </a:p>
        </p:txBody>
      </p:sp>
      <p:sp>
        <p:nvSpPr>
          <p:cNvPr id="16" name="patch_1_4"/>
          <p:cNvSpPr/>
          <p:nvPr/>
        </p:nvSpPr>
        <p:spPr>
          <a:xfrm>
            <a:off x="10378440" y="2103120"/>
            <a:ext cx="566928" cy="566928"/>
          </a:xfrm>
          <a:prstGeom prst="roundRect">
            <a:avLst>
              <a:gd name="adj" fmla="val 8065"/>
            </a:avLst>
          </a:prstGeom>
          <a:solidFill>
            <a:schemeClr val="accent1">
              <a:alpha val="30000"/>
            </a:schemeClr>
          </a:solidFill>
          <a:ln/>
        </p:spPr>
        <p:txBody>
          <a:bodyPr/>
          <a:lstStyle/>
          <a:p>
            <a:endParaRPr lang="en-US"/>
          </a:p>
        </p:txBody>
      </p:sp>
      <p:sp>
        <p:nvSpPr>
          <p:cNvPr id="17" name="patch_1_5"/>
          <p:cNvSpPr/>
          <p:nvPr/>
        </p:nvSpPr>
        <p:spPr>
          <a:xfrm>
            <a:off x="11018520" y="2103120"/>
            <a:ext cx="566928" cy="566928"/>
          </a:xfrm>
          <a:prstGeom prst="roundRect">
            <a:avLst>
              <a:gd name="adj" fmla="val 8065"/>
            </a:avLst>
          </a:prstGeom>
          <a:solidFill>
            <a:schemeClr val="accent2">
              <a:alpha val="70000"/>
            </a:schemeClr>
          </a:solidFill>
          <a:ln/>
        </p:spPr>
        <p:txBody>
          <a:bodyPr/>
          <a:lstStyle/>
          <a:p>
            <a:endParaRPr lang="en-US"/>
          </a:p>
        </p:txBody>
      </p:sp>
      <p:sp>
        <p:nvSpPr>
          <p:cNvPr id="18" name="patch_2_0"/>
          <p:cNvSpPr/>
          <p:nvPr/>
        </p:nvSpPr>
        <p:spPr>
          <a:xfrm>
            <a:off x="7818120" y="2743200"/>
            <a:ext cx="566928" cy="566928"/>
          </a:xfrm>
          <a:prstGeom prst="roundRect">
            <a:avLst>
              <a:gd name="adj" fmla="val 8065"/>
            </a:avLst>
          </a:prstGeom>
          <a:solidFill>
            <a:schemeClr val="accent1">
              <a:alpha val="55000"/>
            </a:schemeClr>
          </a:solidFill>
          <a:ln/>
        </p:spPr>
        <p:txBody>
          <a:bodyPr/>
          <a:lstStyle/>
          <a:p>
            <a:endParaRPr lang="en-US"/>
          </a:p>
        </p:txBody>
      </p:sp>
      <p:sp>
        <p:nvSpPr>
          <p:cNvPr id="19" name="patch_2_1"/>
          <p:cNvSpPr/>
          <p:nvPr/>
        </p:nvSpPr>
        <p:spPr>
          <a:xfrm>
            <a:off x="8458200" y="2743200"/>
            <a:ext cx="566928" cy="566928"/>
          </a:xfrm>
          <a:prstGeom prst="roundRect">
            <a:avLst>
              <a:gd name="adj" fmla="val 8065"/>
            </a:avLst>
          </a:prstGeom>
          <a:solidFill>
            <a:schemeClr val="accent2">
              <a:alpha val="25000"/>
            </a:schemeClr>
          </a:solidFill>
          <a:ln/>
        </p:spPr>
        <p:txBody>
          <a:bodyPr/>
          <a:lstStyle/>
          <a:p>
            <a:endParaRPr lang="en-US"/>
          </a:p>
        </p:txBody>
      </p:sp>
      <p:sp>
        <p:nvSpPr>
          <p:cNvPr id="20" name="patch_2_2"/>
          <p:cNvSpPr/>
          <p:nvPr/>
        </p:nvSpPr>
        <p:spPr>
          <a:xfrm>
            <a:off x="9098280" y="2743200"/>
            <a:ext cx="566928" cy="566928"/>
          </a:xfrm>
          <a:prstGeom prst="roundRect">
            <a:avLst>
              <a:gd name="adj" fmla="val 8065"/>
            </a:avLst>
          </a:prstGeom>
          <a:solidFill>
            <a:schemeClr val="accent1">
              <a:alpha val="70000"/>
            </a:schemeClr>
          </a:solidFill>
          <a:ln/>
        </p:spPr>
        <p:txBody>
          <a:bodyPr/>
          <a:lstStyle/>
          <a:p>
            <a:endParaRPr lang="en-US"/>
          </a:p>
        </p:txBody>
      </p:sp>
      <p:sp>
        <p:nvSpPr>
          <p:cNvPr id="21" name="patch_2_3"/>
          <p:cNvSpPr/>
          <p:nvPr/>
        </p:nvSpPr>
        <p:spPr>
          <a:xfrm>
            <a:off x="9738360" y="2743200"/>
            <a:ext cx="566928" cy="566928"/>
          </a:xfrm>
          <a:prstGeom prst="roundRect">
            <a:avLst>
              <a:gd name="adj" fmla="val 8065"/>
            </a:avLst>
          </a:prstGeom>
          <a:solidFill>
            <a:schemeClr val="accent1">
              <a:alpha val="40000"/>
            </a:schemeClr>
          </a:solidFill>
          <a:ln/>
        </p:spPr>
        <p:txBody>
          <a:bodyPr/>
          <a:lstStyle/>
          <a:p>
            <a:endParaRPr lang="en-US"/>
          </a:p>
        </p:txBody>
      </p:sp>
      <p:sp>
        <p:nvSpPr>
          <p:cNvPr id="22" name="patch_2_4"/>
          <p:cNvSpPr/>
          <p:nvPr/>
        </p:nvSpPr>
        <p:spPr>
          <a:xfrm>
            <a:off x="10378440" y="2743200"/>
            <a:ext cx="566928" cy="566928"/>
          </a:xfrm>
          <a:prstGeom prst="roundRect">
            <a:avLst>
              <a:gd name="adj" fmla="val 8065"/>
            </a:avLst>
          </a:prstGeom>
          <a:solidFill>
            <a:schemeClr val="accent2">
              <a:alpha val="65000"/>
            </a:schemeClr>
          </a:solidFill>
          <a:ln/>
        </p:spPr>
        <p:txBody>
          <a:bodyPr/>
          <a:lstStyle/>
          <a:p>
            <a:endParaRPr lang="en-US"/>
          </a:p>
        </p:txBody>
      </p:sp>
      <p:sp>
        <p:nvSpPr>
          <p:cNvPr id="23" name="patch_2_5"/>
          <p:cNvSpPr/>
          <p:nvPr/>
        </p:nvSpPr>
        <p:spPr>
          <a:xfrm>
            <a:off x="11018520" y="2743200"/>
            <a:ext cx="566928" cy="566928"/>
          </a:xfrm>
          <a:prstGeom prst="roundRect">
            <a:avLst>
              <a:gd name="adj" fmla="val 8065"/>
            </a:avLst>
          </a:prstGeom>
          <a:solidFill>
            <a:schemeClr val="accent1">
              <a:alpha val="20000"/>
            </a:schemeClr>
          </a:solidFill>
          <a:ln/>
        </p:spPr>
        <p:txBody>
          <a:bodyPr/>
          <a:lstStyle/>
          <a:p>
            <a:endParaRPr lang="en-US"/>
          </a:p>
        </p:txBody>
      </p:sp>
      <p:sp>
        <p:nvSpPr>
          <p:cNvPr id="24" name="patch_3_0"/>
          <p:cNvSpPr/>
          <p:nvPr/>
        </p:nvSpPr>
        <p:spPr>
          <a:xfrm>
            <a:off x="7818120" y="3383280"/>
            <a:ext cx="566928" cy="566928"/>
          </a:xfrm>
          <a:prstGeom prst="roundRect">
            <a:avLst>
              <a:gd name="adj" fmla="val 8065"/>
            </a:avLst>
          </a:prstGeom>
          <a:solidFill>
            <a:schemeClr val="accent2">
              <a:alpha val="15000"/>
            </a:schemeClr>
          </a:solidFill>
          <a:ln/>
        </p:spPr>
        <p:txBody>
          <a:bodyPr/>
          <a:lstStyle/>
          <a:p>
            <a:endParaRPr lang="en-US"/>
          </a:p>
        </p:txBody>
      </p:sp>
      <p:sp>
        <p:nvSpPr>
          <p:cNvPr id="25" name="patch_3_1"/>
          <p:cNvSpPr/>
          <p:nvPr/>
        </p:nvSpPr>
        <p:spPr>
          <a:xfrm>
            <a:off x="8458200" y="3383280"/>
            <a:ext cx="566928" cy="566928"/>
          </a:xfrm>
          <a:prstGeom prst="roundRect">
            <a:avLst>
              <a:gd name="adj" fmla="val 8065"/>
            </a:avLst>
          </a:prstGeom>
          <a:solidFill>
            <a:schemeClr val="accent1">
              <a:alpha val="60000"/>
            </a:schemeClr>
          </a:solidFill>
          <a:ln/>
        </p:spPr>
        <p:txBody>
          <a:bodyPr/>
          <a:lstStyle/>
          <a:p>
            <a:endParaRPr lang="en-US"/>
          </a:p>
        </p:txBody>
      </p:sp>
      <p:sp>
        <p:nvSpPr>
          <p:cNvPr id="26" name="patch_3_2"/>
          <p:cNvSpPr/>
          <p:nvPr/>
        </p:nvSpPr>
        <p:spPr>
          <a:xfrm>
            <a:off x="9098280" y="3383280"/>
            <a:ext cx="566928" cy="566928"/>
          </a:xfrm>
          <a:prstGeom prst="roundRect">
            <a:avLst>
              <a:gd name="adj" fmla="val 8065"/>
            </a:avLst>
          </a:prstGeom>
          <a:solidFill>
            <a:schemeClr val="accent1">
              <a:alpha val="35000"/>
            </a:schemeClr>
          </a:solidFill>
          <a:ln/>
        </p:spPr>
        <p:txBody>
          <a:bodyPr/>
          <a:lstStyle/>
          <a:p>
            <a:endParaRPr lang="en-US"/>
          </a:p>
        </p:txBody>
      </p:sp>
      <p:sp>
        <p:nvSpPr>
          <p:cNvPr id="27" name="patch_3_3"/>
          <p:cNvSpPr/>
          <p:nvPr/>
        </p:nvSpPr>
        <p:spPr>
          <a:xfrm>
            <a:off x="9738360" y="3383280"/>
            <a:ext cx="566928" cy="566928"/>
          </a:xfrm>
          <a:prstGeom prst="roundRect">
            <a:avLst>
              <a:gd name="adj" fmla="val 8065"/>
            </a:avLst>
          </a:prstGeom>
          <a:solidFill>
            <a:schemeClr val="accent2">
              <a:alpha val="75000"/>
            </a:schemeClr>
          </a:solidFill>
          <a:ln/>
        </p:spPr>
        <p:txBody>
          <a:bodyPr/>
          <a:lstStyle/>
          <a:p>
            <a:endParaRPr lang="en-US"/>
          </a:p>
        </p:txBody>
      </p:sp>
      <p:sp>
        <p:nvSpPr>
          <p:cNvPr id="28" name="patch_3_4"/>
          <p:cNvSpPr/>
          <p:nvPr/>
        </p:nvSpPr>
        <p:spPr>
          <a:xfrm>
            <a:off x="10378440" y="3383280"/>
            <a:ext cx="566928" cy="566928"/>
          </a:xfrm>
          <a:prstGeom prst="roundRect">
            <a:avLst>
              <a:gd name="adj" fmla="val 8065"/>
            </a:avLst>
          </a:prstGeom>
          <a:solidFill>
            <a:schemeClr val="accent1">
              <a:alpha val="25000"/>
            </a:schemeClr>
          </a:solidFill>
          <a:ln/>
        </p:spPr>
        <p:txBody>
          <a:bodyPr/>
          <a:lstStyle/>
          <a:p>
            <a:endParaRPr lang="en-US"/>
          </a:p>
        </p:txBody>
      </p:sp>
      <p:sp>
        <p:nvSpPr>
          <p:cNvPr id="29" name="patch_3_5"/>
          <p:cNvSpPr/>
          <p:nvPr/>
        </p:nvSpPr>
        <p:spPr>
          <a:xfrm>
            <a:off x="11018520" y="3383280"/>
            <a:ext cx="566928" cy="566928"/>
          </a:xfrm>
          <a:prstGeom prst="roundRect">
            <a:avLst>
              <a:gd name="adj" fmla="val 8065"/>
            </a:avLst>
          </a:prstGeom>
          <a:solidFill>
            <a:schemeClr val="accent1">
              <a:alpha val="50000"/>
            </a:schemeClr>
          </a:solidFill>
          <a:ln/>
        </p:spPr>
        <p:txBody>
          <a:bodyPr/>
          <a:lstStyle/>
          <a:p>
            <a:endParaRPr lang="en-US"/>
          </a:p>
        </p:txBody>
      </p:sp>
      <p:sp>
        <p:nvSpPr>
          <p:cNvPr id="30" name="patch_4_0"/>
          <p:cNvSpPr/>
          <p:nvPr/>
        </p:nvSpPr>
        <p:spPr>
          <a:xfrm>
            <a:off x="7818120" y="4023360"/>
            <a:ext cx="566928" cy="566928"/>
          </a:xfrm>
          <a:prstGeom prst="roundRect">
            <a:avLst>
              <a:gd name="adj" fmla="val 8065"/>
            </a:avLst>
          </a:prstGeom>
          <a:solidFill>
            <a:schemeClr val="accent1">
              <a:alpha val="70000"/>
            </a:schemeClr>
          </a:solidFill>
          <a:ln/>
        </p:spPr>
        <p:txBody>
          <a:bodyPr/>
          <a:lstStyle/>
          <a:p>
            <a:endParaRPr lang="en-US"/>
          </a:p>
        </p:txBody>
      </p:sp>
      <p:sp>
        <p:nvSpPr>
          <p:cNvPr id="31" name="patch_4_1"/>
          <p:cNvSpPr/>
          <p:nvPr/>
        </p:nvSpPr>
        <p:spPr>
          <a:xfrm>
            <a:off x="8458200" y="4023360"/>
            <a:ext cx="566928" cy="566928"/>
          </a:xfrm>
          <a:prstGeom prst="roundRect">
            <a:avLst>
              <a:gd name="adj" fmla="val 8065"/>
            </a:avLst>
          </a:prstGeom>
          <a:solidFill>
            <a:schemeClr val="accent1">
              <a:alpha val="40000"/>
            </a:schemeClr>
          </a:solidFill>
          <a:ln/>
        </p:spPr>
        <p:txBody>
          <a:bodyPr/>
          <a:lstStyle/>
          <a:p>
            <a:endParaRPr lang="en-US"/>
          </a:p>
        </p:txBody>
      </p:sp>
      <p:sp>
        <p:nvSpPr>
          <p:cNvPr id="32" name="patch_4_2"/>
          <p:cNvSpPr/>
          <p:nvPr/>
        </p:nvSpPr>
        <p:spPr>
          <a:xfrm>
            <a:off x="9098280" y="4023360"/>
            <a:ext cx="566928" cy="566928"/>
          </a:xfrm>
          <a:prstGeom prst="roundRect">
            <a:avLst>
              <a:gd name="adj" fmla="val 8065"/>
            </a:avLst>
          </a:prstGeom>
          <a:solidFill>
            <a:schemeClr val="accent2">
              <a:alpha val="60000"/>
            </a:schemeClr>
          </a:solidFill>
          <a:ln/>
        </p:spPr>
        <p:txBody>
          <a:bodyPr/>
          <a:lstStyle/>
          <a:p>
            <a:endParaRPr lang="en-US"/>
          </a:p>
        </p:txBody>
      </p:sp>
      <p:sp>
        <p:nvSpPr>
          <p:cNvPr id="33" name="patch_4_3"/>
          <p:cNvSpPr/>
          <p:nvPr/>
        </p:nvSpPr>
        <p:spPr>
          <a:xfrm>
            <a:off x="9738360" y="4023360"/>
            <a:ext cx="566928" cy="566928"/>
          </a:xfrm>
          <a:prstGeom prst="roundRect">
            <a:avLst>
              <a:gd name="adj" fmla="val 8065"/>
            </a:avLst>
          </a:prstGeom>
          <a:solidFill>
            <a:schemeClr val="accent1">
              <a:alpha val="20000"/>
            </a:schemeClr>
          </a:solidFill>
          <a:ln/>
        </p:spPr>
        <p:txBody>
          <a:bodyPr/>
          <a:lstStyle/>
          <a:p>
            <a:endParaRPr lang="en-US"/>
          </a:p>
        </p:txBody>
      </p:sp>
      <p:sp>
        <p:nvSpPr>
          <p:cNvPr id="34" name="patch_4_4"/>
          <p:cNvSpPr/>
          <p:nvPr/>
        </p:nvSpPr>
        <p:spPr>
          <a:xfrm>
            <a:off x="10378440" y="4023360"/>
            <a:ext cx="566928" cy="566928"/>
          </a:xfrm>
          <a:prstGeom prst="roundRect">
            <a:avLst>
              <a:gd name="adj" fmla="val 8065"/>
            </a:avLst>
          </a:prstGeom>
          <a:solidFill>
            <a:schemeClr val="accent1">
              <a:alpha val="55000"/>
            </a:schemeClr>
          </a:solidFill>
          <a:ln/>
        </p:spPr>
        <p:txBody>
          <a:bodyPr/>
          <a:lstStyle/>
          <a:p>
            <a:endParaRPr lang="en-US"/>
          </a:p>
        </p:txBody>
      </p:sp>
      <p:sp>
        <p:nvSpPr>
          <p:cNvPr id="35" name="patch_4_5"/>
          <p:cNvSpPr/>
          <p:nvPr/>
        </p:nvSpPr>
        <p:spPr>
          <a:xfrm>
            <a:off x="11018520" y="4023360"/>
            <a:ext cx="566928" cy="566928"/>
          </a:xfrm>
          <a:prstGeom prst="roundRect">
            <a:avLst>
              <a:gd name="adj" fmla="val 8065"/>
            </a:avLst>
          </a:prstGeom>
          <a:solidFill>
            <a:schemeClr val="accent2">
              <a:alpha val="30000"/>
            </a:schemeClr>
          </a:solidFill>
          <a:ln/>
        </p:spPr>
        <p:txBody>
          <a:bodyPr/>
          <a:lstStyle/>
          <a:p>
            <a:endParaRPr lang="en-US"/>
          </a:p>
        </p:txBody>
      </p:sp>
      <p:sp>
        <p:nvSpPr>
          <p:cNvPr id="36" name="patch_5_0"/>
          <p:cNvSpPr/>
          <p:nvPr/>
        </p:nvSpPr>
        <p:spPr>
          <a:xfrm>
            <a:off x="7818120" y="4663440"/>
            <a:ext cx="566928" cy="566928"/>
          </a:xfrm>
          <a:prstGeom prst="roundRect">
            <a:avLst>
              <a:gd name="adj" fmla="val 8065"/>
            </a:avLst>
          </a:prstGeom>
          <a:solidFill>
            <a:schemeClr val="accent1">
              <a:alpha val="30000"/>
            </a:schemeClr>
          </a:solidFill>
          <a:ln/>
        </p:spPr>
        <p:txBody>
          <a:bodyPr/>
          <a:lstStyle/>
          <a:p>
            <a:endParaRPr lang="en-US"/>
          </a:p>
        </p:txBody>
      </p:sp>
      <p:sp>
        <p:nvSpPr>
          <p:cNvPr id="37" name="patch_5_1"/>
          <p:cNvSpPr/>
          <p:nvPr/>
        </p:nvSpPr>
        <p:spPr>
          <a:xfrm>
            <a:off x="8458200" y="4663440"/>
            <a:ext cx="566928" cy="566928"/>
          </a:xfrm>
          <a:prstGeom prst="roundRect">
            <a:avLst>
              <a:gd name="adj" fmla="val 8065"/>
            </a:avLst>
          </a:prstGeom>
          <a:solidFill>
            <a:schemeClr val="accent2">
              <a:alpha val="75000"/>
            </a:schemeClr>
          </a:solidFill>
          <a:ln/>
        </p:spPr>
        <p:txBody>
          <a:bodyPr/>
          <a:lstStyle/>
          <a:p>
            <a:endParaRPr lang="en-US"/>
          </a:p>
        </p:txBody>
      </p:sp>
      <p:sp>
        <p:nvSpPr>
          <p:cNvPr id="38" name="patch_5_2"/>
          <p:cNvSpPr/>
          <p:nvPr/>
        </p:nvSpPr>
        <p:spPr>
          <a:xfrm>
            <a:off x="9098280" y="4663440"/>
            <a:ext cx="566928" cy="566928"/>
          </a:xfrm>
          <a:prstGeom prst="roundRect">
            <a:avLst>
              <a:gd name="adj" fmla="val 8065"/>
            </a:avLst>
          </a:prstGeom>
          <a:solidFill>
            <a:schemeClr val="accent1">
              <a:alpha val="45000"/>
            </a:schemeClr>
          </a:solidFill>
          <a:ln/>
        </p:spPr>
        <p:txBody>
          <a:bodyPr/>
          <a:lstStyle/>
          <a:p>
            <a:endParaRPr lang="en-US"/>
          </a:p>
        </p:txBody>
      </p:sp>
      <p:sp>
        <p:nvSpPr>
          <p:cNvPr id="39" name="patch_5_3"/>
          <p:cNvSpPr/>
          <p:nvPr/>
        </p:nvSpPr>
        <p:spPr>
          <a:xfrm>
            <a:off x="9738360" y="4663440"/>
            <a:ext cx="566928" cy="566928"/>
          </a:xfrm>
          <a:prstGeom prst="roundRect">
            <a:avLst>
              <a:gd name="adj" fmla="val 8065"/>
            </a:avLst>
          </a:prstGeom>
          <a:solidFill>
            <a:schemeClr val="accent1">
              <a:alpha val="65000"/>
            </a:schemeClr>
          </a:solidFill>
          <a:ln/>
        </p:spPr>
        <p:txBody>
          <a:bodyPr/>
          <a:lstStyle/>
          <a:p>
            <a:endParaRPr lang="en-US"/>
          </a:p>
        </p:txBody>
      </p:sp>
      <p:sp>
        <p:nvSpPr>
          <p:cNvPr id="40" name="patch_5_4"/>
          <p:cNvSpPr/>
          <p:nvPr/>
        </p:nvSpPr>
        <p:spPr>
          <a:xfrm>
            <a:off x="10378440" y="4663440"/>
            <a:ext cx="566928" cy="566928"/>
          </a:xfrm>
          <a:prstGeom prst="roundRect">
            <a:avLst>
              <a:gd name="adj" fmla="val 8065"/>
            </a:avLst>
          </a:prstGeom>
          <a:solidFill>
            <a:schemeClr val="accent2">
              <a:alpha val="15000"/>
            </a:schemeClr>
          </a:solidFill>
          <a:ln/>
        </p:spPr>
        <p:txBody>
          <a:bodyPr/>
          <a:lstStyle/>
          <a:p>
            <a:endParaRPr lang="en-US"/>
          </a:p>
        </p:txBody>
      </p:sp>
      <p:sp>
        <p:nvSpPr>
          <p:cNvPr id="41" name="patch_5_5"/>
          <p:cNvSpPr/>
          <p:nvPr/>
        </p:nvSpPr>
        <p:spPr>
          <a:xfrm>
            <a:off x="11018520" y="4663440"/>
            <a:ext cx="566928" cy="566928"/>
          </a:xfrm>
          <a:prstGeom prst="roundRect">
            <a:avLst>
              <a:gd name="adj" fmla="val 8065"/>
            </a:avLst>
          </a:prstGeom>
          <a:solidFill>
            <a:schemeClr val="accent1">
              <a:alpha val="60000"/>
            </a:schemeClr>
          </a:solidFill>
          <a:ln/>
        </p:spPr>
        <p:txBody>
          <a:bodyPr/>
          <a:lstStyle/>
          <a:p>
            <a:endParaRPr lang="en-US"/>
          </a:p>
        </p:txBody>
      </p:sp>
      <p:sp>
        <p:nvSpPr>
          <p:cNvPr id="42" name="cap"/>
          <p:cNvSpPr txBox="1"/>
          <p:nvPr/>
        </p:nvSpPr>
        <p:spPr>
          <a:xfrm>
            <a:off x="7818120" y="5440680"/>
            <a:ext cx="3749040" cy="548640"/>
          </a:xfrm>
          <a:prstGeom prst="rect">
            <a:avLst/>
          </a:prstGeom>
          <a:noFill/>
          <a:ln/>
        </p:spPr>
        <p:txBody>
          <a:bodyPr wrap="square" lIns="0" tIns="0" rIns="0" bIns="0" rtlCol="0" anchor="t"/>
          <a:lstStyle/>
          <a:p>
            <a:pPr marL="0" indent="0" algn="l">
              <a:buNone/>
            </a:pPr>
            <a:r>
              <a:rPr lang="en-US" sz="1200" dirty="0">
                <a:solidFill>
                  <a:schemeClr val="accent5"/>
                </a:solidFill>
              </a:rPr>
              <a:t>An image cut into patches: the input a Vision Transformer actually reads</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OVERVIEW</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Project description and objective</a:t>
            </a:r>
            <a:endParaRPr lang="en-US" sz="3600" dirty="0"/>
          </a:p>
        </p:txBody>
      </p:sp>
      <p:sp>
        <p:nvSpPr>
          <p:cNvPr id="5" name="c_problem"/>
          <p:cNvSpPr txBox="1"/>
          <p:nvPr/>
        </p:nvSpPr>
        <p:spPr>
          <a:xfrm>
            <a:off x="548640" y="1508760"/>
            <a:ext cx="3520440" cy="374904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The problem</a:t>
            </a:r>
            <a:endParaRPr lang="en-US" sz="1800" dirty="0"/>
          </a:p>
          <a:p>
            <a:pPr marL="0" indent="0" algn="l">
              <a:spcAft>
                <a:spcPts val="600"/>
              </a:spcAft>
              <a:buNone/>
            </a:pPr>
            <a:r>
              <a:rPr lang="en-US" sz="1600" dirty="0">
                <a:solidFill>
                  <a:schemeClr val="tx1"/>
                </a:solidFill>
              </a:rPr>
              <a:t>Disaster photos shared on social media can show responders where damage is.</a:t>
            </a:r>
            <a:endParaRPr lang="en-US" sz="1800" dirty="0"/>
          </a:p>
          <a:p>
            <a:pPr marL="0" indent="0" algn="l">
              <a:spcAft>
                <a:spcPts val="600"/>
              </a:spcAft>
              <a:buNone/>
            </a:pPr>
            <a:r>
              <a:rPr lang="en-US" sz="1600" dirty="0">
                <a:solidFill>
                  <a:schemeClr val="tx1"/>
                </a:solidFill>
              </a:rPr>
              <a:t>But they differ in camera angle, lighting, resolution and context, and neighboring damage levels (mild vs severe) often look alike.</a:t>
            </a:r>
            <a:endParaRPr lang="en-US" sz="1800" dirty="0"/>
          </a:p>
          <a:p>
            <a:pPr marL="0" indent="0" algn="l">
              <a:buNone/>
            </a:pPr>
            <a:r>
              <a:rPr lang="en-US" sz="1600" dirty="0">
                <a:solidFill>
                  <a:schemeClr val="tx1"/>
                </a:solidFill>
              </a:rPr>
              <a:t>A model can reach a good overall accuracy and still handle the rarer, more serious classes poorly.</a:t>
            </a:r>
            <a:endParaRPr lang="en-US" sz="1800" dirty="0"/>
          </a:p>
        </p:txBody>
      </p:sp>
      <p:sp>
        <p:nvSpPr>
          <p:cNvPr id="6" name="c_data"/>
          <p:cNvSpPr txBox="1"/>
          <p:nvPr/>
        </p:nvSpPr>
        <p:spPr>
          <a:xfrm>
            <a:off x="4334256" y="1508760"/>
            <a:ext cx="3520440" cy="374904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The data</a:t>
            </a:r>
            <a:endParaRPr lang="en-US" sz="1800" dirty="0"/>
          </a:p>
          <a:p>
            <a:pPr marL="0" indent="0" algn="l">
              <a:spcAft>
                <a:spcPts val="400"/>
              </a:spcAft>
              <a:buNone/>
            </a:pPr>
            <a:r>
              <a:rPr lang="en-US" sz="2800" b="1" dirty="0">
                <a:solidFill>
                  <a:schemeClr val="accent1"/>
                </a:solidFill>
              </a:rPr>
              <a:t>3,463 images</a:t>
            </a:r>
            <a:endParaRPr lang="en-US" sz="1800" dirty="0"/>
          </a:p>
          <a:p>
            <a:pPr marL="0" indent="0" algn="l">
              <a:spcAft>
                <a:spcPts val="600"/>
              </a:spcAft>
              <a:buNone/>
            </a:pPr>
            <a:r>
              <a:rPr lang="en-US" sz="1600" dirty="0">
                <a:solidFill>
                  <a:schemeClr val="tx1"/>
                </a:solidFill>
              </a:rPr>
              <a:t>CrisisMMD image-damage task, images only (no text).</a:t>
            </a:r>
            <a:endParaRPr lang="en-US" sz="1800" dirty="0"/>
          </a:p>
          <a:p>
            <a:pPr marL="0" indent="0" algn="l">
              <a:spcAft>
                <a:spcPts val="600"/>
              </a:spcAft>
              <a:buNone/>
            </a:pPr>
            <a:r>
              <a:rPr lang="en-US" sz="1600" dirty="0">
                <a:solidFill>
                  <a:schemeClr val="tx1"/>
                </a:solidFill>
              </a:rPr>
              <a:t>Little or no damage: 2,166</a:t>
            </a:r>
            <a:endParaRPr lang="en-US" sz="1800" dirty="0"/>
          </a:p>
          <a:p>
            <a:pPr marL="0" indent="0" algn="l">
              <a:spcAft>
                <a:spcPts val="600"/>
              </a:spcAft>
              <a:buNone/>
            </a:pPr>
            <a:r>
              <a:rPr lang="en-US" sz="1600" dirty="0">
                <a:solidFill>
                  <a:schemeClr val="tx1"/>
                </a:solidFill>
              </a:rPr>
              <a:t>Mild damage: 823</a:t>
            </a:r>
            <a:endParaRPr lang="en-US" sz="1800" dirty="0"/>
          </a:p>
          <a:p>
            <a:pPr marL="0" indent="0" algn="l">
              <a:spcAft>
                <a:spcPts val="600"/>
              </a:spcAft>
              <a:buNone/>
            </a:pPr>
            <a:r>
              <a:rPr lang="en-US" sz="1600" dirty="0">
                <a:solidFill>
                  <a:schemeClr val="tx1"/>
                </a:solidFill>
              </a:rPr>
              <a:t>Severe damage: 474</a:t>
            </a:r>
            <a:endParaRPr lang="en-US" sz="1800" dirty="0"/>
          </a:p>
          <a:p>
            <a:pPr marL="0" indent="0" algn="l">
              <a:buNone/>
            </a:pPr>
            <a:r>
              <a:rPr lang="en-US" sz="1600" dirty="0">
                <a:solidFill>
                  <a:schemeClr val="tx1"/>
                </a:solidFill>
              </a:rPr>
              <a:t>Split: 2,077 train / 693 validation / 693 test</a:t>
            </a:r>
            <a:endParaRPr lang="en-US" sz="1800" dirty="0"/>
          </a:p>
        </p:txBody>
      </p:sp>
      <p:sp>
        <p:nvSpPr>
          <p:cNvPr id="7" name="c_rq"/>
          <p:cNvSpPr txBox="1"/>
          <p:nvPr/>
        </p:nvSpPr>
        <p:spPr>
          <a:xfrm>
            <a:off x="8119872" y="1508760"/>
            <a:ext cx="3520440" cy="374904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Research questions</a:t>
            </a:r>
            <a:endParaRPr lang="en-US" sz="1800" dirty="0"/>
          </a:p>
          <a:p>
            <a:pPr marL="0" indent="0" algn="l">
              <a:spcAft>
                <a:spcPts val="600"/>
              </a:spcAft>
              <a:buNone/>
            </a:pPr>
            <a:r>
              <a:rPr lang="en-US" sz="1600" dirty="0">
                <a:solidFill>
                  <a:schemeClr val="tx1"/>
                </a:solidFill>
              </a:rPr>
              <a:t>RQ1  How do ViT, ConViT and DINOv2 compare as pretrained feature extractors?</a:t>
            </a:r>
            <a:endParaRPr lang="en-US" sz="1800" dirty="0"/>
          </a:p>
          <a:p>
            <a:pPr marL="0" indent="0" algn="l">
              <a:spcAft>
                <a:spcPts val="600"/>
              </a:spcAft>
              <a:buNone/>
            </a:pPr>
            <a:r>
              <a:rPr lang="en-US" sz="1600" dirty="0">
                <a:solidFill>
                  <a:schemeClr val="tx1"/>
                </a:solidFill>
              </a:rPr>
              <a:t>RQ2  How do learning rate, unfreezing, classifier head and loss change the result?</a:t>
            </a:r>
            <a:endParaRPr lang="en-US" sz="1800" dirty="0"/>
          </a:p>
          <a:p>
            <a:pPr marL="0" indent="0" algn="l">
              <a:spcAft>
                <a:spcPts val="600"/>
              </a:spcAft>
              <a:buNone/>
            </a:pPr>
            <a:r>
              <a:rPr lang="en-US" sz="1600" dirty="0">
                <a:solidFill>
                  <a:schemeClr val="tx1"/>
                </a:solidFill>
              </a:rPr>
              <a:t>RQ3  What does image augmentation change?</a:t>
            </a:r>
            <a:endParaRPr lang="en-US" sz="1800" dirty="0"/>
          </a:p>
          <a:p>
            <a:pPr marL="0" indent="0" algn="l">
              <a:buNone/>
            </a:pPr>
            <a:r>
              <a:rPr lang="en-US" sz="1600" dirty="0">
                <a:solidFill>
                  <a:schemeClr val="tx1"/>
                </a:solidFill>
              </a:rPr>
              <a:t>RQ4  How much of the validation score survives on held-out test images?</a:t>
            </a:r>
            <a:endParaRPr lang="en-US" sz="1800" dirty="0"/>
          </a:p>
        </p:txBody>
      </p:sp>
      <p:sp>
        <p:nvSpPr>
          <p:cNvPr id="8" name="c_obj"/>
          <p:cNvSpPr txBox="1"/>
          <p:nvPr/>
        </p:nvSpPr>
        <p:spPr>
          <a:xfrm>
            <a:off x="548640" y="5440680"/>
            <a:ext cx="11091672" cy="868680"/>
          </a:xfrm>
          <a:prstGeom prst="roundRect">
            <a:avLst>
              <a:gd name="adj" fmla="val 8421"/>
            </a:avLst>
          </a:prstGeom>
          <a:solidFill>
            <a:schemeClr val="accent1"/>
          </a:solidFill>
          <a:ln/>
          <a:effectLst>
            <a:outerShdw blurRad="101600" dist="38100" dir="5400000" algn="bl" rotWithShape="0">
              <a:srgbClr val="1B2433">
                <a:alpha val="16000"/>
              </a:srgbClr>
            </a:outerShdw>
          </a:effectLst>
        </p:spPr>
        <p:txBody>
          <a:bodyPr wrap="square" lIns="152400" tIns="152400" rIns="152400" bIns="152400" rtlCol="0" anchor="ctr"/>
          <a:lstStyle/>
          <a:p>
            <a:pPr marL="0" indent="0" algn="l">
              <a:buNone/>
            </a:pPr>
            <a:r>
              <a:rPr lang="en-US" sz="1600" b="1" dirty="0">
                <a:solidFill>
                  <a:schemeClr val="bg1"/>
                </a:solidFill>
              </a:rPr>
              <a:t>Key objective:  </a:t>
            </a:r>
            <a:r>
              <a:rPr lang="en-US" sz="1600" dirty="0">
                <a:solidFill>
                  <a:schemeClr val="bg1"/>
                </a:solidFill>
              </a:rPr>
              <a:t>a deep study of how these models work internally and how each training decision changes their behavior. Accuracy is a measurement in this project, not the goal.</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100">
        <p14:prism/>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600" fill="hold"/>
                                        <p:tgtEl>
                                          <p:spTgt spid="6"/>
                                        </p:tgtEl>
                                        <p:attrNameLst>
                                          <p:attrName>ppt_x</p:attrName>
                                        </p:attrNameLst>
                                      </p:cBhvr>
                                      <p:tavLst>
                                        <p:tav tm="0">
                                          <p:val>
                                            <p:strVal val="#ppt_x"/>
                                          </p:val>
                                        </p:tav>
                                        <p:tav tm="100000">
                                          <p:val>
                                            <p:strVal val="#ppt_x"/>
                                          </p:val>
                                        </p:tav>
                                      </p:tavLst>
                                    </p:anim>
                                    <p:anim calcmode="lin" valueType="num">
                                      <p:cBhvr additive="base">
                                        <p:cTn id="14" dur="6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600" fill="hold"/>
                                        <p:tgtEl>
                                          <p:spTgt spid="8"/>
                                        </p:tgtEl>
                                        <p:attrNameLst>
                                          <p:attrName>ppt_x</p:attrName>
                                        </p:attrNameLst>
                                      </p:cBhvr>
                                      <p:tavLst>
                                        <p:tav tm="0">
                                          <p:val>
                                            <p:strVal val="#ppt_x"/>
                                          </p:val>
                                        </p:tav>
                                        <p:tav tm="100000">
                                          <p:val>
                                            <p:strVal val="#ppt_x"/>
                                          </p:val>
                                        </p:tav>
                                      </p:tavLst>
                                    </p:anim>
                                    <p:anim calcmode="lin" valueType="num">
                                      <p:cBhvr additive="base">
                                        <p:cTn id="26" dur="6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OVERVIEW</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How the study is organized</a:t>
            </a:r>
            <a:endParaRPr lang="en-US" sz="3600" dirty="0"/>
          </a:p>
        </p:txBody>
      </p:sp>
      <p:sp>
        <p:nvSpPr>
          <p:cNvPr id="5" name="rm_line"/>
          <p:cNvSpPr/>
          <p:nvPr/>
        </p:nvSpPr>
        <p:spPr>
          <a:xfrm>
            <a:off x="914400" y="3246120"/>
            <a:ext cx="10332720" cy="0"/>
          </a:xfrm>
          <a:prstGeom prst="line">
            <a:avLst/>
          </a:prstGeom>
          <a:noFill/>
          <a:ln w="25400">
            <a:solidFill>
              <a:schemeClr val="accent5"/>
            </a:solidFill>
            <a:prstDash val="dash"/>
          </a:ln>
        </p:spPr>
        <p:txBody>
          <a:bodyPr/>
          <a:lstStyle/>
          <a:p>
            <a:endParaRPr lang="en-US"/>
          </a:p>
        </p:txBody>
      </p:sp>
      <p:sp>
        <p:nvSpPr>
          <p:cNvPr id="6" name="rm_q0"/>
          <p:cNvSpPr txBox="1"/>
          <p:nvPr/>
        </p:nvSpPr>
        <p:spPr>
          <a:xfrm>
            <a:off x="457200" y="1554480"/>
            <a:ext cx="1737360" cy="1325880"/>
          </a:xfrm>
          <a:prstGeom prst="rect">
            <a:avLst/>
          </a:prstGeom>
          <a:noFill/>
          <a:ln/>
        </p:spPr>
        <p:txBody>
          <a:bodyPr wrap="square" lIns="0" tIns="0" rIns="0" bIns="0" rtlCol="0" anchor="b"/>
          <a:lstStyle/>
          <a:p>
            <a:pPr marL="0" indent="0" algn="l">
              <a:buNone/>
            </a:pPr>
            <a:r>
              <a:rPr lang="en-US" sz="1400" i="1" dirty="0">
                <a:solidFill>
                  <a:schemeClr val="accent5"/>
                </a:solidFill>
              </a:rPr>
              <a:t>Which pretrained model gives the best features?</a:t>
            </a:r>
            <a:endParaRPr lang="en-US" sz="1400" dirty="0"/>
          </a:p>
        </p:txBody>
      </p:sp>
      <p:sp>
        <p:nvSpPr>
          <p:cNvPr id="7" name="b3d_rm_c0"/>
          <p:cNvSpPr txBox="1"/>
          <p:nvPr/>
        </p:nvSpPr>
        <p:spPr>
          <a:xfrm>
            <a:off x="960120" y="2880360"/>
            <a:ext cx="731520" cy="731520"/>
          </a:xfrm>
          <a:prstGeom prst="ellipse">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8" name="rm_l0"/>
          <p:cNvSpPr txBox="1"/>
          <p:nvPr/>
        </p:nvSpPr>
        <p:spPr>
          <a:xfrm>
            <a:off x="457200" y="3794760"/>
            <a:ext cx="1737360" cy="1188720"/>
          </a:xfrm>
          <a:prstGeom prst="rect">
            <a:avLst/>
          </a:prstGeom>
          <a:noFill/>
          <a:ln/>
        </p:spPr>
        <p:txBody>
          <a:bodyPr wrap="square" lIns="0" tIns="0" rIns="0" bIns="0" rtlCol="0" anchor="t"/>
          <a:lstStyle/>
          <a:p>
            <a:pPr marL="0" indent="0" algn="ctr">
              <a:spcAft>
                <a:spcPts val="400"/>
              </a:spcAft>
              <a:buNone/>
            </a:pPr>
            <a:r>
              <a:rPr lang="en-US" sz="1600" b="1" dirty="0">
                <a:solidFill>
                  <a:schemeClr val="tx2"/>
                </a:solidFill>
              </a:rPr>
              <a:t>Backbones</a:t>
            </a:r>
            <a:endParaRPr lang="en-US" sz="1600" dirty="0"/>
          </a:p>
          <a:p>
            <a:pPr marL="0" indent="0" algn="ctr">
              <a:buNone/>
            </a:pPr>
            <a:r>
              <a:rPr lang="en-US" sz="1400" dirty="0">
                <a:solidFill>
                  <a:schemeClr val="tx1"/>
                </a:solidFill>
              </a:rPr>
              <a:t>ViT, ConViT, DINOv2</a:t>
            </a:r>
            <a:endParaRPr lang="en-US" sz="1600" dirty="0"/>
          </a:p>
        </p:txBody>
      </p:sp>
      <p:sp>
        <p:nvSpPr>
          <p:cNvPr id="9" name="rm_q1"/>
          <p:cNvSpPr txBox="1"/>
          <p:nvPr/>
        </p:nvSpPr>
        <p:spPr>
          <a:xfrm>
            <a:off x="2377440" y="1554480"/>
            <a:ext cx="1737360" cy="1325880"/>
          </a:xfrm>
          <a:prstGeom prst="rect">
            <a:avLst/>
          </a:prstGeom>
          <a:noFill/>
          <a:ln/>
        </p:spPr>
        <p:txBody>
          <a:bodyPr wrap="square" lIns="0" tIns="0" rIns="0" bIns="0" rtlCol="0" anchor="b"/>
          <a:lstStyle/>
          <a:p>
            <a:pPr marL="0" indent="0" algn="l">
              <a:buNone/>
            </a:pPr>
            <a:r>
              <a:rPr lang="en-US" sz="1400" i="1" dirty="0">
                <a:solidFill>
                  <a:schemeClr val="accent5"/>
                </a:solidFill>
              </a:rPr>
              <a:t>Does adapting the backbone help?</a:t>
            </a:r>
            <a:endParaRPr lang="en-US" sz="1400" dirty="0"/>
          </a:p>
        </p:txBody>
      </p:sp>
      <p:sp>
        <p:nvSpPr>
          <p:cNvPr id="10" name="b3d_rm_c1"/>
          <p:cNvSpPr txBox="1"/>
          <p:nvPr/>
        </p:nvSpPr>
        <p:spPr>
          <a:xfrm>
            <a:off x="2880360" y="2880360"/>
            <a:ext cx="731520" cy="731520"/>
          </a:xfrm>
          <a:prstGeom prst="ellipse">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1" name="rm_l1"/>
          <p:cNvSpPr txBox="1"/>
          <p:nvPr/>
        </p:nvSpPr>
        <p:spPr>
          <a:xfrm>
            <a:off x="2377440" y="3794760"/>
            <a:ext cx="1737360" cy="1188720"/>
          </a:xfrm>
          <a:prstGeom prst="rect">
            <a:avLst/>
          </a:prstGeom>
          <a:noFill/>
          <a:ln/>
        </p:spPr>
        <p:txBody>
          <a:bodyPr wrap="square" lIns="0" tIns="0" rIns="0" bIns="0" rtlCol="0" anchor="t"/>
          <a:lstStyle/>
          <a:p>
            <a:pPr marL="0" indent="0" algn="ctr">
              <a:spcAft>
                <a:spcPts val="400"/>
              </a:spcAft>
              <a:buNone/>
            </a:pPr>
            <a:r>
              <a:rPr lang="en-US" sz="1600" b="1" dirty="0">
                <a:solidFill>
                  <a:schemeClr val="tx2"/>
                </a:solidFill>
              </a:rPr>
              <a:t>Tuning</a:t>
            </a:r>
            <a:endParaRPr lang="en-US" sz="1600" dirty="0"/>
          </a:p>
          <a:p>
            <a:pPr marL="0" indent="0" algn="ctr">
              <a:buNone/>
            </a:pPr>
            <a:r>
              <a:rPr lang="en-US" sz="1400" dirty="0">
                <a:solidFill>
                  <a:schemeClr val="tx1"/>
                </a:solidFill>
              </a:rPr>
              <a:t>learning rate, unfreezing</a:t>
            </a:r>
            <a:endParaRPr lang="en-US" sz="1600" dirty="0"/>
          </a:p>
        </p:txBody>
      </p:sp>
      <p:sp>
        <p:nvSpPr>
          <p:cNvPr id="12" name="rm_q2"/>
          <p:cNvSpPr txBox="1"/>
          <p:nvPr/>
        </p:nvSpPr>
        <p:spPr>
          <a:xfrm>
            <a:off x="4297680" y="1554480"/>
            <a:ext cx="1737360" cy="1325880"/>
          </a:xfrm>
          <a:prstGeom prst="rect">
            <a:avLst/>
          </a:prstGeom>
          <a:noFill/>
          <a:ln/>
        </p:spPr>
        <p:txBody>
          <a:bodyPr wrap="square" lIns="0" tIns="0" rIns="0" bIns="0" rtlCol="0" anchor="b"/>
          <a:lstStyle/>
          <a:p>
            <a:pPr marL="0" indent="0" algn="l">
              <a:buNone/>
            </a:pPr>
            <a:r>
              <a:rPr lang="en-US" sz="1400" i="1" dirty="0">
                <a:solidFill>
                  <a:schemeClr val="accent5"/>
                </a:solidFill>
              </a:rPr>
              <a:t>How does the classifier change class balance?</a:t>
            </a:r>
            <a:endParaRPr lang="en-US" sz="1400" dirty="0"/>
          </a:p>
        </p:txBody>
      </p:sp>
      <p:sp>
        <p:nvSpPr>
          <p:cNvPr id="13" name="b3d_rm_c2"/>
          <p:cNvSpPr txBox="1"/>
          <p:nvPr/>
        </p:nvSpPr>
        <p:spPr>
          <a:xfrm>
            <a:off x="4800600" y="2880360"/>
            <a:ext cx="731520" cy="731520"/>
          </a:xfrm>
          <a:prstGeom prst="ellipse">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4" name="rm_l2"/>
          <p:cNvSpPr txBox="1"/>
          <p:nvPr/>
        </p:nvSpPr>
        <p:spPr>
          <a:xfrm>
            <a:off x="4297680" y="3794760"/>
            <a:ext cx="1737360" cy="1188720"/>
          </a:xfrm>
          <a:prstGeom prst="rect">
            <a:avLst/>
          </a:prstGeom>
          <a:noFill/>
          <a:ln/>
        </p:spPr>
        <p:txBody>
          <a:bodyPr wrap="square" lIns="0" tIns="0" rIns="0" bIns="0" rtlCol="0" anchor="t"/>
          <a:lstStyle/>
          <a:p>
            <a:pPr marL="0" indent="0" algn="ctr">
              <a:spcAft>
                <a:spcPts val="400"/>
              </a:spcAft>
              <a:buNone/>
            </a:pPr>
            <a:r>
              <a:rPr lang="en-US" sz="1600" b="1" dirty="0">
                <a:solidFill>
                  <a:schemeClr val="tx2"/>
                </a:solidFill>
              </a:rPr>
              <a:t>Head and loss</a:t>
            </a:r>
            <a:endParaRPr lang="en-US" sz="1600" dirty="0"/>
          </a:p>
          <a:p>
            <a:pPr marL="0" indent="0" algn="ctr">
              <a:buNone/>
            </a:pPr>
            <a:r>
              <a:rPr lang="en-US" sz="1400" dirty="0">
                <a:solidFill>
                  <a:schemeClr val="tx1"/>
                </a:solidFill>
              </a:rPr>
              <a:t>head design, focal loss</a:t>
            </a:r>
            <a:endParaRPr lang="en-US" sz="1600" dirty="0"/>
          </a:p>
        </p:txBody>
      </p:sp>
      <p:sp>
        <p:nvSpPr>
          <p:cNvPr id="15" name="rm_q3"/>
          <p:cNvSpPr txBox="1"/>
          <p:nvPr/>
        </p:nvSpPr>
        <p:spPr>
          <a:xfrm>
            <a:off x="6217920" y="1554480"/>
            <a:ext cx="1737360" cy="1325880"/>
          </a:xfrm>
          <a:prstGeom prst="rect">
            <a:avLst/>
          </a:prstGeom>
          <a:noFill/>
          <a:ln/>
        </p:spPr>
        <p:txBody>
          <a:bodyPr wrap="square" lIns="0" tIns="0" rIns="0" bIns="0" rtlCol="0" anchor="b"/>
          <a:lstStyle/>
          <a:p>
            <a:pPr marL="0" indent="0" algn="l">
              <a:buNone/>
            </a:pPr>
            <a:r>
              <a:rPr lang="en-US" sz="1400" i="1" dirty="0">
                <a:solidFill>
                  <a:schemeClr val="accent5"/>
                </a:solidFill>
              </a:rPr>
              <a:t>Do varied training images help?</a:t>
            </a:r>
            <a:endParaRPr lang="en-US" sz="1400" dirty="0"/>
          </a:p>
        </p:txBody>
      </p:sp>
      <p:sp>
        <p:nvSpPr>
          <p:cNvPr id="16" name="b3d_rm_c3"/>
          <p:cNvSpPr txBox="1"/>
          <p:nvPr/>
        </p:nvSpPr>
        <p:spPr>
          <a:xfrm>
            <a:off x="6720840" y="2880360"/>
            <a:ext cx="731520" cy="731520"/>
          </a:xfrm>
          <a:prstGeom prst="ellipse">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17" name="rm_l3"/>
          <p:cNvSpPr txBox="1"/>
          <p:nvPr/>
        </p:nvSpPr>
        <p:spPr>
          <a:xfrm>
            <a:off x="6217920" y="3794760"/>
            <a:ext cx="1737360" cy="1188720"/>
          </a:xfrm>
          <a:prstGeom prst="rect">
            <a:avLst/>
          </a:prstGeom>
          <a:noFill/>
          <a:ln/>
        </p:spPr>
        <p:txBody>
          <a:bodyPr wrap="square" lIns="0" tIns="0" rIns="0" bIns="0" rtlCol="0" anchor="t"/>
          <a:lstStyle/>
          <a:p>
            <a:pPr marL="0" indent="0" algn="ctr">
              <a:spcAft>
                <a:spcPts val="400"/>
              </a:spcAft>
              <a:buNone/>
            </a:pPr>
            <a:r>
              <a:rPr lang="en-US" sz="1600" b="1" dirty="0">
                <a:solidFill>
                  <a:schemeClr val="tx2"/>
                </a:solidFill>
              </a:rPr>
              <a:t>Augmentation</a:t>
            </a:r>
            <a:endParaRPr lang="en-US" sz="1600" dirty="0"/>
          </a:p>
          <a:p>
            <a:pPr marL="0" indent="0" algn="ctr">
              <a:buNone/>
            </a:pPr>
            <a:r>
              <a:rPr lang="en-US" sz="1400" dirty="0">
                <a:solidFill>
                  <a:schemeClr val="tx1"/>
                </a:solidFill>
              </a:rPr>
              <a:t>baseline, realistic, RandAugment</a:t>
            </a:r>
            <a:endParaRPr lang="en-US" sz="1600" dirty="0"/>
          </a:p>
        </p:txBody>
      </p:sp>
      <p:sp>
        <p:nvSpPr>
          <p:cNvPr id="18" name="rm_q4"/>
          <p:cNvSpPr txBox="1"/>
          <p:nvPr/>
        </p:nvSpPr>
        <p:spPr>
          <a:xfrm>
            <a:off x="8138160" y="1554480"/>
            <a:ext cx="1737360" cy="1325880"/>
          </a:xfrm>
          <a:prstGeom prst="rect">
            <a:avLst/>
          </a:prstGeom>
          <a:noFill/>
          <a:ln/>
        </p:spPr>
        <p:txBody>
          <a:bodyPr wrap="square" lIns="0" tIns="0" rIns="0" bIns="0" rtlCol="0" anchor="b"/>
          <a:lstStyle/>
          <a:p>
            <a:pPr marL="0" indent="0" algn="l">
              <a:buNone/>
            </a:pPr>
            <a:r>
              <a:rPr lang="en-US" sz="1400" i="1" dirty="0">
                <a:solidFill>
                  <a:schemeClr val="accent5"/>
                </a:solidFill>
              </a:rPr>
              <a:t>How does the chosen model do on unseen images?</a:t>
            </a:r>
            <a:endParaRPr lang="en-US" sz="1400" dirty="0"/>
          </a:p>
        </p:txBody>
      </p:sp>
      <p:sp>
        <p:nvSpPr>
          <p:cNvPr id="19" name="b3d_rm_c4"/>
          <p:cNvSpPr txBox="1"/>
          <p:nvPr/>
        </p:nvSpPr>
        <p:spPr>
          <a:xfrm>
            <a:off x="8641080" y="2880360"/>
            <a:ext cx="731520" cy="731520"/>
          </a:xfrm>
          <a:prstGeom prst="ellipse">
            <a:avLst/>
          </a:prstGeom>
          <a:solidFill>
            <a:schemeClr val="accent3"/>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20" name="rm_l4"/>
          <p:cNvSpPr txBox="1"/>
          <p:nvPr/>
        </p:nvSpPr>
        <p:spPr>
          <a:xfrm>
            <a:off x="8138160" y="3794760"/>
            <a:ext cx="1737360" cy="1188720"/>
          </a:xfrm>
          <a:prstGeom prst="rect">
            <a:avLst/>
          </a:prstGeom>
          <a:noFill/>
          <a:ln/>
        </p:spPr>
        <p:txBody>
          <a:bodyPr wrap="square" lIns="0" tIns="0" rIns="0" bIns="0" rtlCol="0" anchor="t"/>
          <a:lstStyle/>
          <a:p>
            <a:pPr marL="0" indent="0" algn="ctr">
              <a:spcAft>
                <a:spcPts val="400"/>
              </a:spcAft>
              <a:buNone/>
            </a:pPr>
            <a:r>
              <a:rPr lang="en-US" sz="1600" b="1" dirty="0">
                <a:solidFill>
                  <a:schemeClr val="tx2"/>
                </a:solidFill>
              </a:rPr>
              <a:t>Locked test</a:t>
            </a:r>
            <a:endParaRPr lang="en-US" sz="1600" dirty="0"/>
          </a:p>
          <a:p>
            <a:pPr marL="0" indent="0" algn="ctr">
              <a:buNone/>
            </a:pPr>
            <a:r>
              <a:rPr lang="en-US" sz="1400" dirty="0">
                <a:solidFill>
                  <a:schemeClr val="tx1"/>
                </a:solidFill>
              </a:rPr>
              <a:t>693 held-out images</a:t>
            </a:r>
            <a:endParaRPr lang="en-US" sz="1600" dirty="0"/>
          </a:p>
        </p:txBody>
      </p:sp>
      <p:sp>
        <p:nvSpPr>
          <p:cNvPr id="21" name="rm_q5"/>
          <p:cNvSpPr txBox="1"/>
          <p:nvPr/>
        </p:nvSpPr>
        <p:spPr>
          <a:xfrm>
            <a:off x="10058400" y="1554480"/>
            <a:ext cx="1737360" cy="1325880"/>
          </a:xfrm>
          <a:prstGeom prst="rect">
            <a:avLst/>
          </a:prstGeom>
          <a:noFill/>
          <a:ln/>
        </p:spPr>
        <p:txBody>
          <a:bodyPr wrap="square" lIns="0" tIns="0" rIns="0" bIns="0" rtlCol="0" anchor="b"/>
          <a:lstStyle/>
          <a:p>
            <a:pPr marL="0" indent="0" algn="l">
              <a:buNone/>
            </a:pPr>
            <a:r>
              <a:rPr lang="en-US" sz="1400" i="1" dirty="0">
                <a:solidFill>
                  <a:schemeClr val="accent5"/>
                </a:solidFill>
              </a:rPr>
              <a:t>What do the numbers allow us to claim?</a:t>
            </a:r>
            <a:endParaRPr lang="en-US" sz="1400" dirty="0"/>
          </a:p>
        </p:txBody>
      </p:sp>
      <p:sp>
        <p:nvSpPr>
          <p:cNvPr id="22" name="b3d_rm_c5"/>
          <p:cNvSpPr txBox="1"/>
          <p:nvPr/>
        </p:nvSpPr>
        <p:spPr>
          <a:xfrm>
            <a:off x="10561320" y="2880360"/>
            <a:ext cx="731520" cy="731520"/>
          </a:xfrm>
          <a:prstGeom prst="ellipse">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0" tIns="0" rIns="0" bIns="0" rtlCol="0" anchor="ctr"/>
          <a:lstStyle/>
          <a:p>
            <a:pPr marL="0" indent="0" algn="ctr">
              <a:buNone/>
            </a:pPr>
            <a:r>
              <a:rPr lang="en-US" sz="2200" b="1" dirty="0">
                <a:solidFill>
                  <a:schemeClr val="bg1"/>
                </a:solidFill>
              </a:rPr>
              <a:t>6</a:t>
            </a:r>
            <a:endParaRPr lang="en-US" sz="2200" dirty="0"/>
          </a:p>
        </p:txBody>
      </p:sp>
      <p:sp>
        <p:nvSpPr>
          <p:cNvPr id="23" name="rm_l5"/>
          <p:cNvSpPr txBox="1"/>
          <p:nvPr/>
        </p:nvSpPr>
        <p:spPr>
          <a:xfrm>
            <a:off x="10058400" y="3794760"/>
            <a:ext cx="1737360" cy="1188720"/>
          </a:xfrm>
          <a:prstGeom prst="rect">
            <a:avLst/>
          </a:prstGeom>
          <a:noFill/>
          <a:ln/>
        </p:spPr>
        <p:txBody>
          <a:bodyPr wrap="square" lIns="0" tIns="0" rIns="0" bIns="0" rtlCol="0" anchor="t"/>
          <a:lstStyle/>
          <a:p>
            <a:pPr marL="0" indent="0" algn="ctr">
              <a:spcAft>
                <a:spcPts val="400"/>
              </a:spcAft>
              <a:buNone/>
            </a:pPr>
            <a:r>
              <a:rPr lang="en-US" sz="1600" b="1" dirty="0">
                <a:solidFill>
                  <a:schemeClr val="tx2"/>
                </a:solidFill>
              </a:rPr>
              <a:t>Reading results</a:t>
            </a:r>
            <a:endParaRPr lang="en-US" sz="1600" dirty="0"/>
          </a:p>
          <a:p>
            <a:pPr marL="0" indent="0" algn="ctr">
              <a:buNone/>
            </a:pPr>
            <a:r>
              <a:rPr lang="en-US" sz="1400" dirty="0">
                <a:solidFill>
                  <a:schemeClr val="tx1"/>
                </a:solidFill>
              </a:rPr>
              <a:t>gaps, class check, limits</a:t>
            </a:r>
            <a:endParaRPr lang="en-US" sz="1600" dirty="0"/>
          </a:p>
        </p:txBody>
      </p:sp>
      <p:sp>
        <p:nvSpPr>
          <p:cNvPr id="24" name="rm_rule"/>
          <p:cNvSpPr txBox="1"/>
          <p:nvPr/>
        </p:nvSpPr>
        <p:spPr>
          <a:xfrm>
            <a:off x="548640" y="5349240"/>
            <a:ext cx="11091672" cy="868680"/>
          </a:xfrm>
          <a:prstGeom prst="roundRect">
            <a:avLst>
              <a:gd name="adj" fmla="val 8421"/>
            </a:avLst>
          </a:prstGeom>
          <a:solidFill>
            <a:schemeClr val="accent1"/>
          </a:solidFill>
          <a:ln/>
          <a:effectLst>
            <a:outerShdw blurRad="101600" dist="38100" dir="5400000" algn="bl" rotWithShape="0">
              <a:srgbClr val="1B2433">
                <a:alpha val="16000"/>
              </a:srgbClr>
            </a:outerShdw>
          </a:effectLst>
        </p:spPr>
        <p:txBody>
          <a:bodyPr wrap="square" lIns="152400" tIns="152400" rIns="152400" bIns="152400" rtlCol="0" anchor="ctr"/>
          <a:lstStyle/>
          <a:p>
            <a:pPr marL="0" indent="0" algn="l">
              <a:buNone/>
            </a:pPr>
            <a:r>
              <a:rPr lang="en-US" sz="1600" b="1" dirty="0">
                <a:solidFill>
                  <a:schemeClr val="bg1"/>
                </a:solidFill>
              </a:rPr>
              <a:t>Selection rule:  </a:t>
            </a:r>
            <a:r>
              <a:rPr lang="en-US" sz="1600" dirty="0">
                <a:solidFill>
                  <a:schemeClr val="bg1"/>
                </a:solidFill>
              </a:rPr>
              <a:t>every choice was made on validation Macro-F1. The test set stayed untouched until the final evaluation.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4" fill="hold" grpId="0" nodeType="withEffect">
                                  <p:stCondLst>
                                    <p:cond delay="15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600" fill="hold"/>
                                        <p:tgtEl>
                                          <p:spTgt spid="7"/>
                                        </p:tgtEl>
                                        <p:attrNameLst>
                                          <p:attrName>ppt_x</p:attrName>
                                        </p:attrNameLst>
                                      </p:cBhvr>
                                      <p:tavLst>
                                        <p:tav tm="0">
                                          <p:val>
                                            <p:strVal val="#ppt_x"/>
                                          </p:val>
                                        </p:tav>
                                        <p:tav tm="100000">
                                          <p:val>
                                            <p:strVal val="#ppt_x"/>
                                          </p:val>
                                        </p:tav>
                                      </p:tavLst>
                                    </p:anim>
                                    <p:anim calcmode="lin" valueType="num">
                                      <p:cBhvr additive="base">
                                        <p:cTn id="11" dur="600" fill="hold"/>
                                        <p:tgtEl>
                                          <p:spTgt spid="7"/>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3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 presetClass="entr" presetSubtype="4" fill="hold" grpId="0" nodeType="withEffect">
                                  <p:stCondLst>
                                    <p:cond delay="15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600" fill="hold"/>
                                        <p:tgtEl>
                                          <p:spTgt spid="10"/>
                                        </p:tgtEl>
                                        <p:attrNameLst>
                                          <p:attrName>ppt_x</p:attrName>
                                        </p:attrNameLst>
                                      </p:cBhvr>
                                      <p:tavLst>
                                        <p:tav tm="0">
                                          <p:val>
                                            <p:strVal val="#ppt_x"/>
                                          </p:val>
                                        </p:tav>
                                        <p:tav tm="100000">
                                          <p:val>
                                            <p:strVal val="#ppt_x"/>
                                          </p:val>
                                        </p:tav>
                                      </p:tavLst>
                                    </p:anim>
                                    <p:anim calcmode="lin" valueType="num">
                                      <p:cBhvr additive="base">
                                        <p:cTn id="23" dur="600" fill="hold"/>
                                        <p:tgtEl>
                                          <p:spTgt spid="10"/>
                                        </p:tgtEl>
                                        <p:attrNameLst>
                                          <p:attrName>ppt_y</p:attrName>
                                        </p:attrNameLst>
                                      </p:cBhvr>
                                      <p:tavLst>
                                        <p:tav tm="0">
                                          <p:val>
                                            <p:strVal val="1+#ppt_h/2"/>
                                          </p:val>
                                        </p:tav>
                                        <p:tav tm="100000">
                                          <p:val>
                                            <p:strVal val="#ppt_y"/>
                                          </p:val>
                                        </p:tav>
                                      </p:tavLst>
                                    </p:anim>
                                  </p:childTnLst>
                                </p:cTn>
                              </p:par>
                              <p:par>
                                <p:cTn id="24" presetID="10" presetClass="entr" presetSubtype="0" fill="hold" grpId="0" nodeType="withEffect">
                                  <p:stCondLst>
                                    <p:cond delay="3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2" presetClass="entr" presetSubtype="4" fill="hold" grpId="0" nodeType="withEffect">
                                  <p:stCondLst>
                                    <p:cond delay="15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600" fill="hold"/>
                                        <p:tgtEl>
                                          <p:spTgt spid="13"/>
                                        </p:tgtEl>
                                        <p:attrNameLst>
                                          <p:attrName>ppt_x</p:attrName>
                                        </p:attrNameLst>
                                      </p:cBhvr>
                                      <p:tavLst>
                                        <p:tav tm="0">
                                          <p:val>
                                            <p:strVal val="#ppt_x"/>
                                          </p:val>
                                        </p:tav>
                                        <p:tav tm="100000">
                                          <p:val>
                                            <p:strVal val="#ppt_x"/>
                                          </p:val>
                                        </p:tav>
                                      </p:tavLst>
                                    </p:anim>
                                    <p:anim calcmode="lin" valueType="num">
                                      <p:cBhvr additive="base">
                                        <p:cTn id="35" dur="600" fill="hold"/>
                                        <p:tgtEl>
                                          <p:spTgt spid="13"/>
                                        </p:tgtEl>
                                        <p:attrNameLst>
                                          <p:attrName>ppt_y</p:attrName>
                                        </p:attrNameLst>
                                      </p:cBhvr>
                                      <p:tavLst>
                                        <p:tav tm="0">
                                          <p:val>
                                            <p:strVal val="1+#ppt_h/2"/>
                                          </p:val>
                                        </p:tav>
                                        <p:tav tm="100000">
                                          <p:val>
                                            <p:strVal val="#ppt_y"/>
                                          </p:val>
                                        </p:tav>
                                      </p:tavLst>
                                    </p:anim>
                                  </p:childTnLst>
                                </p:cTn>
                              </p:par>
                              <p:par>
                                <p:cTn id="36" presetID="10" presetClass="entr" presetSubtype="0" fill="hold" grpId="0" nodeType="withEffect">
                                  <p:stCondLst>
                                    <p:cond delay="3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2" presetClass="entr" presetSubtype="4" fill="hold" grpId="0" nodeType="withEffect">
                                  <p:stCondLst>
                                    <p:cond delay="15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600" fill="hold"/>
                                        <p:tgtEl>
                                          <p:spTgt spid="16"/>
                                        </p:tgtEl>
                                        <p:attrNameLst>
                                          <p:attrName>ppt_x</p:attrName>
                                        </p:attrNameLst>
                                      </p:cBhvr>
                                      <p:tavLst>
                                        <p:tav tm="0">
                                          <p:val>
                                            <p:strVal val="#ppt_x"/>
                                          </p:val>
                                        </p:tav>
                                        <p:tav tm="100000">
                                          <p:val>
                                            <p:strVal val="#ppt_x"/>
                                          </p:val>
                                        </p:tav>
                                      </p:tavLst>
                                    </p:anim>
                                    <p:anim calcmode="lin" valueType="num">
                                      <p:cBhvr additive="base">
                                        <p:cTn id="47" dur="600" fill="hold"/>
                                        <p:tgtEl>
                                          <p:spTgt spid="16"/>
                                        </p:tgtEl>
                                        <p:attrNameLst>
                                          <p:attrName>ppt_y</p:attrName>
                                        </p:attrNameLst>
                                      </p:cBhvr>
                                      <p:tavLst>
                                        <p:tav tm="0">
                                          <p:val>
                                            <p:strVal val="1+#ppt_h/2"/>
                                          </p:val>
                                        </p:tav>
                                        <p:tav tm="100000">
                                          <p:val>
                                            <p:strVal val="#ppt_y"/>
                                          </p:val>
                                        </p:tav>
                                      </p:tavLst>
                                    </p:anim>
                                  </p:childTnLst>
                                </p:cTn>
                              </p:par>
                              <p:par>
                                <p:cTn id="48" presetID="10" presetClass="entr" presetSubtype="0" fill="hold" grpId="0" nodeType="withEffect">
                                  <p:stCondLst>
                                    <p:cond delay="30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2" presetClass="entr" presetSubtype="4" fill="hold" grpId="0" nodeType="withEffect">
                                  <p:stCondLst>
                                    <p:cond delay="150"/>
                                  </p:stCondLst>
                                  <p:childTnLst>
                                    <p:set>
                                      <p:cBhvr>
                                        <p:cTn id="57" dur="1" fill="hold">
                                          <p:stCondLst>
                                            <p:cond delay="0"/>
                                          </p:stCondLst>
                                        </p:cTn>
                                        <p:tgtEl>
                                          <p:spTgt spid="19"/>
                                        </p:tgtEl>
                                        <p:attrNameLst>
                                          <p:attrName>style.visibility</p:attrName>
                                        </p:attrNameLst>
                                      </p:cBhvr>
                                      <p:to>
                                        <p:strVal val="visible"/>
                                      </p:to>
                                    </p:set>
                                    <p:anim calcmode="lin" valueType="num">
                                      <p:cBhvr additive="base">
                                        <p:cTn id="58" dur="600" fill="hold"/>
                                        <p:tgtEl>
                                          <p:spTgt spid="19"/>
                                        </p:tgtEl>
                                        <p:attrNameLst>
                                          <p:attrName>ppt_x</p:attrName>
                                        </p:attrNameLst>
                                      </p:cBhvr>
                                      <p:tavLst>
                                        <p:tav tm="0">
                                          <p:val>
                                            <p:strVal val="#ppt_x"/>
                                          </p:val>
                                        </p:tav>
                                        <p:tav tm="100000">
                                          <p:val>
                                            <p:strVal val="#ppt_x"/>
                                          </p:val>
                                        </p:tav>
                                      </p:tavLst>
                                    </p:anim>
                                    <p:anim calcmode="lin" valueType="num">
                                      <p:cBhvr additive="base">
                                        <p:cTn id="59" dur="600" fill="hold"/>
                                        <p:tgtEl>
                                          <p:spTgt spid="19"/>
                                        </p:tgtEl>
                                        <p:attrNameLst>
                                          <p:attrName>ppt_y</p:attrName>
                                        </p:attrNameLst>
                                      </p:cBhvr>
                                      <p:tavLst>
                                        <p:tav tm="0">
                                          <p:val>
                                            <p:strVal val="1+#ppt_h/2"/>
                                          </p:val>
                                        </p:tav>
                                        <p:tav tm="100000">
                                          <p:val>
                                            <p:strVal val="#ppt_y"/>
                                          </p:val>
                                        </p:tav>
                                      </p:tavLst>
                                    </p:anim>
                                  </p:childTnLst>
                                </p:cTn>
                              </p:par>
                              <p:par>
                                <p:cTn id="60" presetID="10" presetClass="entr" presetSubtype="0" fill="hold" grpId="0" nodeType="withEffect">
                                  <p:stCondLst>
                                    <p:cond delay="30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2" presetClass="entr" presetSubtype="4" fill="hold" grpId="0" nodeType="withEffect">
                                  <p:stCondLst>
                                    <p:cond delay="15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600" fill="hold"/>
                                        <p:tgtEl>
                                          <p:spTgt spid="22"/>
                                        </p:tgtEl>
                                        <p:attrNameLst>
                                          <p:attrName>ppt_x</p:attrName>
                                        </p:attrNameLst>
                                      </p:cBhvr>
                                      <p:tavLst>
                                        <p:tav tm="0">
                                          <p:val>
                                            <p:strVal val="#ppt_x"/>
                                          </p:val>
                                        </p:tav>
                                        <p:tav tm="100000">
                                          <p:val>
                                            <p:strVal val="#ppt_x"/>
                                          </p:val>
                                        </p:tav>
                                      </p:tavLst>
                                    </p:anim>
                                    <p:anim calcmode="lin" valueType="num">
                                      <p:cBhvr additive="base">
                                        <p:cTn id="71" dur="600" fill="hold"/>
                                        <p:tgtEl>
                                          <p:spTgt spid="22"/>
                                        </p:tgtEl>
                                        <p:attrNameLst>
                                          <p:attrName>ppt_y</p:attrName>
                                        </p:attrNameLst>
                                      </p:cBhvr>
                                      <p:tavLst>
                                        <p:tav tm="0">
                                          <p:val>
                                            <p:strVal val="1+#ppt_h/2"/>
                                          </p:val>
                                        </p:tav>
                                        <p:tav tm="100000">
                                          <p:val>
                                            <p:strVal val="#ppt_y"/>
                                          </p:val>
                                        </p:tav>
                                      </p:tavLst>
                                    </p:anim>
                                  </p:childTnLst>
                                </p:cTn>
                              </p:par>
                              <p:par>
                                <p:cTn id="72" presetID="10" presetClass="entr" presetSubtype="0" fill="hold" grpId="0" nodeType="withEffect">
                                  <p:stCondLst>
                                    <p:cond delay="30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MODEL INTERNALS  |  1 OF 2</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Inside a Vision Transformer</a:t>
            </a:r>
            <a:endParaRPr lang="en-US" sz="3600" dirty="0"/>
          </a:p>
        </p:txBody>
      </p:sp>
      <p:sp>
        <p:nvSpPr>
          <p:cNvPr id="5" name="vit_b0"/>
          <p:cNvSpPr txBox="1"/>
          <p:nvPr/>
        </p:nvSpPr>
        <p:spPr>
          <a:xfrm>
            <a:off x="612648" y="1554480"/>
            <a:ext cx="1828800" cy="1965960"/>
          </a:xfrm>
          <a:prstGeom prst="roundRect">
            <a:avLst>
              <a:gd name="adj" fmla="val 4000"/>
            </a:avLst>
          </a:prstGeom>
          <a:solidFill>
            <a:schemeClr val="bg2"/>
          </a:solidFill>
          <a:ln/>
          <a:effectLst>
            <a:outerShdw blurRad="101600" dist="38100" dir="5400000" algn="bl" rotWithShape="0">
              <a:srgbClr val="1B2433">
                <a:alpha val="16000"/>
              </a:srgbClr>
            </a:outerShdw>
          </a:effectLst>
        </p:spPr>
        <p:txBody>
          <a:bodyPr wrap="square" lIns="127000" tIns="127000" rIns="127000" bIns="127000" rtlCol="0" anchor="t"/>
          <a:lstStyle/>
          <a:p>
            <a:pPr marL="0" indent="0" algn="l">
              <a:spcAft>
                <a:spcPts val="600"/>
              </a:spcAft>
              <a:buNone/>
            </a:pPr>
            <a:r>
              <a:rPr lang="en-US" sz="1600" b="1" dirty="0">
                <a:solidFill>
                  <a:schemeClr val="tx2"/>
                </a:solidFill>
              </a:rPr>
              <a:t>1  Input image</a:t>
            </a:r>
            <a:endParaRPr lang="en-US" sz="1600" dirty="0"/>
          </a:p>
          <a:p>
            <a:pPr marL="0" indent="0" algn="l">
              <a:buNone/>
            </a:pPr>
            <a:r>
              <a:rPr lang="en-US" sz="1500" dirty="0">
                <a:solidFill>
                  <a:schemeClr val="tx1"/>
                </a:solidFill>
              </a:rPr>
              <a:t>224 × 224 pixels</a:t>
            </a:r>
            <a:endParaRPr lang="en-US" sz="1600" dirty="0"/>
          </a:p>
        </p:txBody>
      </p:sp>
      <p:sp>
        <p:nvSpPr>
          <p:cNvPr id="6" name="vit_a0"/>
          <p:cNvSpPr/>
          <p:nvPr/>
        </p:nvSpPr>
        <p:spPr>
          <a:xfrm>
            <a:off x="2505456" y="2331720"/>
            <a:ext cx="329184" cy="329184"/>
          </a:xfrm>
          <a:prstGeom prst="rightArrow">
            <a:avLst/>
          </a:prstGeom>
          <a:solidFill>
            <a:schemeClr val="accent1"/>
          </a:solidFill>
          <a:ln/>
        </p:spPr>
        <p:txBody>
          <a:bodyPr/>
          <a:lstStyle/>
          <a:p>
            <a:endParaRPr lang="en-US"/>
          </a:p>
        </p:txBody>
      </p:sp>
      <p:sp>
        <p:nvSpPr>
          <p:cNvPr id="7" name="vit_b1"/>
          <p:cNvSpPr txBox="1"/>
          <p:nvPr/>
        </p:nvSpPr>
        <p:spPr>
          <a:xfrm>
            <a:off x="2898648" y="1554480"/>
            <a:ext cx="1828800" cy="1965960"/>
          </a:xfrm>
          <a:prstGeom prst="roundRect">
            <a:avLst>
              <a:gd name="adj" fmla="val 4000"/>
            </a:avLst>
          </a:prstGeom>
          <a:solidFill>
            <a:schemeClr val="bg2"/>
          </a:solidFill>
          <a:ln/>
          <a:effectLst>
            <a:outerShdw blurRad="101600" dist="38100" dir="5400000" algn="bl" rotWithShape="0">
              <a:srgbClr val="1B2433">
                <a:alpha val="16000"/>
              </a:srgbClr>
            </a:outerShdw>
          </a:effectLst>
        </p:spPr>
        <p:txBody>
          <a:bodyPr wrap="square" lIns="127000" tIns="127000" rIns="127000" bIns="127000" rtlCol="0" anchor="t"/>
          <a:lstStyle/>
          <a:p>
            <a:pPr marL="0" indent="0" algn="l">
              <a:spcAft>
                <a:spcPts val="600"/>
              </a:spcAft>
              <a:buNone/>
            </a:pPr>
            <a:r>
              <a:rPr lang="en-US" sz="1600" b="1" dirty="0">
                <a:solidFill>
                  <a:schemeClr val="tx2"/>
                </a:solidFill>
              </a:rPr>
              <a:t>2  Patches</a:t>
            </a:r>
            <a:endParaRPr lang="en-US" sz="1600" dirty="0"/>
          </a:p>
          <a:p>
            <a:pPr marL="0" indent="0" algn="l">
              <a:buNone/>
            </a:pPr>
            <a:r>
              <a:rPr lang="en-US" sz="1500" dirty="0">
                <a:solidFill>
                  <a:schemeClr val="tx1"/>
                </a:solidFill>
              </a:rPr>
              <a:t>16 × 16 pixels each, so 196 patches</a:t>
            </a:r>
            <a:endParaRPr lang="en-US" sz="1600" dirty="0"/>
          </a:p>
        </p:txBody>
      </p:sp>
      <p:sp>
        <p:nvSpPr>
          <p:cNvPr id="8" name="vit_a1"/>
          <p:cNvSpPr/>
          <p:nvPr/>
        </p:nvSpPr>
        <p:spPr>
          <a:xfrm>
            <a:off x="4791456" y="2331720"/>
            <a:ext cx="329184" cy="329184"/>
          </a:xfrm>
          <a:prstGeom prst="rightArrow">
            <a:avLst/>
          </a:prstGeom>
          <a:solidFill>
            <a:schemeClr val="accent1"/>
          </a:solidFill>
          <a:ln/>
        </p:spPr>
        <p:txBody>
          <a:bodyPr/>
          <a:lstStyle/>
          <a:p>
            <a:endParaRPr lang="en-US"/>
          </a:p>
        </p:txBody>
      </p:sp>
      <p:sp>
        <p:nvSpPr>
          <p:cNvPr id="9" name="vit_b2"/>
          <p:cNvSpPr txBox="1"/>
          <p:nvPr/>
        </p:nvSpPr>
        <p:spPr>
          <a:xfrm>
            <a:off x="5184648" y="1554480"/>
            <a:ext cx="1828800" cy="1965960"/>
          </a:xfrm>
          <a:prstGeom prst="roundRect">
            <a:avLst>
              <a:gd name="adj" fmla="val 4000"/>
            </a:avLst>
          </a:prstGeom>
          <a:solidFill>
            <a:schemeClr val="bg2"/>
          </a:solidFill>
          <a:ln/>
          <a:effectLst>
            <a:outerShdw blurRad="101600" dist="38100" dir="5400000" algn="bl" rotWithShape="0">
              <a:srgbClr val="1B2433">
                <a:alpha val="16000"/>
              </a:srgbClr>
            </a:outerShdw>
          </a:effectLst>
        </p:spPr>
        <p:txBody>
          <a:bodyPr wrap="square" lIns="127000" tIns="127000" rIns="127000" bIns="127000" rtlCol="0" anchor="t"/>
          <a:lstStyle/>
          <a:p>
            <a:pPr marL="0" indent="0" algn="l">
              <a:spcAft>
                <a:spcPts val="600"/>
              </a:spcAft>
              <a:buNone/>
            </a:pPr>
            <a:r>
              <a:rPr lang="en-US" sz="1600" b="1" dirty="0">
                <a:solidFill>
                  <a:schemeClr val="tx2"/>
                </a:solidFill>
              </a:rPr>
              <a:t>3  Embedding</a:t>
            </a:r>
            <a:endParaRPr lang="en-US" sz="1600" dirty="0"/>
          </a:p>
          <a:p>
            <a:pPr marL="0" indent="0" algn="l">
              <a:buNone/>
            </a:pPr>
            <a:r>
              <a:rPr lang="en-US" sz="1500" dirty="0">
                <a:solidFill>
                  <a:schemeClr val="tx1"/>
                </a:solidFill>
              </a:rPr>
              <a:t>Each patch becomes a 768-number vector; add position and a [CLS] token</a:t>
            </a:r>
            <a:endParaRPr lang="en-US" sz="1600" dirty="0"/>
          </a:p>
        </p:txBody>
      </p:sp>
      <p:sp>
        <p:nvSpPr>
          <p:cNvPr id="10" name="vit_a2"/>
          <p:cNvSpPr/>
          <p:nvPr/>
        </p:nvSpPr>
        <p:spPr>
          <a:xfrm>
            <a:off x="7077456" y="2331720"/>
            <a:ext cx="329184" cy="329184"/>
          </a:xfrm>
          <a:prstGeom prst="rightArrow">
            <a:avLst/>
          </a:prstGeom>
          <a:solidFill>
            <a:schemeClr val="accent1"/>
          </a:solidFill>
          <a:ln/>
        </p:spPr>
        <p:txBody>
          <a:bodyPr/>
          <a:lstStyle/>
          <a:p>
            <a:endParaRPr lang="en-US"/>
          </a:p>
        </p:txBody>
      </p:sp>
      <p:sp>
        <p:nvSpPr>
          <p:cNvPr id="11" name="vit_b3"/>
          <p:cNvSpPr txBox="1"/>
          <p:nvPr/>
        </p:nvSpPr>
        <p:spPr>
          <a:xfrm>
            <a:off x="7470648" y="1554480"/>
            <a:ext cx="1828800" cy="1965960"/>
          </a:xfrm>
          <a:prstGeom prst="roundRect">
            <a:avLst>
              <a:gd name="adj" fmla="val 4000"/>
            </a:avLst>
          </a:prstGeom>
          <a:solidFill>
            <a:schemeClr val="bg2"/>
          </a:solidFill>
          <a:ln/>
          <a:effectLst>
            <a:outerShdw blurRad="101600" dist="38100" dir="5400000" algn="bl" rotWithShape="0">
              <a:srgbClr val="1B2433">
                <a:alpha val="16000"/>
              </a:srgbClr>
            </a:outerShdw>
          </a:effectLst>
        </p:spPr>
        <p:txBody>
          <a:bodyPr wrap="square" lIns="127000" tIns="127000" rIns="127000" bIns="127000" rtlCol="0" anchor="t"/>
          <a:lstStyle/>
          <a:p>
            <a:pPr marL="0" indent="0" algn="l">
              <a:spcAft>
                <a:spcPts val="600"/>
              </a:spcAft>
              <a:buNone/>
            </a:pPr>
            <a:r>
              <a:rPr lang="en-US" sz="1600" b="1" dirty="0">
                <a:solidFill>
                  <a:schemeClr val="tx2"/>
                </a:solidFill>
              </a:rPr>
              <a:t>4  Encoder × 12</a:t>
            </a:r>
            <a:endParaRPr lang="en-US" sz="1600" dirty="0"/>
          </a:p>
          <a:p>
            <a:pPr marL="0" indent="0" algn="l">
              <a:buNone/>
            </a:pPr>
            <a:r>
              <a:rPr lang="en-US" sz="1500" dirty="0">
                <a:solidFill>
                  <a:schemeClr val="tx1"/>
                </a:solidFill>
              </a:rPr>
              <a:t>Self-attention, then a small MLP, in every block</a:t>
            </a:r>
            <a:endParaRPr lang="en-US" sz="1600" dirty="0"/>
          </a:p>
        </p:txBody>
      </p:sp>
      <p:sp>
        <p:nvSpPr>
          <p:cNvPr id="12" name="vit_a3"/>
          <p:cNvSpPr/>
          <p:nvPr/>
        </p:nvSpPr>
        <p:spPr>
          <a:xfrm>
            <a:off x="9363456" y="2331720"/>
            <a:ext cx="329184" cy="329184"/>
          </a:xfrm>
          <a:prstGeom prst="rightArrow">
            <a:avLst/>
          </a:prstGeom>
          <a:solidFill>
            <a:schemeClr val="accent1"/>
          </a:solidFill>
          <a:ln/>
        </p:spPr>
        <p:txBody>
          <a:bodyPr/>
          <a:lstStyle/>
          <a:p>
            <a:endParaRPr lang="en-US"/>
          </a:p>
        </p:txBody>
      </p:sp>
      <p:sp>
        <p:nvSpPr>
          <p:cNvPr id="13" name="vit_b4"/>
          <p:cNvSpPr txBox="1"/>
          <p:nvPr/>
        </p:nvSpPr>
        <p:spPr>
          <a:xfrm>
            <a:off x="9756648" y="1554480"/>
            <a:ext cx="1828800" cy="1965960"/>
          </a:xfrm>
          <a:prstGeom prst="roundRect">
            <a:avLst>
              <a:gd name="adj" fmla="val 4000"/>
            </a:avLst>
          </a:prstGeom>
          <a:solidFill>
            <a:schemeClr val="bg2"/>
          </a:solidFill>
          <a:ln/>
          <a:effectLst>
            <a:outerShdw blurRad="101600" dist="38100" dir="5400000" algn="bl" rotWithShape="0">
              <a:srgbClr val="1B2433">
                <a:alpha val="16000"/>
              </a:srgbClr>
            </a:outerShdw>
          </a:effectLst>
        </p:spPr>
        <p:txBody>
          <a:bodyPr wrap="square" lIns="127000" tIns="127000" rIns="127000" bIns="127000" rtlCol="0" anchor="t"/>
          <a:lstStyle/>
          <a:p>
            <a:pPr marL="0" indent="0" algn="l">
              <a:spcAft>
                <a:spcPts val="600"/>
              </a:spcAft>
              <a:buNone/>
            </a:pPr>
            <a:r>
              <a:rPr lang="en-US" sz="1600" b="1" dirty="0">
                <a:solidFill>
                  <a:schemeClr val="tx2"/>
                </a:solidFill>
              </a:rPr>
              <a:t>5  Classifier</a:t>
            </a:r>
            <a:endParaRPr lang="en-US" sz="1600" dirty="0"/>
          </a:p>
          <a:p>
            <a:pPr marL="0" indent="0" algn="l">
              <a:buNone/>
            </a:pPr>
            <a:r>
              <a:rPr lang="en-US" sz="1500" dirty="0">
                <a:solidFill>
                  <a:schemeClr val="tx1"/>
                </a:solidFill>
              </a:rPr>
              <a:t>[CLS] vector goes through a linear layer to 3 classes</a:t>
            </a:r>
            <a:endParaRPr lang="en-US" sz="1600" dirty="0"/>
          </a:p>
        </p:txBody>
      </p:sp>
      <p:sp>
        <p:nvSpPr>
          <p:cNvPr id="14" name="vit_att"/>
          <p:cNvSpPr txBox="1"/>
          <p:nvPr/>
        </p:nvSpPr>
        <p:spPr>
          <a:xfrm>
            <a:off x="548640" y="3749040"/>
            <a:ext cx="3520440" cy="2514600"/>
          </a:xfrm>
          <a:prstGeom prst="roundRect">
            <a:avLst>
              <a:gd name="adj" fmla="val 2909"/>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700" b="1" dirty="0">
                <a:solidFill>
                  <a:schemeClr val="tx2"/>
                </a:solidFill>
              </a:rPr>
              <a:t>Self-attention</a:t>
            </a:r>
            <a:endParaRPr lang="en-US" sz="1700" dirty="0"/>
          </a:p>
          <a:p>
            <a:pPr marL="0" indent="0" algn="l">
              <a:spcAft>
                <a:spcPts val="600"/>
              </a:spcAft>
              <a:buNone/>
            </a:pPr>
            <a:r>
              <a:rPr lang="en-US" sz="1500" dirty="0">
                <a:solidFill>
                  <a:schemeClr val="tx1"/>
                </a:solidFill>
              </a:rPr>
              <a:t>Every patch compares itself with every other patch, turns the scores into weights (softmax), and takes a weighted mix of their values.</a:t>
            </a:r>
            <a:endParaRPr lang="en-US" sz="1700" dirty="0"/>
          </a:p>
          <a:p>
            <a:pPr marL="0" indent="0" algn="l">
              <a:buNone/>
            </a:pPr>
            <a:r>
              <a:rPr lang="en-US" sz="1600" b="1" dirty="0">
                <a:solidFill>
                  <a:schemeClr val="accent1"/>
                </a:solidFill>
              </a:rPr>
              <a:t>softmax( Q · Kᵀ / √d ) · V</a:t>
            </a:r>
            <a:endParaRPr lang="en-US" sz="1700" dirty="0"/>
          </a:p>
        </p:txBody>
      </p:sp>
      <p:sp>
        <p:nvSpPr>
          <p:cNvPr id="15" name="vit_why"/>
          <p:cNvSpPr txBox="1"/>
          <p:nvPr/>
        </p:nvSpPr>
        <p:spPr>
          <a:xfrm>
            <a:off x="4334256" y="3749040"/>
            <a:ext cx="3520440" cy="2514600"/>
          </a:xfrm>
          <a:prstGeom prst="roundRect">
            <a:avLst>
              <a:gd name="adj" fmla="val 2909"/>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700" b="1" dirty="0">
                <a:solidFill>
                  <a:schemeClr val="tx2"/>
                </a:solidFill>
              </a:rPr>
              <a:t>Why it matters here</a:t>
            </a:r>
            <a:endParaRPr lang="en-US" sz="1700" dirty="0"/>
          </a:p>
          <a:p>
            <a:pPr marL="0" indent="0" algn="l">
              <a:spcAft>
                <a:spcPts val="600"/>
              </a:spcAft>
              <a:buNone/>
            </a:pPr>
            <a:r>
              <a:rPr lang="en-US" sz="1500" dirty="0">
                <a:solidFill>
                  <a:schemeClr val="tx1"/>
                </a:solidFill>
              </a:rPr>
              <a:t>Attention is global from the first layer, so a damaged roof can be linked to flooding on the far side of the image.</a:t>
            </a:r>
            <a:endParaRPr lang="en-US" sz="1700" dirty="0"/>
          </a:p>
          <a:p>
            <a:pPr marL="0" indent="0" algn="l">
              <a:buNone/>
            </a:pPr>
            <a:r>
              <a:rPr lang="en-US" sz="1500" dirty="0">
                <a:solidFill>
                  <a:schemeClr val="tx1"/>
                </a:solidFill>
              </a:rPr>
              <a:t>Locality is not built in; it is learned from data. ViT-Base: ImageNet-21k pretraining, about 86M parameters.</a:t>
            </a:r>
            <a:endParaRPr lang="en-US" sz="1700" dirty="0"/>
          </a:p>
        </p:txBody>
      </p:sp>
      <p:sp>
        <p:nvSpPr>
          <p:cNvPr id="16" name="vit_term"/>
          <p:cNvSpPr txBox="1"/>
          <p:nvPr/>
        </p:nvSpPr>
        <p:spPr>
          <a:xfrm>
            <a:off x="8119872" y="3749040"/>
            <a:ext cx="3520440" cy="2514600"/>
          </a:xfrm>
          <a:prstGeom prst="roundRect">
            <a:avLst>
              <a:gd name="adj" fmla="val 2909"/>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27000" tIns="127000" rIns="127000" bIns="127000" rtlCol="0" anchor="t"/>
          <a:lstStyle/>
          <a:p>
            <a:pPr marL="0" indent="0">
              <a:buNone/>
            </a:pPr>
            <a:r>
              <a:rPr lang="en-US" sz="1100" b="1" dirty="0">
                <a:solidFill>
                  <a:schemeClr val="accent3"/>
                </a:solidFill>
              </a:rPr>
              <a:t>KEY TERM</a:t>
            </a:r>
            <a:endParaRPr lang="en-US" sz="1100" dirty="0"/>
          </a:p>
          <a:p>
            <a:pPr marL="0" indent="0">
              <a:spcAft>
                <a:spcPts val="400"/>
              </a:spcAft>
              <a:buNone/>
            </a:pPr>
            <a:r>
              <a:rPr lang="en-US" sz="1700" b="1" dirty="0">
                <a:solidFill>
                  <a:schemeClr val="tx2"/>
                </a:solidFill>
              </a:rPr>
              <a:t>[CLS] token</a:t>
            </a:r>
            <a:endParaRPr lang="en-US" sz="1100" dirty="0"/>
          </a:p>
          <a:p>
            <a:pPr marL="0" indent="0">
              <a:spcAft>
                <a:spcPts val="400"/>
              </a:spcAft>
              <a:buNone/>
            </a:pPr>
            <a:r>
              <a:rPr lang="en-US" sz="1500" dirty="0">
                <a:solidFill>
                  <a:schemeClr val="tx1"/>
                </a:solidFill>
              </a:rPr>
              <a:t>An extra learnable vector placed in front of the 196 patch vectors.</a:t>
            </a:r>
            <a:endParaRPr lang="en-US" sz="1100" dirty="0"/>
          </a:p>
          <a:p>
            <a:pPr marL="0" indent="0">
              <a:buNone/>
            </a:pPr>
            <a:r>
              <a:rPr lang="en-US" sz="1500" dirty="0">
                <a:solidFill>
                  <a:schemeClr val="tx1"/>
                </a:solidFill>
              </a:rPr>
              <a:t>After 12 blocks it has attended to every patch, so it acts as a summary of the whole image. The classifier reads only this vector.</a:t>
            </a:r>
            <a:endParaRPr lang="en-US" sz="11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100">
        <p14:prism/>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700"/>
                                        <p:tgtEl>
                                          <p:spTgt spid="6"/>
                                        </p:tgtEl>
                                      </p:cBhvr>
                                    </p:animEffect>
                                  </p:childTnLst>
                                </p:cTn>
                              </p:par>
                              <p:par>
                                <p:cTn id="14" presetID="2" presetClass="entr" presetSubtype="4"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600" fill="hold"/>
                                        <p:tgtEl>
                                          <p:spTgt spid="7"/>
                                        </p:tgtEl>
                                        <p:attrNameLst>
                                          <p:attrName>ppt_x</p:attrName>
                                        </p:attrNameLst>
                                      </p:cBhvr>
                                      <p:tavLst>
                                        <p:tav tm="0">
                                          <p:val>
                                            <p:strVal val="#ppt_x"/>
                                          </p:val>
                                        </p:tav>
                                        <p:tav tm="100000">
                                          <p:val>
                                            <p:strVal val="#ppt_x"/>
                                          </p:val>
                                        </p:tav>
                                      </p:tavLst>
                                    </p:anim>
                                    <p:anim calcmode="lin" valueType="num">
                                      <p:cBhvr additive="base">
                                        <p:cTn id="17" dur="6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700"/>
                                        <p:tgtEl>
                                          <p:spTgt spid="8"/>
                                        </p:tgtEl>
                                      </p:cBhvr>
                                    </p:animEffect>
                                  </p:childTnLst>
                                </p:cTn>
                              </p:par>
                              <p:par>
                                <p:cTn id="23" presetID="2" presetClass="entr" presetSubtype="4"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600" fill="hold"/>
                                        <p:tgtEl>
                                          <p:spTgt spid="9"/>
                                        </p:tgtEl>
                                        <p:attrNameLst>
                                          <p:attrName>ppt_x</p:attrName>
                                        </p:attrNameLst>
                                      </p:cBhvr>
                                      <p:tavLst>
                                        <p:tav tm="0">
                                          <p:val>
                                            <p:strVal val="#ppt_x"/>
                                          </p:val>
                                        </p:tav>
                                        <p:tav tm="100000">
                                          <p:val>
                                            <p:strVal val="#ppt_x"/>
                                          </p:val>
                                        </p:tav>
                                      </p:tavLst>
                                    </p:anim>
                                    <p:anim calcmode="lin" valueType="num">
                                      <p:cBhvr additive="base">
                                        <p:cTn id="26" dur="6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700"/>
                                        <p:tgtEl>
                                          <p:spTgt spid="10"/>
                                        </p:tgtEl>
                                      </p:cBhvr>
                                    </p:animEffect>
                                  </p:childTnLst>
                                </p:cTn>
                              </p:par>
                              <p:par>
                                <p:cTn id="32" presetID="2" presetClass="entr" presetSubtype="4" fill="hold" grpId="0" nodeType="withEffect">
                                  <p:stCondLst>
                                    <p:cond delay="30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600" fill="hold"/>
                                        <p:tgtEl>
                                          <p:spTgt spid="11"/>
                                        </p:tgtEl>
                                        <p:attrNameLst>
                                          <p:attrName>ppt_x</p:attrName>
                                        </p:attrNameLst>
                                      </p:cBhvr>
                                      <p:tavLst>
                                        <p:tav tm="0">
                                          <p:val>
                                            <p:strVal val="#ppt_x"/>
                                          </p:val>
                                        </p:tav>
                                        <p:tav tm="100000">
                                          <p:val>
                                            <p:strVal val="#ppt_x"/>
                                          </p:val>
                                        </p:tav>
                                      </p:tavLst>
                                    </p:anim>
                                    <p:anim calcmode="lin" valueType="num">
                                      <p:cBhvr additive="base">
                                        <p:cTn id="35" dur="6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700"/>
                                        <p:tgtEl>
                                          <p:spTgt spid="12"/>
                                        </p:tgtEl>
                                      </p:cBhvr>
                                    </p:animEffect>
                                  </p:childTnLst>
                                </p:cTn>
                              </p:par>
                              <p:par>
                                <p:cTn id="41" presetID="2" presetClass="entr" presetSubtype="4" fill="hold" grpId="0" nodeType="withEffect">
                                  <p:stCondLst>
                                    <p:cond delay="30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600" fill="hold"/>
                                        <p:tgtEl>
                                          <p:spTgt spid="13"/>
                                        </p:tgtEl>
                                        <p:attrNameLst>
                                          <p:attrName>ppt_x</p:attrName>
                                        </p:attrNameLst>
                                      </p:cBhvr>
                                      <p:tavLst>
                                        <p:tav tm="0">
                                          <p:val>
                                            <p:strVal val="#ppt_x"/>
                                          </p:val>
                                        </p:tav>
                                        <p:tav tm="100000">
                                          <p:val>
                                            <p:strVal val="#ppt_x"/>
                                          </p:val>
                                        </p:tav>
                                      </p:tavLst>
                                    </p:anim>
                                    <p:anim calcmode="lin" valueType="num">
                                      <p:cBhvr additive="base">
                                        <p:cTn id="44" dur="6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600" fill="hold"/>
                                        <p:tgtEl>
                                          <p:spTgt spid="14"/>
                                        </p:tgtEl>
                                        <p:attrNameLst>
                                          <p:attrName>ppt_x</p:attrName>
                                        </p:attrNameLst>
                                      </p:cBhvr>
                                      <p:tavLst>
                                        <p:tav tm="0">
                                          <p:val>
                                            <p:strVal val="#ppt_x"/>
                                          </p:val>
                                        </p:tav>
                                        <p:tav tm="100000">
                                          <p:val>
                                            <p:strVal val="#ppt_x"/>
                                          </p:val>
                                        </p:tav>
                                      </p:tavLst>
                                    </p:anim>
                                    <p:anim calcmode="lin" valueType="num">
                                      <p:cBhvr additive="base">
                                        <p:cTn id="50" dur="6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600" fill="hold"/>
                                        <p:tgtEl>
                                          <p:spTgt spid="15"/>
                                        </p:tgtEl>
                                        <p:attrNameLst>
                                          <p:attrName>ppt_x</p:attrName>
                                        </p:attrNameLst>
                                      </p:cBhvr>
                                      <p:tavLst>
                                        <p:tav tm="0">
                                          <p:val>
                                            <p:strVal val="#ppt_x"/>
                                          </p:val>
                                        </p:tav>
                                        <p:tav tm="100000">
                                          <p:val>
                                            <p:strVal val="#ppt_x"/>
                                          </p:val>
                                        </p:tav>
                                      </p:tavLst>
                                    </p:anim>
                                    <p:anim calcmode="lin" valueType="num">
                                      <p:cBhvr additive="base">
                                        <p:cTn id="56" dur="6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6">
                                            <p:txEl>
                                              <p:charRg st="4294967295" end="4294967295"/>
                                            </p:txEl>
                                          </p:spTgt>
                                        </p:tgtEl>
                                        <p:attrNameLst>
                                          <p:attrName>style.visibility</p:attrName>
                                        </p:attrNameLst>
                                      </p:cBhvr>
                                      <p:to>
                                        <p:strVal val="visible"/>
                                      </p:to>
                                    </p:set>
                                    <p:anim calcmode="lin" valueType="num">
                                      <p:cBhvr additive="base">
                                        <p:cTn id="61" dur="600" fill="hold"/>
                                        <p:tgtEl>
                                          <p:spTgt spid="16">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62" dur="600" fill="hold"/>
                                        <p:tgtEl>
                                          <p:spTgt spid="16">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MODEL INTERNALS  |  2 OF 2</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Three models, three ways of learning</a:t>
            </a:r>
            <a:endParaRPr lang="en-US" sz="3600" dirty="0"/>
          </a:p>
        </p:txBody>
      </p:sp>
      <p:sp>
        <p:nvSpPr>
          <p:cNvPr id="5" name="m_0"/>
          <p:cNvSpPr txBox="1"/>
          <p:nvPr/>
        </p:nvSpPr>
        <p:spPr>
          <a:xfrm>
            <a:off x="548640" y="1508760"/>
            <a:ext cx="3520440" cy="393192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buNone/>
            </a:pPr>
            <a:r>
              <a:rPr lang="en-US" sz="2000" b="1" dirty="0">
                <a:solidFill>
                  <a:schemeClr val="tx2"/>
                </a:solidFill>
              </a:rPr>
              <a:t>ViT-Base/16</a:t>
            </a:r>
            <a:endParaRPr lang="en-US" sz="2000" dirty="0"/>
          </a:p>
          <a:p>
            <a:pPr marL="0" indent="0" algn="l">
              <a:spcAft>
                <a:spcPts val="600"/>
              </a:spcAft>
              <a:buNone/>
            </a:pPr>
            <a:r>
              <a:rPr lang="en-US" sz="1300" b="1" dirty="0">
                <a:solidFill>
                  <a:schemeClr val="accent3"/>
                </a:solidFill>
              </a:rPr>
              <a:t>supervised</a:t>
            </a:r>
            <a:endParaRPr lang="en-US" sz="2000" dirty="0"/>
          </a:p>
          <a:p>
            <a:pPr marL="0" indent="0" algn="l">
              <a:spcAft>
                <a:spcPts val="100"/>
              </a:spcAft>
              <a:buNone/>
            </a:pPr>
            <a:r>
              <a:rPr lang="en-US" sz="1400" b="1" dirty="0">
                <a:solidFill>
                  <a:schemeClr val="accent1"/>
                </a:solidFill>
              </a:rPr>
              <a:t>Learns from</a:t>
            </a:r>
            <a:endParaRPr lang="en-US" sz="2000" dirty="0"/>
          </a:p>
          <a:p>
            <a:pPr marL="0" indent="0" algn="l">
              <a:spcAft>
                <a:spcPts val="600"/>
              </a:spcAft>
              <a:buNone/>
            </a:pPr>
            <a:r>
              <a:rPr lang="en-US" sz="1400" dirty="0">
                <a:solidFill>
                  <a:schemeClr val="tx1"/>
                </a:solidFill>
              </a:rPr>
              <a:t>Labelled images: ImageNet-21k, then ImageNet-1k.</a:t>
            </a:r>
            <a:endParaRPr lang="en-US" sz="2000" dirty="0"/>
          </a:p>
          <a:p>
            <a:pPr marL="0" indent="0" algn="l">
              <a:spcAft>
                <a:spcPts val="100"/>
              </a:spcAft>
              <a:buNone/>
            </a:pPr>
            <a:r>
              <a:rPr lang="en-US" sz="1400" b="1" dirty="0">
                <a:solidFill>
                  <a:schemeClr val="accent1"/>
                </a:solidFill>
              </a:rPr>
              <a:t>Attention</a:t>
            </a:r>
            <a:endParaRPr lang="en-US" sz="2000" dirty="0"/>
          </a:p>
          <a:p>
            <a:pPr marL="0" indent="0" algn="l">
              <a:spcAft>
                <a:spcPts val="600"/>
              </a:spcAft>
              <a:buNone/>
            </a:pPr>
            <a:r>
              <a:rPr lang="en-US" sz="1400" dirty="0">
                <a:solidFill>
                  <a:schemeClr val="tx1"/>
                </a:solidFill>
              </a:rPr>
              <a:t>Plain global self-attention in all 12 blocks.</a:t>
            </a:r>
            <a:endParaRPr lang="en-US" sz="2000" dirty="0"/>
          </a:p>
          <a:p>
            <a:pPr marL="0" indent="0" algn="l">
              <a:spcAft>
                <a:spcPts val="100"/>
              </a:spcAft>
              <a:buNone/>
            </a:pPr>
            <a:r>
              <a:rPr lang="en-US" sz="1400" b="1" dirty="0">
                <a:solidFill>
                  <a:schemeClr val="accent1"/>
                </a:solidFill>
              </a:rPr>
              <a:t>Used here</a:t>
            </a:r>
            <a:endParaRPr lang="en-US" sz="2000" dirty="0"/>
          </a:p>
          <a:p>
            <a:pPr marL="0" indent="0" algn="l">
              <a:spcAft>
                <a:spcPts val="600"/>
              </a:spcAft>
              <a:buNone/>
            </a:pPr>
            <a:r>
              <a:rPr lang="en-US" sz="1400" dirty="0">
                <a:solidFill>
                  <a:schemeClr val="tx1"/>
                </a:solidFill>
              </a:rPr>
              <a:t>vit_base_patch16_224.augreg_in21k_ft_in1k, about 86M parameters.</a:t>
            </a:r>
            <a:endParaRPr lang="en-US" sz="2000" dirty="0"/>
          </a:p>
        </p:txBody>
      </p:sp>
      <p:sp>
        <p:nvSpPr>
          <p:cNvPr id="6" name="mt_0"/>
          <p:cNvSpPr txBox="1"/>
          <p:nvPr/>
        </p:nvSpPr>
        <p:spPr>
          <a:xfrm>
            <a:off x="548640" y="5577840"/>
            <a:ext cx="3520440" cy="731520"/>
          </a:xfrm>
          <a:prstGeom prst="roundRect">
            <a:avLst>
              <a:gd name="adj" fmla="val 10000"/>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14300" tIns="114300" rIns="114300" bIns="114300" rtlCol="0" anchor="ctr"/>
          <a:lstStyle/>
          <a:p>
            <a:pPr marL="0" indent="0">
              <a:buNone/>
            </a:pPr>
            <a:r>
              <a:rPr lang="en-US" sz="1100" b="1" dirty="0">
                <a:solidFill>
                  <a:schemeClr val="accent3"/>
                </a:solidFill>
              </a:rPr>
              <a:t>KEY TERM  </a:t>
            </a:r>
            <a:r>
              <a:rPr lang="en-US" sz="1300" b="1" dirty="0">
                <a:solidFill>
                  <a:schemeClr val="tx2"/>
                </a:solidFill>
              </a:rPr>
              <a:t>Supervised learning  </a:t>
            </a:r>
            <a:r>
              <a:rPr lang="en-US" sz="1300" dirty="0">
                <a:solidFill>
                  <a:schemeClr val="tx1"/>
                </a:solidFill>
              </a:rPr>
              <a:t>the training signal is a human-given label for every image.</a:t>
            </a:r>
            <a:endParaRPr lang="en-US" sz="1100" dirty="0"/>
          </a:p>
        </p:txBody>
      </p:sp>
      <p:sp>
        <p:nvSpPr>
          <p:cNvPr id="7" name="m_1"/>
          <p:cNvSpPr txBox="1"/>
          <p:nvPr/>
        </p:nvSpPr>
        <p:spPr>
          <a:xfrm>
            <a:off x="4334256" y="1508760"/>
            <a:ext cx="3520440" cy="393192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buNone/>
            </a:pPr>
            <a:r>
              <a:rPr lang="en-US" sz="2000" b="1" dirty="0">
                <a:solidFill>
                  <a:schemeClr val="tx2"/>
                </a:solidFill>
              </a:rPr>
              <a:t>ConViT-Tiny</a:t>
            </a:r>
            <a:endParaRPr lang="en-US" sz="2000" dirty="0"/>
          </a:p>
          <a:p>
            <a:pPr marL="0" indent="0" algn="l">
              <a:spcAft>
                <a:spcPts val="600"/>
              </a:spcAft>
              <a:buNone/>
            </a:pPr>
            <a:r>
              <a:rPr lang="en-US" sz="1300" b="1" dirty="0">
                <a:solidFill>
                  <a:schemeClr val="accent3"/>
                </a:solidFill>
              </a:rPr>
              <a:t>supervised + locality</a:t>
            </a:r>
            <a:endParaRPr lang="en-US" sz="2000" dirty="0"/>
          </a:p>
          <a:p>
            <a:pPr marL="0" indent="0" algn="l">
              <a:spcAft>
                <a:spcPts val="100"/>
              </a:spcAft>
              <a:buNone/>
            </a:pPr>
            <a:r>
              <a:rPr lang="en-US" sz="1400" b="1" dirty="0">
                <a:solidFill>
                  <a:schemeClr val="accent1"/>
                </a:solidFill>
              </a:rPr>
              <a:t>Learns from</a:t>
            </a:r>
            <a:endParaRPr lang="en-US" sz="2000" dirty="0"/>
          </a:p>
          <a:p>
            <a:pPr marL="0" indent="0" algn="l">
              <a:spcAft>
                <a:spcPts val="600"/>
              </a:spcAft>
              <a:buNone/>
            </a:pPr>
            <a:r>
              <a:rPr lang="en-US" sz="1400" dirty="0">
                <a:solidFill>
                  <a:schemeClr val="tx1"/>
                </a:solidFill>
              </a:rPr>
              <a:t>Labelled ImageNet-1k images.</a:t>
            </a:r>
            <a:endParaRPr lang="en-US" sz="2000" dirty="0"/>
          </a:p>
          <a:p>
            <a:pPr marL="0" indent="0" algn="l">
              <a:spcAft>
                <a:spcPts val="100"/>
              </a:spcAft>
              <a:buNone/>
            </a:pPr>
            <a:r>
              <a:rPr lang="en-US" sz="1400" b="1" dirty="0">
                <a:solidFill>
                  <a:schemeClr val="accent1"/>
                </a:solidFill>
              </a:rPr>
              <a:t>Attention</a:t>
            </a:r>
            <a:endParaRPr lang="en-US" sz="2000" dirty="0"/>
          </a:p>
          <a:p>
            <a:pPr marL="0" indent="0" algn="l">
              <a:spcAft>
                <a:spcPts val="600"/>
              </a:spcAft>
              <a:buNone/>
            </a:pPr>
            <a:r>
              <a:rPr lang="en-US" sz="1400" dirty="0">
                <a:solidFill>
                  <a:schemeClr val="tx1"/>
                </a:solidFill>
              </a:rPr>
              <a:t>Gated positional self-attention in the early layers: each head mixes content attention with a convolution-like position pattern, and a learned gate sets how much locality to keep.</a:t>
            </a:r>
            <a:endParaRPr lang="en-US" sz="2000" dirty="0"/>
          </a:p>
          <a:p>
            <a:pPr marL="0" indent="0" algn="l">
              <a:spcAft>
                <a:spcPts val="100"/>
              </a:spcAft>
              <a:buNone/>
            </a:pPr>
            <a:r>
              <a:rPr lang="en-US" sz="1400" b="1" dirty="0">
                <a:solidFill>
                  <a:schemeClr val="accent1"/>
                </a:solidFill>
              </a:rPr>
              <a:t>Used here</a:t>
            </a:r>
            <a:endParaRPr lang="en-US" sz="2000" dirty="0"/>
          </a:p>
          <a:p>
            <a:pPr marL="0" indent="0" algn="l">
              <a:spcAft>
                <a:spcPts val="600"/>
              </a:spcAft>
              <a:buNone/>
            </a:pPr>
            <a:r>
              <a:rPr lang="en-US" sz="1400" dirty="0">
                <a:solidFill>
                  <a:schemeClr val="tx1"/>
                </a:solidFill>
              </a:rPr>
              <a:t>convit_tiny.fb_in1k, about 6M parameters, the smallest of the three.</a:t>
            </a:r>
            <a:endParaRPr lang="en-US" sz="2000" dirty="0"/>
          </a:p>
        </p:txBody>
      </p:sp>
      <p:sp>
        <p:nvSpPr>
          <p:cNvPr id="8" name="mt_1"/>
          <p:cNvSpPr txBox="1"/>
          <p:nvPr/>
        </p:nvSpPr>
        <p:spPr>
          <a:xfrm>
            <a:off x="4334256" y="5577840"/>
            <a:ext cx="3520440" cy="731520"/>
          </a:xfrm>
          <a:prstGeom prst="roundRect">
            <a:avLst>
              <a:gd name="adj" fmla="val 10000"/>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14300" tIns="114300" rIns="114300" bIns="114300" rtlCol="0" anchor="ctr"/>
          <a:lstStyle/>
          <a:p>
            <a:pPr marL="0" indent="0">
              <a:buNone/>
            </a:pPr>
            <a:r>
              <a:rPr lang="en-US" sz="1100" b="1" dirty="0">
                <a:solidFill>
                  <a:schemeClr val="accent3"/>
                </a:solidFill>
              </a:rPr>
              <a:t>KEY TERM  </a:t>
            </a:r>
            <a:r>
              <a:rPr lang="en-US" sz="1300" b="1" dirty="0">
                <a:solidFill>
                  <a:schemeClr val="tx2"/>
                </a:solidFill>
              </a:rPr>
              <a:t>Gated attention  </a:t>
            </a:r>
            <a:r>
              <a:rPr lang="en-US" sz="1300" dirty="0">
                <a:solidFill>
                  <a:schemeClr val="tx1"/>
                </a:solidFill>
              </a:rPr>
              <a:t>a learned gate per head blends convolution-like and content-based attention.</a:t>
            </a:r>
            <a:endParaRPr lang="en-US" sz="1100" dirty="0"/>
          </a:p>
        </p:txBody>
      </p:sp>
      <p:sp>
        <p:nvSpPr>
          <p:cNvPr id="9" name="m_2"/>
          <p:cNvSpPr txBox="1"/>
          <p:nvPr/>
        </p:nvSpPr>
        <p:spPr>
          <a:xfrm>
            <a:off x="8119872" y="1508760"/>
            <a:ext cx="3520440" cy="393192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buNone/>
            </a:pPr>
            <a:r>
              <a:rPr lang="en-US" sz="2000" b="1" dirty="0">
                <a:solidFill>
                  <a:schemeClr val="tx2"/>
                </a:solidFill>
              </a:rPr>
              <a:t>DINOv2-Base/14</a:t>
            </a:r>
            <a:endParaRPr lang="en-US" sz="2000" dirty="0"/>
          </a:p>
          <a:p>
            <a:pPr marL="0" indent="0" algn="l">
              <a:spcAft>
                <a:spcPts val="600"/>
              </a:spcAft>
              <a:buNone/>
            </a:pPr>
            <a:r>
              <a:rPr lang="en-US" sz="1300" b="1" dirty="0">
                <a:solidFill>
                  <a:schemeClr val="accent3"/>
                </a:solidFill>
              </a:rPr>
              <a:t>self-supervised</a:t>
            </a:r>
            <a:endParaRPr lang="en-US" sz="2000" dirty="0"/>
          </a:p>
          <a:p>
            <a:pPr marL="0" indent="0" algn="l">
              <a:spcAft>
                <a:spcPts val="100"/>
              </a:spcAft>
              <a:buNone/>
            </a:pPr>
            <a:r>
              <a:rPr lang="en-US" sz="1400" b="1" dirty="0">
                <a:solidFill>
                  <a:schemeClr val="accent1"/>
                </a:solidFill>
              </a:rPr>
              <a:t>Learns from</a:t>
            </a:r>
            <a:endParaRPr lang="en-US" sz="2000" dirty="0"/>
          </a:p>
          <a:p>
            <a:pPr marL="0" indent="0" algn="l">
              <a:spcAft>
                <a:spcPts val="600"/>
              </a:spcAft>
              <a:buNone/>
            </a:pPr>
            <a:r>
              <a:rPr lang="en-US" sz="1400" dirty="0">
                <a:solidFill>
                  <a:schemeClr val="tx1"/>
                </a:solidFill>
              </a:rPr>
              <a:t>No labels. A student is trained to match a teacher on different crops of the same image. 142M curated images (LVD-142M).</a:t>
            </a:r>
            <a:endParaRPr lang="en-US" sz="2000" dirty="0"/>
          </a:p>
          <a:p>
            <a:pPr marL="0" indent="0" algn="l">
              <a:spcAft>
                <a:spcPts val="100"/>
              </a:spcAft>
              <a:buNone/>
            </a:pPr>
            <a:r>
              <a:rPr lang="en-US" sz="1400" b="1" dirty="0">
                <a:solidFill>
                  <a:schemeClr val="accent1"/>
                </a:solidFill>
              </a:rPr>
              <a:t>Attention</a:t>
            </a:r>
            <a:endParaRPr lang="en-US" sz="2000" dirty="0"/>
          </a:p>
          <a:p>
            <a:pPr marL="0" indent="0" algn="l">
              <a:spcAft>
                <a:spcPts val="600"/>
              </a:spcAft>
              <a:buNone/>
            </a:pPr>
            <a:r>
              <a:rPr lang="en-US" sz="1400" dirty="0">
                <a:solidFill>
                  <a:schemeClr val="tx1"/>
                </a:solidFill>
              </a:rPr>
              <a:t>Global self-attention on 14 × 14-pixel patches.</a:t>
            </a:r>
            <a:endParaRPr lang="en-US" sz="2000" dirty="0"/>
          </a:p>
          <a:p>
            <a:pPr marL="0" indent="0" algn="l">
              <a:spcAft>
                <a:spcPts val="100"/>
              </a:spcAft>
              <a:buNone/>
            </a:pPr>
            <a:r>
              <a:rPr lang="en-US" sz="1400" b="1" dirty="0">
                <a:solidFill>
                  <a:schemeClr val="accent1"/>
                </a:solidFill>
              </a:rPr>
              <a:t>Used here</a:t>
            </a:r>
            <a:endParaRPr lang="en-US" sz="2000" dirty="0"/>
          </a:p>
          <a:p>
            <a:pPr marL="0" indent="0" algn="l">
              <a:spcAft>
                <a:spcPts val="600"/>
              </a:spcAft>
              <a:buNone/>
            </a:pPr>
            <a:r>
              <a:rPr lang="en-US" sz="1400" dirty="0">
                <a:solidFill>
                  <a:schemeClr val="tx1"/>
                </a:solidFill>
              </a:rPr>
              <a:t>vit_base_patch14_dinov2.lvd142m, about 86M parameters.</a:t>
            </a:r>
            <a:endParaRPr lang="en-US" sz="2000" dirty="0"/>
          </a:p>
        </p:txBody>
      </p:sp>
      <p:sp>
        <p:nvSpPr>
          <p:cNvPr id="10" name="mt_2"/>
          <p:cNvSpPr txBox="1"/>
          <p:nvPr/>
        </p:nvSpPr>
        <p:spPr>
          <a:xfrm>
            <a:off x="8119872" y="5577840"/>
            <a:ext cx="3520440" cy="731520"/>
          </a:xfrm>
          <a:prstGeom prst="roundRect">
            <a:avLst>
              <a:gd name="adj" fmla="val 10000"/>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14300" tIns="114300" rIns="114300" bIns="114300" rtlCol="0" anchor="ctr"/>
          <a:lstStyle/>
          <a:p>
            <a:pPr marL="0" indent="0">
              <a:buNone/>
            </a:pPr>
            <a:r>
              <a:rPr lang="en-US" sz="1100" b="1" dirty="0">
                <a:solidFill>
                  <a:schemeClr val="accent3"/>
                </a:solidFill>
              </a:rPr>
              <a:t>KEY TERM  </a:t>
            </a:r>
            <a:r>
              <a:rPr lang="en-US" sz="1300" b="1" dirty="0">
                <a:solidFill>
                  <a:schemeClr val="tx2"/>
                </a:solidFill>
              </a:rPr>
              <a:t>Self-distillation  </a:t>
            </a:r>
            <a:r>
              <a:rPr lang="en-US" sz="1300" dirty="0">
                <a:solidFill>
                  <a:schemeClr val="tx1"/>
                </a:solidFill>
              </a:rPr>
              <a:t>a student copies a slowly updated teacher version of itself; no labels needed.</a:t>
            </a:r>
            <a:endParaRPr lang="en-US" sz="11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600" fill="hold"/>
                                        <p:tgtEl>
                                          <p:spTgt spid="6"/>
                                        </p:tgtEl>
                                        <p:attrNameLst>
                                          <p:attrName>ppt_x</p:attrName>
                                        </p:attrNameLst>
                                      </p:cBhvr>
                                      <p:tavLst>
                                        <p:tav tm="0">
                                          <p:val>
                                            <p:strVal val="#ppt_x"/>
                                          </p:val>
                                        </p:tav>
                                        <p:tav tm="100000">
                                          <p:val>
                                            <p:strVal val="#ppt_x"/>
                                          </p:val>
                                        </p:tav>
                                      </p:tavLst>
                                    </p:anim>
                                    <p:anim calcmode="lin" valueType="num">
                                      <p:cBhvr additive="base">
                                        <p:cTn id="12" dur="6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600" fill="hold"/>
                                        <p:tgtEl>
                                          <p:spTgt spid="7"/>
                                        </p:tgtEl>
                                        <p:attrNameLst>
                                          <p:attrName>ppt_x</p:attrName>
                                        </p:attrNameLst>
                                      </p:cBhvr>
                                      <p:tavLst>
                                        <p:tav tm="0">
                                          <p:val>
                                            <p:strVal val="#ppt_x"/>
                                          </p:val>
                                        </p:tav>
                                        <p:tav tm="100000">
                                          <p:val>
                                            <p:strVal val="#ppt_x"/>
                                          </p:val>
                                        </p:tav>
                                      </p:tavLst>
                                    </p:anim>
                                    <p:anim calcmode="lin" valueType="num">
                                      <p:cBhvr additive="base">
                                        <p:cTn id="18" dur="6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50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600" fill="hold"/>
                                        <p:tgtEl>
                                          <p:spTgt spid="8"/>
                                        </p:tgtEl>
                                        <p:attrNameLst>
                                          <p:attrName>ppt_x</p:attrName>
                                        </p:attrNameLst>
                                      </p:cBhvr>
                                      <p:tavLst>
                                        <p:tav tm="0">
                                          <p:val>
                                            <p:strVal val="#ppt_x"/>
                                          </p:val>
                                        </p:tav>
                                        <p:tav tm="100000">
                                          <p:val>
                                            <p:strVal val="#ppt_x"/>
                                          </p:val>
                                        </p:tav>
                                      </p:tavLst>
                                    </p:anim>
                                    <p:anim calcmode="lin" valueType="num">
                                      <p:cBhvr additive="base">
                                        <p:cTn id="22" dur="6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fill="hold"/>
                                        <p:tgtEl>
                                          <p:spTgt spid="9"/>
                                        </p:tgtEl>
                                        <p:attrNameLst>
                                          <p:attrName>ppt_x</p:attrName>
                                        </p:attrNameLst>
                                      </p:cBhvr>
                                      <p:tavLst>
                                        <p:tav tm="0">
                                          <p:val>
                                            <p:strVal val="#ppt_x"/>
                                          </p:val>
                                        </p:tav>
                                        <p:tav tm="100000">
                                          <p:val>
                                            <p:strVal val="#ppt_x"/>
                                          </p:val>
                                        </p:tav>
                                      </p:tavLst>
                                    </p:anim>
                                    <p:anim calcmode="lin" valueType="num">
                                      <p:cBhvr additive="base">
                                        <p:cTn id="28" dur="6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600" fill="hold"/>
                                        <p:tgtEl>
                                          <p:spTgt spid="10"/>
                                        </p:tgtEl>
                                        <p:attrNameLst>
                                          <p:attrName>ppt_x</p:attrName>
                                        </p:attrNameLst>
                                      </p:cBhvr>
                                      <p:tavLst>
                                        <p:tav tm="0">
                                          <p:val>
                                            <p:strVal val="#ppt_x"/>
                                          </p:val>
                                        </p:tav>
                                        <p:tav tm="100000">
                                          <p:val>
                                            <p:strVal val="#ppt_x"/>
                                          </p:val>
                                        </p:tav>
                                      </p:tavLst>
                                    </p:anim>
                                    <p:anim calcmode="lin" valueType="num">
                                      <p:cBhvr additive="base">
                                        <p:cTn id="32" dur="6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EXPERIMENTAL SETUP</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Data, split and the rule for choosing</a:t>
            </a:r>
            <a:endParaRPr lang="en-US" sz="3600" dirty="0"/>
          </a:p>
        </p:txBody>
      </p:sp>
      <p:sp>
        <p:nvSpPr>
          <p:cNvPr id="5" name="panel_0.6_1.65"/>
          <p:cNvSpPr/>
          <p:nvPr/>
        </p:nvSpPr>
        <p:spPr>
          <a:xfrm>
            <a:off x="548640" y="1508760"/>
            <a:ext cx="5577840" cy="4754880"/>
          </a:xfrm>
          <a:prstGeom prst="roundRect">
            <a:avLst>
              <a:gd name="adj" fmla="val 1538"/>
            </a:avLst>
          </a:prstGeom>
          <a:solidFill>
            <a:schemeClr val="bg2"/>
          </a:solidFill>
          <a:ln/>
        </p:spPr>
        <p:txBody>
          <a:bodyPr/>
          <a:lstStyle/>
          <a:p>
            <a:endParaRPr lang="en-US"/>
          </a:p>
        </p:txBody>
      </p:sp>
      <p:sp>
        <p:nvSpPr>
          <p:cNvPr id="6" name="su_t1"/>
          <p:cNvSpPr txBox="1"/>
          <p:nvPr/>
        </p:nvSpPr>
        <p:spPr>
          <a:xfrm>
            <a:off x="777240" y="1645920"/>
            <a:ext cx="5120640" cy="365760"/>
          </a:xfrm>
          <a:prstGeom prst="rect">
            <a:avLst/>
          </a:prstGeom>
          <a:noFill/>
          <a:ln/>
        </p:spPr>
        <p:txBody>
          <a:bodyPr wrap="square" lIns="0" tIns="0" rIns="0" bIns="0" rtlCol="0" anchor="ctr"/>
          <a:lstStyle/>
          <a:p>
            <a:pPr marL="0" indent="0" algn="l">
              <a:buNone/>
            </a:pPr>
            <a:r>
              <a:rPr lang="en-US" sz="1600" b="1" dirty="0">
                <a:solidFill>
                  <a:schemeClr val="tx2"/>
                </a:solidFill>
              </a:rPr>
              <a:t>Class distribution (3,463 images)</a:t>
            </a:r>
            <a:endParaRPr lang="en-US" sz="1600" dirty="0"/>
          </a:p>
        </p:txBody>
      </p:sp>
      <p:sp>
        <p:nvSpPr>
          <p:cNvPr id="7" name="su_l0"/>
          <p:cNvSpPr txBox="1"/>
          <p:nvPr/>
        </p:nvSpPr>
        <p:spPr>
          <a:xfrm>
            <a:off x="777240" y="2194560"/>
            <a:ext cx="1737360" cy="457200"/>
          </a:xfrm>
          <a:prstGeom prst="rect">
            <a:avLst/>
          </a:prstGeom>
          <a:noFill/>
          <a:ln/>
        </p:spPr>
        <p:txBody>
          <a:bodyPr wrap="square" lIns="0" tIns="0" rIns="0" bIns="0" rtlCol="0" anchor="ctr"/>
          <a:lstStyle/>
          <a:p>
            <a:pPr marL="0" indent="0" algn="l">
              <a:buNone/>
            </a:pPr>
            <a:r>
              <a:rPr lang="en-US" sz="1400" dirty="0">
                <a:solidFill>
                  <a:schemeClr val="tx1"/>
                </a:solidFill>
              </a:rPr>
              <a:t>Little or no damage</a:t>
            </a:r>
            <a:endParaRPr lang="en-US" sz="1400" dirty="0"/>
          </a:p>
        </p:txBody>
      </p:sp>
      <p:sp>
        <p:nvSpPr>
          <p:cNvPr id="8" name="su_b0"/>
          <p:cNvSpPr/>
          <p:nvPr/>
        </p:nvSpPr>
        <p:spPr>
          <a:xfrm>
            <a:off x="2560320" y="2240280"/>
            <a:ext cx="2377440" cy="365760"/>
          </a:xfrm>
          <a:prstGeom prst="rect">
            <a:avLst/>
          </a:prstGeom>
          <a:solidFill>
            <a:schemeClr val="accent5"/>
          </a:solidFill>
          <a:ln/>
        </p:spPr>
        <p:txBody>
          <a:bodyPr/>
          <a:lstStyle/>
          <a:p>
            <a:endParaRPr lang="en-US"/>
          </a:p>
        </p:txBody>
      </p:sp>
      <p:sp>
        <p:nvSpPr>
          <p:cNvPr id="9" name="su_v0"/>
          <p:cNvSpPr txBox="1"/>
          <p:nvPr/>
        </p:nvSpPr>
        <p:spPr>
          <a:xfrm>
            <a:off x="5029200" y="2194560"/>
            <a:ext cx="1737360" cy="457200"/>
          </a:xfrm>
          <a:prstGeom prst="rect">
            <a:avLst/>
          </a:prstGeom>
          <a:noFill/>
          <a:ln/>
        </p:spPr>
        <p:txBody>
          <a:bodyPr wrap="square" lIns="0" tIns="0" rIns="0" bIns="0" rtlCol="0" anchor="ctr"/>
          <a:lstStyle/>
          <a:p>
            <a:pPr marL="0" indent="0" algn="l">
              <a:buNone/>
            </a:pPr>
            <a:r>
              <a:rPr lang="en-US" sz="1400" b="1" dirty="0">
                <a:solidFill>
                  <a:schemeClr val="tx1"/>
                </a:solidFill>
              </a:rPr>
              <a:t>2,166  (62.5%)</a:t>
            </a:r>
            <a:endParaRPr lang="en-US" sz="1400" dirty="0"/>
          </a:p>
        </p:txBody>
      </p:sp>
      <p:sp>
        <p:nvSpPr>
          <p:cNvPr id="10" name="su_l1"/>
          <p:cNvSpPr txBox="1"/>
          <p:nvPr/>
        </p:nvSpPr>
        <p:spPr>
          <a:xfrm>
            <a:off x="777240" y="2834640"/>
            <a:ext cx="1737360" cy="457200"/>
          </a:xfrm>
          <a:prstGeom prst="rect">
            <a:avLst/>
          </a:prstGeom>
          <a:noFill/>
          <a:ln/>
        </p:spPr>
        <p:txBody>
          <a:bodyPr wrap="square" lIns="0" tIns="0" rIns="0" bIns="0" rtlCol="0" anchor="ctr"/>
          <a:lstStyle/>
          <a:p>
            <a:pPr marL="0" indent="0" algn="l">
              <a:buNone/>
            </a:pPr>
            <a:r>
              <a:rPr lang="en-US" sz="1400" dirty="0">
                <a:solidFill>
                  <a:schemeClr val="tx1"/>
                </a:solidFill>
              </a:rPr>
              <a:t>Mild damage</a:t>
            </a:r>
            <a:endParaRPr lang="en-US" sz="1400" dirty="0"/>
          </a:p>
        </p:txBody>
      </p:sp>
      <p:sp>
        <p:nvSpPr>
          <p:cNvPr id="11" name="su_b1"/>
          <p:cNvSpPr/>
          <p:nvPr/>
        </p:nvSpPr>
        <p:spPr>
          <a:xfrm>
            <a:off x="2560320" y="2880360"/>
            <a:ext cx="903339" cy="365760"/>
          </a:xfrm>
          <a:prstGeom prst="rect">
            <a:avLst/>
          </a:prstGeom>
          <a:solidFill>
            <a:schemeClr val="accent1"/>
          </a:solidFill>
          <a:ln/>
        </p:spPr>
        <p:txBody>
          <a:bodyPr/>
          <a:lstStyle/>
          <a:p>
            <a:endParaRPr lang="en-US"/>
          </a:p>
        </p:txBody>
      </p:sp>
      <p:sp>
        <p:nvSpPr>
          <p:cNvPr id="12" name="su_v1"/>
          <p:cNvSpPr txBox="1"/>
          <p:nvPr/>
        </p:nvSpPr>
        <p:spPr>
          <a:xfrm>
            <a:off x="3555099" y="2834640"/>
            <a:ext cx="1737360" cy="457200"/>
          </a:xfrm>
          <a:prstGeom prst="rect">
            <a:avLst/>
          </a:prstGeom>
          <a:noFill/>
          <a:ln/>
        </p:spPr>
        <p:txBody>
          <a:bodyPr wrap="square" lIns="0" tIns="0" rIns="0" bIns="0" rtlCol="0" anchor="ctr"/>
          <a:lstStyle/>
          <a:p>
            <a:pPr marL="0" indent="0" algn="l">
              <a:buNone/>
            </a:pPr>
            <a:r>
              <a:rPr lang="en-US" sz="1400" b="1" dirty="0">
                <a:solidFill>
                  <a:schemeClr val="tx1"/>
                </a:solidFill>
              </a:rPr>
              <a:t>823  (23.8%)</a:t>
            </a:r>
            <a:endParaRPr lang="en-US" sz="1400" dirty="0"/>
          </a:p>
        </p:txBody>
      </p:sp>
      <p:sp>
        <p:nvSpPr>
          <p:cNvPr id="13" name="su_l2"/>
          <p:cNvSpPr txBox="1"/>
          <p:nvPr/>
        </p:nvSpPr>
        <p:spPr>
          <a:xfrm>
            <a:off x="777240" y="3474720"/>
            <a:ext cx="1737360" cy="457200"/>
          </a:xfrm>
          <a:prstGeom prst="rect">
            <a:avLst/>
          </a:prstGeom>
          <a:noFill/>
          <a:ln/>
        </p:spPr>
        <p:txBody>
          <a:bodyPr wrap="square" lIns="0" tIns="0" rIns="0" bIns="0" rtlCol="0" anchor="ctr"/>
          <a:lstStyle/>
          <a:p>
            <a:pPr marL="0" indent="0" algn="l">
              <a:buNone/>
            </a:pPr>
            <a:r>
              <a:rPr lang="en-US" sz="1400" dirty="0">
                <a:solidFill>
                  <a:schemeClr val="tx1"/>
                </a:solidFill>
              </a:rPr>
              <a:t>Severe damage</a:t>
            </a:r>
            <a:endParaRPr lang="en-US" sz="1400" dirty="0"/>
          </a:p>
        </p:txBody>
      </p:sp>
      <p:sp>
        <p:nvSpPr>
          <p:cNvPr id="14" name="su_b2"/>
          <p:cNvSpPr/>
          <p:nvPr/>
        </p:nvSpPr>
        <p:spPr>
          <a:xfrm>
            <a:off x="2560320" y="3520440"/>
            <a:ext cx="520271" cy="365760"/>
          </a:xfrm>
          <a:prstGeom prst="rect">
            <a:avLst/>
          </a:prstGeom>
          <a:solidFill>
            <a:schemeClr val="accent6"/>
          </a:solidFill>
          <a:ln/>
        </p:spPr>
        <p:txBody>
          <a:bodyPr/>
          <a:lstStyle/>
          <a:p>
            <a:endParaRPr lang="en-US"/>
          </a:p>
        </p:txBody>
      </p:sp>
      <p:sp>
        <p:nvSpPr>
          <p:cNvPr id="15" name="su_v2"/>
          <p:cNvSpPr txBox="1"/>
          <p:nvPr/>
        </p:nvSpPr>
        <p:spPr>
          <a:xfrm>
            <a:off x="3172031" y="3474720"/>
            <a:ext cx="1737360" cy="457200"/>
          </a:xfrm>
          <a:prstGeom prst="rect">
            <a:avLst/>
          </a:prstGeom>
          <a:noFill/>
          <a:ln/>
        </p:spPr>
        <p:txBody>
          <a:bodyPr wrap="square" lIns="0" tIns="0" rIns="0" bIns="0" rtlCol="0" anchor="ctr"/>
          <a:lstStyle/>
          <a:p>
            <a:pPr marL="0" indent="0" algn="l">
              <a:buNone/>
            </a:pPr>
            <a:r>
              <a:rPr lang="en-US" sz="1400" b="1" dirty="0">
                <a:solidFill>
                  <a:schemeClr val="tx1"/>
                </a:solidFill>
              </a:rPr>
              <a:t>474  (13.7%)</a:t>
            </a:r>
            <a:endParaRPr lang="en-US" sz="1400" dirty="0"/>
          </a:p>
        </p:txBody>
      </p:sp>
      <p:sp>
        <p:nvSpPr>
          <p:cNvPr id="16" name="su_t2"/>
          <p:cNvSpPr txBox="1"/>
          <p:nvPr/>
        </p:nvSpPr>
        <p:spPr>
          <a:xfrm>
            <a:off x="777240" y="4160520"/>
            <a:ext cx="5120640" cy="365760"/>
          </a:xfrm>
          <a:prstGeom prst="rect">
            <a:avLst/>
          </a:prstGeom>
          <a:noFill/>
          <a:ln/>
        </p:spPr>
        <p:txBody>
          <a:bodyPr wrap="square" lIns="0" tIns="0" rIns="0" bIns="0" rtlCol="0" anchor="ctr"/>
          <a:lstStyle/>
          <a:p>
            <a:pPr marL="0" indent="0" algn="l">
              <a:buNone/>
            </a:pPr>
            <a:r>
              <a:rPr lang="en-US" sz="1600" b="1" dirty="0">
                <a:solidFill>
                  <a:schemeClr val="tx2"/>
                </a:solidFill>
              </a:rPr>
              <a:t>Split (stratified, seed 42)</a:t>
            </a:r>
            <a:endParaRPr lang="en-US" sz="1600" dirty="0"/>
          </a:p>
        </p:txBody>
      </p:sp>
      <p:sp>
        <p:nvSpPr>
          <p:cNvPr id="17" name="su_s0"/>
          <p:cNvSpPr txBox="1"/>
          <p:nvPr/>
        </p:nvSpPr>
        <p:spPr>
          <a:xfrm>
            <a:off x="777240" y="4572000"/>
            <a:ext cx="3034625" cy="457200"/>
          </a:xfrm>
          <a:prstGeom prst="rect">
            <a:avLst/>
          </a:prstGeom>
          <a:solidFill>
            <a:schemeClr val="accent1"/>
          </a:solidFill>
          <a:ln/>
        </p:spPr>
        <p:txBody>
          <a:bodyPr wrap="square" lIns="0" tIns="0" rIns="0" bIns="0" rtlCol="0" anchor="ctr"/>
          <a:lstStyle/>
          <a:p>
            <a:pPr marL="0" indent="0" algn="ctr">
              <a:buNone/>
            </a:pPr>
            <a:r>
              <a:rPr lang="en-US" sz="1400" b="1" dirty="0">
                <a:solidFill>
                  <a:schemeClr val="bg1"/>
                </a:solidFill>
              </a:rPr>
              <a:t>Train 2,077</a:t>
            </a:r>
            <a:endParaRPr lang="en-US" sz="1400" dirty="0"/>
          </a:p>
        </p:txBody>
      </p:sp>
      <p:sp>
        <p:nvSpPr>
          <p:cNvPr id="18" name="su_s1"/>
          <p:cNvSpPr txBox="1"/>
          <p:nvPr/>
        </p:nvSpPr>
        <p:spPr>
          <a:xfrm>
            <a:off x="3848441" y="4572000"/>
            <a:ext cx="988143" cy="457200"/>
          </a:xfrm>
          <a:prstGeom prst="rect">
            <a:avLst/>
          </a:prstGeom>
          <a:solidFill>
            <a:schemeClr val="accent2"/>
          </a:solidFill>
          <a:ln/>
        </p:spPr>
        <p:txBody>
          <a:bodyPr wrap="square" lIns="0" tIns="0" rIns="0" bIns="0" rtlCol="0" anchor="ctr"/>
          <a:lstStyle/>
          <a:p>
            <a:pPr marL="0" indent="0" algn="ctr">
              <a:buNone/>
            </a:pPr>
            <a:endParaRPr lang="en-US" sz="1400" dirty="0"/>
          </a:p>
        </p:txBody>
      </p:sp>
      <p:sp>
        <p:nvSpPr>
          <p:cNvPr id="19" name="su_sl1"/>
          <p:cNvSpPr txBox="1"/>
          <p:nvPr/>
        </p:nvSpPr>
        <p:spPr>
          <a:xfrm>
            <a:off x="3848441" y="5074920"/>
            <a:ext cx="1024719" cy="320040"/>
          </a:xfrm>
          <a:prstGeom prst="rect">
            <a:avLst/>
          </a:prstGeom>
          <a:noFill/>
          <a:ln/>
        </p:spPr>
        <p:txBody>
          <a:bodyPr wrap="square" lIns="0" tIns="0" rIns="0" bIns="0" rtlCol="0" anchor="ctr"/>
          <a:lstStyle/>
          <a:p>
            <a:pPr marL="0" indent="0" algn="ctr">
              <a:buNone/>
            </a:pPr>
            <a:r>
              <a:rPr lang="en-US" sz="1400" b="1" dirty="0">
                <a:solidFill>
                  <a:schemeClr val="tx1"/>
                </a:solidFill>
              </a:rPr>
              <a:t>Val 693</a:t>
            </a:r>
            <a:endParaRPr lang="en-US" sz="1400" dirty="0"/>
          </a:p>
        </p:txBody>
      </p:sp>
      <p:sp>
        <p:nvSpPr>
          <p:cNvPr id="20" name="su_s2"/>
          <p:cNvSpPr txBox="1"/>
          <p:nvPr/>
        </p:nvSpPr>
        <p:spPr>
          <a:xfrm>
            <a:off x="4873161" y="4572000"/>
            <a:ext cx="988143" cy="457200"/>
          </a:xfrm>
          <a:prstGeom prst="rect">
            <a:avLst/>
          </a:prstGeom>
          <a:solidFill>
            <a:schemeClr val="accent3"/>
          </a:solidFill>
          <a:ln/>
        </p:spPr>
        <p:txBody>
          <a:bodyPr wrap="square" lIns="0" tIns="0" rIns="0" bIns="0" rtlCol="0" anchor="ctr"/>
          <a:lstStyle/>
          <a:p>
            <a:pPr marL="0" indent="0" algn="ctr">
              <a:buNone/>
            </a:pPr>
            <a:endParaRPr lang="en-US" sz="1400" dirty="0"/>
          </a:p>
        </p:txBody>
      </p:sp>
      <p:sp>
        <p:nvSpPr>
          <p:cNvPr id="21" name="su_sl2"/>
          <p:cNvSpPr txBox="1"/>
          <p:nvPr/>
        </p:nvSpPr>
        <p:spPr>
          <a:xfrm>
            <a:off x="4873161" y="5074920"/>
            <a:ext cx="1024719" cy="320040"/>
          </a:xfrm>
          <a:prstGeom prst="rect">
            <a:avLst/>
          </a:prstGeom>
          <a:noFill/>
          <a:ln/>
        </p:spPr>
        <p:txBody>
          <a:bodyPr wrap="square" lIns="0" tIns="0" rIns="0" bIns="0" rtlCol="0" anchor="ctr"/>
          <a:lstStyle/>
          <a:p>
            <a:pPr marL="0" indent="0" algn="ctr">
              <a:buNone/>
            </a:pPr>
            <a:r>
              <a:rPr lang="en-US" sz="1400" b="1" dirty="0">
                <a:solidFill>
                  <a:schemeClr val="tx1"/>
                </a:solidFill>
              </a:rPr>
              <a:t>Test 693</a:t>
            </a:r>
            <a:endParaRPr lang="en-US" sz="1400" dirty="0"/>
          </a:p>
        </p:txBody>
      </p:sp>
      <p:sp>
        <p:nvSpPr>
          <p:cNvPr id="22" name="su_term"/>
          <p:cNvSpPr txBox="1"/>
          <p:nvPr/>
        </p:nvSpPr>
        <p:spPr>
          <a:xfrm>
            <a:off x="777240" y="5486400"/>
            <a:ext cx="5120640" cy="621792"/>
          </a:xfrm>
          <a:prstGeom prst="roundRect">
            <a:avLst>
              <a:gd name="adj" fmla="val 11765"/>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14300" tIns="114300" rIns="114300" bIns="114300" rtlCol="0" anchor="ctr"/>
          <a:lstStyle/>
          <a:p>
            <a:pPr marL="0" indent="0">
              <a:buNone/>
            </a:pPr>
            <a:r>
              <a:rPr lang="en-US" sz="1100" b="1" dirty="0">
                <a:solidFill>
                  <a:schemeClr val="accent3"/>
                </a:solidFill>
              </a:rPr>
              <a:t>KEY TERM  </a:t>
            </a:r>
            <a:r>
              <a:rPr lang="en-US" sz="1300" b="1" dirty="0">
                <a:solidFill>
                  <a:schemeClr val="tx2"/>
                </a:solidFill>
              </a:rPr>
              <a:t>Stratified split  </a:t>
            </a:r>
            <a:r>
              <a:rPr lang="en-US" sz="1300" dirty="0">
                <a:solidFill>
                  <a:schemeClr val="tx1"/>
                </a:solidFill>
              </a:rPr>
              <a:t>each part keeps the same class proportions as the full data.</a:t>
            </a:r>
            <a:endParaRPr lang="en-US" sz="1100" dirty="0"/>
          </a:p>
        </p:txBody>
      </p:sp>
      <p:sp>
        <p:nvSpPr>
          <p:cNvPr id="23" name="su_r0"/>
          <p:cNvSpPr txBox="1"/>
          <p:nvPr/>
        </p:nvSpPr>
        <p:spPr>
          <a:xfrm>
            <a:off x="6400800" y="1508760"/>
            <a:ext cx="5239512" cy="1463040"/>
          </a:xfrm>
          <a:prstGeom prst="roundRect">
            <a:avLst>
              <a:gd name="adj" fmla="val 50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400"/>
              </a:spcAft>
              <a:buNone/>
            </a:pPr>
            <a:r>
              <a:rPr lang="en-US" sz="1600" b="1" dirty="0">
                <a:solidFill>
                  <a:schemeClr val="tx2"/>
                </a:solidFill>
              </a:rPr>
              <a:t>Why Macro-F1</a:t>
            </a:r>
            <a:endParaRPr lang="en-US" sz="1600" dirty="0"/>
          </a:p>
          <a:p>
            <a:pPr marL="0" indent="0" algn="l">
              <a:buNone/>
            </a:pPr>
            <a:r>
              <a:rPr lang="en-US" sz="1500" dirty="0">
                <a:solidFill>
                  <a:schemeClr val="tx1"/>
                </a:solidFill>
              </a:rPr>
              <a:t>It averages the F1 of the three classes with equal weight. Little or no damage is 63% of the data, so accuracy alone could look fine while mild and severe damage are handled badly.</a:t>
            </a:r>
            <a:endParaRPr lang="en-US" sz="1600" dirty="0"/>
          </a:p>
        </p:txBody>
      </p:sp>
      <p:sp>
        <p:nvSpPr>
          <p:cNvPr id="24" name="su_r1"/>
          <p:cNvSpPr txBox="1"/>
          <p:nvPr/>
        </p:nvSpPr>
        <p:spPr>
          <a:xfrm>
            <a:off x="6400800" y="3154680"/>
            <a:ext cx="5239512" cy="1463040"/>
          </a:xfrm>
          <a:prstGeom prst="roundRect">
            <a:avLst>
              <a:gd name="adj" fmla="val 50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400"/>
              </a:spcAft>
              <a:buNone/>
            </a:pPr>
            <a:r>
              <a:rPr lang="en-US" sz="1600" b="1" dirty="0">
                <a:solidFill>
                  <a:schemeClr val="tx2"/>
                </a:solidFill>
              </a:rPr>
              <a:t>Selection rule</a:t>
            </a:r>
            <a:endParaRPr lang="en-US" sz="1600" dirty="0"/>
          </a:p>
          <a:p>
            <a:pPr marL="0" indent="0" algn="l">
              <a:buNone/>
            </a:pPr>
            <a:r>
              <a:rPr lang="en-US" sz="1500" dirty="0">
                <a:solidFill>
                  <a:schemeClr val="tx1"/>
                </a:solidFill>
              </a:rPr>
              <a:t>Learning rate, head, loss, augmentation and the best epoch were all chosen on validation Macro-F1. The test set was opened once, at the end.</a:t>
            </a:r>
            <a:endParaRPr lang="en-US" sz="1600" dirty="0"/>
          </a:p>
        </p:txBody>
      </p:sp>
      <p:sp>
        <p:nvSpPr>
          <p:cNvPr id="25" name="su_r2"/>
          <p:cNvSpPr txBox="1"/>
          <p:nvPr/>
        </p:nvSpPr>
        <p:spPr>
          <a:xfrm>
            <a:off x="6400800" y="4800600"/>
            <a:ext cx="5239512" cy="1463040"/>
          </a:xfrm>
          <a:prstGeom prst="roundRect">
            <a:avLst>
              <a:gd name="adj" fmla="val 50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400"/>
              </a:spcAft>
              <a:buNone/>
            </a:pPr>
            <a:r>
              <a:rPr lang="en-US" sz="1600" b="1" dirty="0">
                <a:solidFill>
                  <a:schemeClr val="tx2"/>
                </a:solidFill>
              </a:rPr>
              <a:t>What the split cannot show</a:t>
            </a:r>
            <a:endParaRPr lang="en-US" sz="1600" dirty="0"/>
          </a:p>
          <a:p>
            <a:pPr marL="0" indent="0" algn="l">
              <a:buNone/>
            </a:pPr>
            <a:r>
              <a:rPr lang="en-US" sz="1500" dirty="0">
                <a:solidFill>
                  <a:schemeClr val="tx1"/>
                </a:solidFill>
              </a:rPr>
              <a:t>The split is image-level, not event-held-out: images from one disaster can sit in both train and test.</a:t>
            </a:r>
            <a:endParaRPr lang="en-US" sz="1600" dirty="0"/>
          </a:p>
        </p:txBody>
      </p:sp>
      <p:sp>
        <p:nvSpPr>
          <p:cNvPr id="4"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00"/>
                                        <p:tgtEl>
                                          <p:spTgt spid="8"/>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700"/>
                                        <p:tgtEl>
                                          <p:spTgt spid="11"/>
                                        </p:tgtEl>
                                      </p:cBhvr>
                                    </p:animEffect>
                                  </p:childTnLst>
                                </p:cTn>
                              </p:par>
                              <p:par>
                                <p:cTn id="14" presetID="10" presetClass="entr" presetSubtype="0" fill="hold" grpId="0" nodeType="withEffect">
                                  <p:stCondLst>
                                    <p:cond delay="5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700"/>
                                        <p:tgtEl>
                                          <p:spTgt spid="14"/>
                                        </p:tgtEl>
                                      </p:cBhvr>
                                    </p:animEffect>
                                  </p:childTnLst>
                                </p:cTn>
                              </p:par>
                              <p:par>
                                <p:cTn id="20" presetID="10" presetClass="entr" presetSubtype="0" fill="hold" grpId="0" nodeType="withEffect">
                                  <p:stCondLst>
                                    <p:cond delay="8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700"/>
                                        <p:tgtEl>
                                          <p:spTgt spid="17"/>
                                        </p:tgtEl>
                                      </p:cBhvr>
                                    </p:animEffect>
                                  </p:childTnLst>
                                </p:cTn>
                              </p:par>
                              <p:par>
                                <p:cTn id="28" presetID="22" presetClass="entr" presetSubtype="8" fill="hold" grpId="0" nodeType="withEffect">
                                  <p:stCondLst>
                                    <p:cond delay="30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700"/>
                                        <p:tgtEl>
                                          <p:spTgt spid="18"/>
                                        </p:tgtEl>
                                      </p:cBhvr>
                                    </p:animEffect>
                                  </p:childTnLst>
                                </p:cTn>
                              </p:par>
                              <p:par>
                                <p:cTn id="31" presetID="10" presetClass="entr" presetSubtype="0" fill="hold" grpId="0" nodeType="withEffect">
                                  <p:stCondLst>
                                    <p:cond delay="50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22" presetClass="entr" presetSubtype="8" fill="hold" grpId="0" nodeType="withEffect">
                                  <p:stCondLst>
                                    <p:cond delay="60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700"/>
                                        <p:tgtEl>
                                          <p:spTgt spid="20"/>
                                        </p:tgtEl>
                                      </p:cBhvr>
                                    </p:animEffect>
                                  </p:childTnLst>
                                </p:cTn>
                              </p:par>
                              <p:par>
                                <p:cTn id="37" presetID="10" presetClass="entr" presetSubtype="0" fill="hold" grpId="0" nodeType="withEffect">
                                  <p:stCondLst>
                                    <p:cond delay="80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2" presetClass="entr" presetSubtype="4" fill="hold" grpId="0" nodeType="withEffect">
                                  <p:stCondLst>
                                    <p:cond delay="1100"/>
                                  </p:stCondLst>
                                  <p:childTnLst>
                                    <p:set>
                                      <p:cBhvr>
                                        <p:cTn id="41" dur="1" fill="hold">
                                          <p:stCondLst>
                                            <p:cond delay="0"/>
                                          </p:stCondLst>
                                        </p:cTn>
                                        <p:tgtEl>
                                          <p:spTgt spid="22"/>
                                        </p:tgtEl>
                                        <p:attrNameLst>
                                          <p:attrName>style.visibility</p:attrName>
                                        </p:attrNameLst>
                                      </p:cBhvr>
                                      <p:to>
                                        <p:strVal val="visible"/>
                                      </p:to>
                                    </p:set>
                                    <p:anim calcmode="lin" valueType="num">
                                      <p:cBhvr additive="base">
                                        <p:cTn id="42" dur="600" fill="hold"/>
                                        <p:tgtEl>
                                          <p:spTgt spid="22"/>
                                        </p:tgtEl>
                                        <p:attrNameLst>
                                          <p:attrName>ppt_x</p:attrName>
                                        </p:attrNameLst>
                                      </p:cBhvr>
                                      <p:tavLst>
                                        <p:tav tm="0">
                                          <p:val>
                                            <p:strVal val="#ppt_x"/>
                                          </p:val>
                                        </p:tav>
                                        <p:tav tm="100000">
                                          <p:val>
                                            <p:strVal val="#ppt_x"/>
                                          </p:val>
                                        </p:tav>
                                      </p:tavLst>
                                    </p:anim>
                                    <p:anim calcmode="lin" valueType="num">
                                      <p:cBhvr additive="base">
                                        <p:cTn id="43" dur="6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 calcmode="lin" valueType="num">
                                      <p:cBhvr additive="base">
                                        <p:cTn id="48" dur="600" fill="hold"/>
                                        <p:tgtEl>
                                          <p:spTgt spid="23"/>
                                        </p:tgtEl>
                                        <p:attrNameLst>
                                          <p:attrName>ppt_x</p:attrName>
                                        </p:attrNameLst>
                                      </p:cBhvr>
                                      <p:tavLst>
                                        <p:tav tm="0">
                                          <p:val>
                                            <p:strVal val="#ppt_x"/>
                                          </p:val>
                                        </p:tav>
                                        <p:tav tm="100000">
                                          <p:val>
                                            <p:strVal val="#ppt_x"/>
                                          </p:val>
                                        </p:tav>
                                      </p:tavLst>
                                    </p:anim>
                                    <p:anim calcmode="lin" valueType="num">
                                      <p:cBhvr additive="base">
                                        <p:cTn id="49" dur="6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600" fill="hold"/>
                                        <p:tgtEl>
                                          <p:spTgt spid="24"/>
                                        </p:tgtEl>
                                        <p:attrNameLst>
                                          <p:attrName>ppt_x</p:attrName>
                                        </p:attrNameLst>
                                      </p:cBhvr>
                                      <p:tavLst>
                                        <p:tav tm="0">
                                          <p:val>
                                            <p:strVal val="#ppt_x"/>
                                          </p:val>
                                        </p:tav>
                                        <p:tav tm="100000">
                                          <p:val>
                                            <p:strVal val="#ppt_x"/>
                                          </p:val>
                                        </p:tav>
                                      </p:tavLst>
                                    </p:anim>
                                    <p:anim calcmode="lin" valueType="num">
                                      <p:cBhvr additive="base">
                                        <p:cTn id="55" dur="6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 calcmode="lin" valueType="num">
                                      <p:cBhvr additive="base">
                                        <p:cTn id="60" dur="600" fill="hold"/>
                                        <p:tgtEl>
                                          <p:spTgt spid="25"/>
                                        </p:tgtEl>
                                        <p:attrNameLst>
                                          <p:attrName>ppt_x</p:attrName>
                                        </p:attrNameLst>
                                      </p:cBhvr>
                                      <p:tavLst>
                                        <p:tav tm="0">
                                          <p:val>
                                            <p:strVal val="#ppt_x"/>
                                          </p:val>
                                        </p:tav>
                                        <p:tav tm="100000">
                                          <p:val>
                                            <p:strVal val="#ppt_x"/>
                                          </p:val>
                                        </p:tav>
                                      </p:tavLst>
                                    </p:anim>
                                    <p:anim calcmode="lin" valueType="num">
                                      <p:cBhvr additive="base">
                                        <p:cTn id="61" dur="6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STAGE 1 OF 4  |  BACKBONES</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Starting point: frozen backbones</a:t>
            </a:r>
            <a:endParaRPr lang="en-US" sz="3600" dirty="0"/>
          </a:p>
        </p:txBody>
      </p:sp>
      <p:sp>
        <p:nvSpPr>
          <p:cNvPr id="5" name="panel_0.6_1.65"/>
          <p:cNvSpPr/>
          <p:nvPr/>
        </p:nvSpPr>
        <p:spPr>
          <a:xfrm>
            <a:off x="548640" y="1508760"/>
            <a:ext cx="6766560" cy="4754880"/>
          </a:xfrm>
          <a:prstGeom prst="roundRect">
            <a:avLst>
              <a:gd name="adj" fmla="val 1538"/>
            </a:avLst>
          </a:prstGeom>
          <a:solidFill>
            <a:schemeClr val="bg2"/>
          </a:solidFill>
          <a:ln/>
        </p:spPr>
        <p:txBody>
          <a:bodyPr/>
          <a:lstStyle/>
          <a:p>
            <a:endParaRPr lang="en-US"/>
          </a:p>
        </p:txBody>
      </p:sp>
      <p:sp>
        <p:nvSpPr>
          <p:cNvPr id="6" name="bb_axis"/>
          <p:cNvSpPr txBox="1"/>
          <p:nvPr/>
        </p:nvSpPr>
        <p:spPr>
          <a:xfrm>
            <a:off x="777240" y="1645920"/>
            <a:ext cx="6217920" cy="320040"/>
          </a:xfrm>
          <a:prstGeom prst="rect">
            <a:avLst/>
          </a:prstGeom>
          <a:noFill/>
          <a:ln/>
        </p:spPr>
        <p:txBody>
          <a:bodyPr wrap="square" lIns="0" tIns="0" rIns="0" bIns="0" rtlCol="0" anchor="ctr"/>
          <a:lstStyle/>
          <a:p>
            <a:pPr marL="0" indent="0" algn="l">
              <a:buNone/>
            </a:pPr>
            <a:r>
              <a:rPr lang="en-US" sz="1200" dirty="0">
                <a:solidFill>
                  <a:schemeClr val="accent5"/>
                </a:solidFill>
              </a:rPr>
              <a:t>Validation Macro-F1 (%), bars start at 40%</a:t>
            </a:r>
            <a:endParaRPr lang="en-US" sz="1200" dirty="0"/>
          </a:p>
        </p:txBody>
      </p:sp>
      <p:sp>
        <p:nvSpPr>
          <p:cNvPr id="7" name="bb_term"/>
          <p:cNvSpPr txBox="1"/>
          <p:nvPr/>
        </p:nvSpPr>
        <p:spPr>
          <a:xfrm>
            <a:off x="777240" y="2194560"/>
            <a:ext cx="4023360" cy="1371600"/>
          </a:xfrm>
          <a:prstGeom prst="roundRect">
            <a:avLst>
              <a:gd name="adj" fmla="val 5333"/>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14300" tIns="114300" rIns="114300" bIns="114300" rtlCol="0" anchor="ctr"/>
          <a:lstStyle/>
          <a:p>
            <a:pPr marL="0" indent="0">
              <a:buNone/>
            </a:pPr>
            <a:r>
              <a:rPr lang="en-US" sz="1100" b="1" dirty="0">
                <a:solidFill>
                  <a:schemeClr val="accent3"/>
                </a:solidFill>
              </a:rPr>
              <a:t>KEY TERM  </a:t>
            </a:r>
            <a:r>
              <a:rPr lang="en-US" sz="1400" b="1" dirty="0">
                <a:solidFill>
                  <a:schemeClr val="tx2"/>
                </a:solidFill>
              </a:rPr>
              <a:t>Linear probe  </a:t>
            </a:r>
            <a:r>
              <a:rPr lang="en-US" sz="1400" dirty="0">
                <a:solidFill>
                  <a:schemeClr val="tx1"/>
                </a:solidFill>
              </a:rPr>
              <a:t>freeze every pretrained layer and train only one linear layer on the features it produces. The score then measures how good the pretrained features are.</a:t>
            </a:r>
            <a:endParaRPr lang="en-US" sz="1100" dirty="0"/>
          </a:p>
        </p:txBody>
      </p:sp>
      <p:sp>
        <p:nvSpPr>
          <p:cNvPr id="8" name="b3d_bb_b0"/>
          <p:cNvSpPr/>
          <p:nvPr/>
        </p:nvSpPr>
        <p:spPr>
          <a:xfrm>
            <a:off x="1188720" y="4347454"/>
            <a:ext cx="1554480" cy="1093226"/>
          </a:xfrm>
          <a:prstGeom prst="rect">
            <a:avLst/>
          </a:prstGeom>
          <a:solidFill>
            <a:schemeClr val="accent5"/>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9" name="bb_v0"/>
          <p:cNvSpPr txBox="1"/>
          <p:nvPr/>
        </p:nvSpPr>
        <p:spPr>
          <a:xfrm>
            <a:off x="1097280" y="3844534"/>
            <a:ext cx="1737360" cy="457200"/>
          </a:xfrm>
          <a:prstGeom prst="rect">
            <a:avLst/>
          </a:prstGeom>
          <a:noFill/>
          <a:ln/>
        </p:spPr>
        <p:txBody>
          <a:bodyPr wrap="square" lIns="0" tIns="0" rIns="0" bIns="0" rtlCol="0" anchor="ctr"/>
          <a:lstStyle/>
          <a:p>
            <a:pPr marL="0" indent="0" algn="ctr">
              <a:buNone/>
            </a:pPr>
            <a:r>
              <a:rPr lang="en-US" sz="2000" b="1" dirty="0">
                <a:solidFill>
                  <a:schemeClr val="tx1"/>
                </a:solidFill>
              </a:rPr>
              <a:t>51.57</a:t>
            </a:r>
            <a:endParaRPr lang="en-US" sz="2000" dirty="0"/>
          </a:p>
        </p:txBody>
      </p:sp>
      <p:sp>
        <p:nvSpPr>
          <p:cNvPr id="10" name="bb_n0"/>
          <p:cNvSpPr txBox="1"/>
          <p:nvPr/>
        </p:nvSpPr>
        <p:spPr>
          <a:xfrm>
            <a:off x="1097280" y="5513832"/>
            <a:ext cx="1737360" cy="365760"/>
          </a:xfrm>
          <a:prstGeom prst="rect">
            <a:avLst/>
          </a:prstGeom>
          <a:noFill/>
          <a:ln/>
        </p:spPr>
        <p:txBody>
          <a:bodyPr wrap="square" lIns="0" tIns="0" rIns="0" bIns="0" rtlCol="0" anchor="ctr"/>
          <a:lstStyle/>
          <a:p>
            <a:pPr marL="0" indent="0" algn="ctr">
              <a:buNone/>
            </a:pPr>
            <a:r>
              <a:rPr lang="en-US" sz="1400" b="1" dirty="0">
                <a:solidFill>
                  <a:schemeClr val="tx1"/>
                </a:solidFill>
              </a:rPr>
              <a:t>ViT-Base</a:t>
            </a:r>
            <a:endParaRPr lang="en-US" sz="1400" dirty="0"/>
          </a:p>
        </p:txBody>
      </p:sp>
      <p:sp>
        <p:nvSpPr>
          <p:cNvPr id="11" name="b3d_bb_b1"/>
          <p:cNvSpPr/>
          <p:nvPr/>
        </p:nvSpPr>
        <p:spPr>
          <a:xfrm>
            <a:off x="3200400" y="4493910"/>
            <a:ext cx="1554480" cy="946770"/>
          </a:xfrm>
          <a:prstGeom prst="rect">
            <a:avLst/>
          </a:prstGeom>
          <a:solidFill>
            <a:schemeClr val="accent5"/>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2" name="bb_v1"/>
          <p:cNvSpPr txBox="1"/>
          <p:nvPr/>
        </p:nvSpPr>
        <p:spPr>
          <a:xfrm>
            <a:off x="3108960" y="3990990"/>
            <a:ext cx="1737360" cy="457200"/>
          </a:xfrm>
          <a:prstGeom prst="rect">
            <a:avLst/>
          </a:prstGeom>
          <a:noFill/>
          <a:ln/>
        </p:spPr>
        <p:txBody>
          <a:bodyPr wrap="square" lIns="0" tIns="0" rIns="0" bIns="0" rtlCol="0" anchor="ctr"/>
          <a:lstStyle/>
          <a:p>
            <a:pPr marL="0" indent="0" algn="ctr">
              <a:buNone/>
            </a:pPr>
            <a:r>
              <a:rPr lang="en-US" sz="2000" b="1" dirty="0">
                <a:solidFill>
                  <a:schemeClr val="tx1"/>
                </a:solidFill>
              </a:rPr>
              <a:t>50.02</a:t>
            </a:r>
            <a:endParaRPr lang="en-US" sz="2000" dirty="0"/>
          </a:p>
        </p:txBody>
      </p:sp>
      <p:sp>
        <p:nvSpPr>
          <p:cNvPr id="13" name="bb_n1"/>
          <p:cNvSpPr txBox="1"/>
          <p:nvPr/>
        </p:nvSpPr>
        <p:spPr>
          <a:xfrm>
            <a:off x="3108960" y="5513832"/>
            <a:ext cx="1737360" cy="365760"/>
          </a:xfrm>
          <a:prstGeom prst="rect">
            <a:avLst/>
          </a:prstGeom>
          <a:noFill/>
          <a:ln/>
        </p:spPr>
        <p:txBody>
          <a:bodyPr wrap="square" lIns="0" tIns="0" rIns="0" bIns="0" rtlCol="0" anchor="ctr"/>
          <a:lstStyle/>
          <a:p>
            <a:pPr marL="0" indent="0" algn="ctr">
              <a:buNone/>
            </a:pPr>
            <a:r>
              <a:rPr lang="en-US" sz="1400" b="1" dirty="0">
                <a:solidFill>
                  <a:schemeClr val="tx1"/>
                </a:solidFill>
              </a:rPr>
              <a:t>ConViT-Tiny</a:t>
            </a:r>
            <a:endParaRPr lang="en-US" sz="1400" dirty="0"/>
          </a:p>
        </p:txBody>
      </p:sp>
      <p:sp>
        <p:nvSpPr>
          <p:cNvPr id="14" name="b3d_bb_b2"/>
          <p:cNvSpPr/>
          <p:nvPr/>
        </p:nvSpPr>
        <p:spPr>
          <a:xfrm>
            <a:off x="5212080" y="3806038"/>
            <a:ext cx="1554480" cy="1634642"/>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5" name="bb_v2"/>
          <p:cNvSpPr txBox="1"/>
          <p:nvPr/>
        </p:nvSpPr>
        <p:spPr>
          <a:xfrm>
            <a:off x="5120640" y="3303118"/>
            <a:ext cx="1737360" cy="457200"/>
          </a:xfrm>
          <a:prstGeom prst="rect">
            <a:avLst/>
          </a:prstGeom>
          <a:noFill/>
          <a:ln/>
        </p:spPr>
        <p:txBody>
          <a:bodyPr wrap="square" lIns="0" tIns="0" rIns="0" bIns="0" rtlCol="0" anchor="ctr"/>
          <a:lstStyle/>
          <a:p>
            <a:pPr marL="0" indent="0" algn="ctr">
              <a:buNone/>
            </a:pPr>
            <a:r>
              <a:rPr lang="en-US" sz="2800" b="1" dirty="0">
                <a:solidFill>
                  <a:schemeClr val="accent1"/>
                </a:solidFill>
              </a:rPr>
              <a:t>57.30</a:t>
            </a:r>
            <a:endParaRPr lang="en-US" sz="2800" dirty="0"/>
          </a:p>
        </p:txBody>
      </p:sp>
      <p:sp>
        <p:nvSpPr>
          <p:cNvPr id="16" name="bb_n2"/>
          <p:cNvSpPr txBox="1"/>
          <p:nvPr/>
        </p:nvSpPr>
        <p:spPr>
          <a:xfrm>
            <a:off x="5120640" y="5513832"/>
            <a:ext cx="1737360" cy="365760"/>
          </a:xfrm>
          <a:prstGeom prst="rect">
            <a:avLst/>
          </a:prstGeom>
          <a:noFill/>
          <a:ln/>
        </p:spPr>
        <p:txBody>
          <a:bodyPr wrap="square" lIns="0" tIns="0" rIns="0" bIns="0" rtlCol="0" anchor="ctr"/>
          <a:lstStyle/>
          <a:p>
            <a:pPr marL="0" indent="0" algn="ctr">
              <a:buNone/>
            </a:pPr>
            <a:r>
              <a:rPr lang="en-US" sz="1400" b="1" dirty="0">
                <a:solidFill>
                  <a:schemeClr val="tx1"/>
                </a:solidFill>
              </a:rPr>
              <a:t>DINOv2-Base</a:t>
            </a:r>
            <a:endParaRPr lang="en-US" sz="1400" dirty="0"/>
          </a:p>
        </p:txBody>
      </p:sp>
      <p:sp>
        <p:nvSpPr>
          <p:cNvPr id="17" name="bb_did"/>
          <p:cNvSpPr txBox="1"/>
          <p:nvPr/>
        </p:nvSpPr>
        <p:spPr>
          <a:xfrm>
            <a:off x="7589520" y="1508760"/>
            <a:ext cx="4050792" cy="1463040"/>
          </a:xfrm>
          <a:prstGeom prst="roundRect">
            <a:avLst>
              <a:gd name="adj" fmla="val 50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400"/>
              </a:spcAft>
              <a:buNone/>
            </a:pPr>
            <a:r>
              <a:rPr lang="en-US" sz="1600" b="1" dirty="0">
                <a:solidFill>
                  <a:schemeClr val="tx2"/>
                </a:solidFill>
              </a:rPr>
              <a:t>What I did</a:t>
            </a:r>
            <a:endParaRPr lang="en-US" sz="1600" dirty="0"/>
          </a:p>
          <a:p>
            <a:pPr marL="0" indent="0" algn="l">
              <a:buNone/>
            </a:pPr>
            <a:r>
              <a:rPr lang="en-US" sz="1500" dirty="0">
                <a:solidFill>
                  <a:schemeClr val="tx1"/>
                </a:solidFill>
              </a:rPr>
              <a:t>Froze each backbone and trained only a linear classifier on top. Same split, same metrics for all three.</a:t>
            </a:r>
            <a:endParaRPr lang="en-US" sz="1600" dirty="0"/>
          </a:p>
        </p:txBody>
      </p:sp>
      <p:sp>
        <p:nvSpPr>
          <p:cNvPr id="18" name="bb_sc"/>
          <p:cNvSpPr txBox="1"/>
          <p:nvPr/>
        </p:nvSpPr>
        <p:spPr>
          <a:xfrm>
            <a:off x="7589520" y="3154680"/>
            <a:ext cx="4050792" cy="1463040"/>
          </a:xfrm>
          <a:prstGeom prst="roundRect">
            <a:avLst>
              <a:gd name="adj" fmla="val 50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400"/>
              </a:spcAft>
              <a:buNone/>
            </a:pPr>
            <a:r>
              <a:rPr lang="en-US" sz="1600" b="1" dirty="0">
                <a:solidFill>
                  <a:schemeClr val="tx2"/>
                </a:solidFill>
              </a:rPr>
              <a:t>Validation scores</a:t>
            </a:r>
            <a:endParaRPr lang="en-US" sz="1600" dirty="0"/>
          </a:p>
          <a:p>
            <a:pPr marL="0" indent="0" algn="l">
              <a:spcAft>
                <a:spcPts val="200"/>
              </a:spcAft>
              <a:buNone/>
            </a:pPr>
            <a:r>
              <a:rPr lang="en-US" sz="1500" dirty="0">
                <a:solidFill>
                  <a:schemeClr val="tx1"/>
                </a:solidFill>
              </a:rPr>
              <a:t>DINOv2   acc 62.77  bal 59.30  F1 57.30</a:t>
            </a:r>
            <a:endParaRPr lang="en-US" sz="1600" dirty="0"/>
          </a:p>
          <a:p>
            <a:pPr marL="0" indent="0" algn="l">
              <a:spcAft>
                <a:spcPts val="200"/>
              </a:spcAft>
              <a:buNone/>
            </a:pPr>
            <a:r>
              <a:rPr lang="en-US" sz="1500" dirty="0">
                <a:solidFill>
                  <a:schemeClr val="tx1"/>
                </a:solidFill>
              </a:rPr>
              <a:t>ViT   acc 58.15  bal 53.36  F1 51.57</a:t>
            </a:r>
            <a:endParaRPr lang="en-US" sz="1600" dirty="0"/>
          </a:p>
          <a:p>
            <a:pPr marL="0" indent="0" algn="l">
              <a:buNone/>
            </a:pPr>
            <a:r>
              <a:rPr lang="en-US" sz="1500" dirty="0">
                <a:solidFill>
                  <a:schemeClr val="tx1"/>
                </a:solidFill>
              </a:rPr>
              <a:t>ConViT   acc 58.87  bal 51.12  F1 50.02</a:t>
            </a:r>
            <a:endParaRPr lang="en-US" sz="1600" dirty="0"/>
          </a:p>
        </p:txBody>
      </p:sp>
      <p:sp>
        <p:nvSpPr>
          <p:cNvPr id="19" name="bb_dec"/>
          <p:cNvSpPr txBox="1"/>
          <p:nvPr/>
        </p:nvSpPr>
        <p:spPr>
          <a:xfrm>
            <a:off x="7589520" y="4800600"/>
            <a:ext cx="4050792" cy="1463040"/>
          </a:xfrm>
          <a:prstGeom prst="roundRect">
            <a:avLst>
              <a:gd name="adj" fmla="val 5000"/>
            </a:avLst>
          </a:prstGeom>
          <a:solidFill>
            <a:schemeClr val="accent1"/>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400"/>
              </a:spcAft>
              <a:buNone/>
            </a:pPr>
            <a:r>
              <a:rPr lang="en-US" sz="1600" b="1" dirty="0">
                <a:solidFill>
                  <a:schemeClr val="bg1"/>
                </a:solidFill>
              </a:rPr>
              <a:t>Decision</a:t>
            </a:r>
            <a:endParaRPr lang="en-US" sz="1600" dirty="0"/>
          </a:p>
          <a:p>
            <a:pPr marL="0" indent="0" algn="l">
              <a:buNone/>
            </a:pPr>
            <a:r>
              <a:rPr lang="en-US" sz="1500" dirty="0">
                <a:solidFill>
                  <a:schemeClr val="bg1"/>
                </a:solidFill>
              </a:rPr>
              <a:t>DINOv2 leads ViT by 5.73 and ConViT by 7.28 Macro-F1 points, so it goes forward.</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100">
        <p14:prism/>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600" fill="hold"/>
                                        <p:tgtEl>
                                          <p:spTgt spid="17"/>
                                        </p:tgtEl>
                                        <p:attrNameLst>
                                          <p:attrName>ppt_x</p:attrName>
                                        </p:attrNameLst>
                                      </p:cBhvr>
                                      <p:tavLst>
                                        <p:tav tm="0">
                                          <p:val>
                                            <p:strVal val="#ppt_x"/>
                                          </p:val>
                                        </p:tav>
                                        <p:tav tm="100000">
                                          <p:val>
                                            <p:strVal val="#ppt_x"/>
                                          </p:val>
                                        </p:tav>
                                      </p:tavLst>
                                    </p:anim>
                                    <p:anim calcmode="lin" valueType="num">
                                      <p:cBhvr additive="base">
                                        <p:cTn id="8" dur="6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600" fill="hold"/>
                                        <p:tgtEl>
                                          <p:spTgt spid="7"/>
                                        </p:tgtEl>
                                        <p:attrNameLst>
                                          <p:attrName>ppt_x</p:attrName>
                                        </p:attrNameLst>
                                      </p:cBhvr>
                                      <p:tavLst>
                                        <p:tav tm="0">
                                          <p:val>
                                            <p:strVal val="#ppt_x"/>
                                          </p:val>
                                        </p:tav>
                                        <p:tav tm="100000">
                                          <p:val>
                                            <p:strVal val="#ppt_x"/>
                                          </p:val>
                                        </p:tav>
                                      </p:tavLst>
                                    </p:anim>
                                    <p:anim calcmode="lin" valueType="num">
                                      <p:cBhvr additive="base">
                                        <p:cTn id="12" dur="6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700"/>
                                        <p:tgtEl>
                                          <p:spTgt spid="8"/>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22" presetClass="entr" presetSubtype="4" fill="hold" grpId="0" nodeType="withEffect">
                                  <p:stCondLst>
                                    <p:cond delay="30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700"/>
                                        <p:tgtEl>
                                          <p:spTgt spid="11"/>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30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down)">
                                      <p:cBhvr>
                                        <p:cTn id="37" dur="700"/>
                                        <p:tgtEl>
                                          <p:spTgt spid="14"/>
                                        </p:tgtEl>
                                      </p:cBhvr>
                                    </p:animEffect>
                                  </p:childTnLst>
                                </p:cTn>
                              </p:par>
                              <p:par>
                                <p:cTn id="38" presetID="10" presetClass="entr" presetSubtype="0" fill="hold" grpId="0" nodeType="withEffect">
                                  <p:stCondLst>
                                    <p:cond delay="600"/>
                                  </p:stCondLst>
                                  <p:childTnLst>
                                    <p:set>
                                      <p:cBhvr>
                                        <p:cTn id="39" dur="1" fill="hold">
                                          <p:stCondLst>
                                            <p:cond delay="0"/>
                                          </p:stCondLst>
                                        </p:cTn>
                                        <p:tgtEl>
                                          <p:spTgt spid="15">
                                            <p:txEl>
                                              <p:charRg st="4294967295" end="4294967295"/>
                                            </p:txEl>
                                          </p:spTgt>
                                        </p:tgtEl>
                                        <p:attrNameLst>
                                          <p:attrName>style.visibility</p:attrName>
                                        </p:attrNameLst>
                                      </p:cBhvr>
                                      <p:to>
                                        <p:strVal val="visible"/>
                                      </p:to>
                                    </p:set>
                                    <p:animEffect transition="in" filter="fade">
                                      <p:cBhvr>
                                        <p:cTn id="40" dur="500"/>
                                        <p:tgtEl>
                                          <p:spTgt spid="15">
                                            <p:txEl>
                                              <p:charRg st="4294967295" end="4294967295"/>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600" fill="hold"/>
                                        <p:tgtEl>
                                          <p:spTgt spid="18"/>
                                        </p:tgtEl>
                                        <p:attrNameLst>
                                          <p:attrName>ppt_x</p:attrName>
                                        </p:attrNameLst>
                                      </p:cBhvr>
                                      <p:tavLst>
                                        <p:tav tm="0">
                                          <p:val>
                                            <p:strVal val="#ppt_x"/>
                                          </p:val>
                                        </p:tav>
                                        <p:tav tm="100000">
                                          <p:val>
                                            <p:strVal val="#ppt_x"/>
                                          </p:val>
                                        </p:tav>
                                      </p:tavLst>
                                    </p:anim>
                                    <p:anim calcmode="lin" valueType="num">
                                      <p:cBhvr additive="base">
                                        <p:cTn id="49" dur="6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600" fill="hold"/>
                                        <p:tgtEl>
                                          <p:spTgt spid="19"/>
                                        </p:tgtEl>
                                        <p:attrNameLst>
                                          <p:attrName>ppt_x</p:attrName>
                                        </p:attrNameLst>
                                      </p:cBhvr>
                                      <p:tavLst>
                                        <p:tav tm="0">
                                          <p:val>
                                            <p:strVal val="#ppt_x"/>
                                          </p:val>
                                        </p:tav>
                                        <p:tav tm="100000">
                                          <p:val>
                                            <p:strVal val="#ppt_x"/>
                                          </p:val>
                                        </p:tav>
                                      </p:tavLst>
                                    </p:anim>
                                    <p:anim calcmode="lin" valueType="num">
                                      <p:cBhvr additive="base">
                                        <p:cTn id="55" dur="6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p:bldP spid="16" grpId="0" animBg="1"/>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STAGE 2 OF 4  |  TUNING</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Learning rate and fine-tuning</a:t>
            </a:r>
            <a:endParaRPr lang="en-US" sz="3600" dirty="0"/>
          </a:p>
        </p:txBody>
      </p:sp>
      <p:sp>
        <p:nvSpPr>
          <p:cNvPr id="5" name="tu_a"/>
          <p:cNvSpPr txBox="1"/>
          <p:nvPr/>
        </p:nvSpPr>
        <p:spPr>
          <a:xfrm>
            <a:off x="548640" y="1508760"/>
            <a:ext cx="4206240" cy="1828800"/>
          </a:xfrm>
          <a:prstGeom prst="roundRect">
            <a:avLst>
              <a:gd name="adj" fmla="val 40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Change 1: learning rate</a:t>
            </a:r>
            <a:endParaRPr lang="en-US" sz="1800" dirty="0"/>
          </a:p>
          <a:p>
            <a:pPr marL="0" indent="0" algn="l">
              <a:spcAft>
                <a:spcPts val="600"/>
              </a:spcAft>
              <a:buNone/>
            </a:pPr>
            <a:r>
              <a:rPr lang="en-US" sz="1500" dirty="0">
                <a:solidFill>
                  <a:schemeClr val="tx1"/>
                </a:solidFill>
              </a:rPr>
              <a:t>Swept 1e-4, 3e-4, 1e-3 and 3e-3 for the linear classifier on frozen DINOv2 features.</a:t>
            </a:r>
            <a:endParaRPr lang="en-US" sz="1800" dirty="0"/>
          </a:p>
          <a:p>
            <a:pPr marL="0" indent="0" algn="l">
              <a:buNone/>
            </a:pPr>
            <a:r>
              <a:rPr lang="en-US" sz="1500" b="1" dirty="0">
                <a:solidFill>
                  <a:schemeClr val="tx1"/>
                </a:solidFill>
              </a:rPr>
              <a:t>Best: 3e-4.</a:t>
            </a:r>
            <a:endParaRPr lang="en-US" sz="1800" dirty="0"/>
          </a:p>
        </p:txBody>
      </p:sp>
      <p:sp>
        <p:nvSpPr>
          <p:cNvPr id="6" name="tu_b"/>
          <p:cNvSpPr txBox="1"/>
          <p:nvPr/>
        </p:nvSpPr>
        <p:spPr>
          <a:xfrm>
            <a:off x="548640" y="3474720"/>
            <a:ext cx="4206240" cy="1874520"/>
          </a:xfrm>
          <a:prstGeom prst="roundRect">
            <a:avLst>
              <a:gd name="adj" fmla="val 3902"/>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Change 2: unfreeze blocks</a:t>
            </a:r>
            <a:endParaRPr lang="en-US" sz="1800" dirty="0"/>
          </a:p>
          <a:p>
            <a:pPr marL="0" indent="0" algn="l">
              <a:buNone/>
            </a:pPr>
            <a:r>
              <a:rPr lang="en-US" sz="1500" dirty="0">
                <a:solidFill>
                  <a:schemeClr val="tx1"/>
                </a:solidFill>
              </a:rPr>
              <a:t>Unfroze the last one, then the last two, transformer blocks, with a smaller learning rate for the backbone than for the head, so pretrained features shift gradually.</a:t>
            </a:r>
            <a:endParaRPr lang="en-US" sz="1800" dirty="0"/>
          </a:p>
        </p:txBody>
      </p:sp>
      <p:sp>
        <p:nvSpPr>
          <p:cNvPr id="7" name="tu_term"/>
          <p:cNvSpPr txBox="1"/>
          <p:nvPr/>
        </p:nvSpPr>
        <p:spPr>
          <a:xfrm>
            <a:off x="548640" y="5486400"/>
            <a:ext cx="4206240" cy="777240"/>
          </a:xfrm>
          <a:prstGeom prst="roundRect">
            <a:avLst>
              <a:gd name="adj" fmla="val 9412"/>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14300" tIns="114300" rIns="114300" bIns="114300" rtlCol="0" anchor="ctr"/>
          <a:lstStyle/>
          <a:p>
            <a:pPr marL="0" indent="0">
              <a:buNone/>
            </a:pPr>
            <a:r>
              <a:rPr lang="en-US" sz="1100" b="1" dirty="0">
                <a:solidFill>
                  <a:schemeClr val="accent3"/>
                </a:solidFill>
              </a:rPr>
              <a:t>KEY TERM  </a:t>
            </a:r>
            <a:r>
              <a:rPr lang="en-US" sz="1400" b="1" dirty="0">
                <a:solidFill>
                  <a:schemeClr val="tx2"/>
                </a:solidFill>
              </a:rPr>
              <a:t>Unfreezing  </a:t>
            </a:r>
            <a:r>
              <a:rPr lang="en-US" sz="1400" dirty="0">
                <a:solidFill>
                  <a:schemeClr val="tx1"/>
                </a:solidFill>
              </a:rPr>
              <a:t>letting the last blocks update during training instead of staying fixed.</a:t>
            </a:r>
            <a:endParaRPr lang="en-US" sz="1100" dirty="0"/>
          </a:p>
        </p:txBody>
      </p:sp>
      <p:sp>
        <p:nvSpPr>
          <p:cNvPr id="8" name="panel_5.5_1.65"/>
          <p:cNvSpPr/>
          <p:nvPr/>
        </p:nvSpPr>
        <p:spPr>
          <a:xfrm>
            <a:off x="5029200" y="1508760"/>
            <a:ext cx="6611112" cy="4754880"/>
          </a:xfrm>
          <a:prstGeom prst="roundRect">
            <a:avLst>
              <a:gd name="adj" fmla="val 1538"/>
            </a:avLst>
          </a:prstGeom>
          <a:solidFill>
            <a:schemeClr val="bg2"/>
          </a:solidFill>
          <a:ln/>
        </p:spPr>
        <p:txBody>
          <a:bodyPr/>
          <a:lstStyle/>
          <a:p>
            <a:endParaRPr lang="en-US"/>
          </a:p>
        </p:txBody>
      </p:sp>
      <p:sp>
        <p:nvSpPr>
          <p:cNvPr id="9" name="tu_axis"/>
          <p:cNvSpPr txBox="1"/>
          <p:nvPr/>
        </p:nvSpPr>
        <p:spPr>
          <a:xfrm>
            <a:off x="5257800" y="1627632"/>
            <a:ext cx="6126480" cy="320040"/>
          </a:xfrm>
          <a:prstGeom prst="rect">
            <a:avLst/>
          </a:prstGeom>
          <a:noFill/>
          <a:ln/>
        </p:spPr>
        <p:txBody>
          <a:bodyPr wrap="square" lIns="0" tIns="0" rIns="0" bIns="0" rtlCol="0" anchor="ctr"/>
          <a:lstStyle/>
          <a:p>
            <a:pPr marL="0" indent="0" algn="l">
              <a:buNone/>
            </a:pPr>
            <a:r>
              <a:rPr lang="en-US" sz="1200" dirty="0">
                <a:solidFill>
                  <a:schemeClr val="accent5"/>
                </a:solidFill>
              </a:rPr>
              <a:t>Validation Macro-F1 (%), bars start at 50%</a:t>
            </a:r>
            <a:endParaRPr lang="en-US" sz="1200" dirty="0"/>
          </a:p>
        </p:txBody>
      </p:sp>
      <p:sp>
        <p:nvSpPr>
          <p:cNvPr id="10" name="tu_l0"/>
          <p:cNvSpPr txBox="1"/>
          <p:nvPr/>
        </p:nvSpPr>
        <p:spPr>
          <a:xfrm>
            <a:off x="5257800" y="2103120"/>
            <a:ext cx="2103120" cy="502920"/>
          </a:xfrm>
          <a:prstGeom prst="rect">
            <a:avLst/>
          </a:prstGeom>
          <a:noFill/>
          <a:ln/>
        </p:spPr>
        <p:txBody>
          <a:bodyPr wrap="square" lIns="0" tIns="0" rIns="0" bIns="0" rtlCol="0" anchor="ctr"/>
          <a:lstStyle/>
          <a:p>
            <a:pPr marL="0" indent="0" algn="l">
              <a:buNone/>
            </a:pPr>
            <a:r>
              <a:rPr lang="en-US" sz="1400" b="1" dirty="0">
                <a:solidFill>
                  <a:schemeClr val="tx1"/>
                </a:solidFill>
              </a:rPr>
              <a:t>Frozen probe (start)</a:t>
            </a:r>
            <a:endParaRPr lang="en-US" sz="1400" dirty="0"/>
          </a:p>
        </p:txBody>
      </p:sp>
      <p:sp>
        <p:nvSpPr>
          <p:cNvPr id="11" name="b3d_tu_b0"/>
          <p:cNvSpPr/>
          <p:nvPr/>
        </p:nvSpPr>
        <p:spPr>
          <a:xfrm>
            <a:off x="7406640" y="2103120"/>
            <a:ext cx="1891284" cy="502920"/>
          </a:xfrm>
          <a:prstGeom prst="rect">
            <a:avLst/>
          </a:prstGeom>
          <a:solidFill>
            <a:schemeClr val="accent5"/>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2" name="tu_v0"/>
          <p:cNvSpPr txBox="1"/>
          <p:nvPr/>
        </p:nvSpPr>
        <p:spPr>
          <a:xfrm>
            <a:off x="9407652" y="2103120"/>
            <a:ext cx="914400" cy="502920"/>
          </a:xfrm>
          <a:prstGeom prst="rect">
            <a:avLst/>
          </a:prstGeom>
          <a:noFill/>
          <a:ln/>
        </p:spPr>
        <p:txBody>
          <a:bodyPr wrap="square" lIns="0" tIns="0" rIns="0" bIns="0" rtlCol="0" anchor="ctr"/>
          <a:lstStyle/>
          <a:p>
            <a:pPr marL="0" indent="0" algn="l">
              <a:buNone/>
            </a:pPr>
            <a:r>
              <a:rPr lang="en-US" sz="1800" b="1" dirty="0">
                <a:solidFill>
                  <a:schemeClr val="tx1"/>
                </a:solidFill>
              </a:rPr>
              <a:t>57.30</a:t>
            </a:r>
            <a:endParaRPr lang="en-US" sz="1800" dirty="0"/>
          </a:p>
        </p:txBody>
      </p:sp>
      <p:sp>
        <p:nvSpPr>
          <p:cNvPr id="13" name="tu_l1"/>
          <p:cNvSpPr txBox="1"/>
          <p:nvPr/>
        </p:nvSpPr>
        <p:spPr>
          <a:xfrm>
            <a:off x="5257800" y="2816352"/>
            <a:ext cx="2103120" cy="502920"/>
          </a:xfrm>
          <a:prstGeom prst="rect">
            <a:avLst/>
          </a:prstGeom>
          <a:noFill/>
          <a:ln/>
        </p:spPr>
        <p:txBody>
          <a:bodyPr wrap="square" lIns="0" tIns="0" rIns="0" bIns="0" rtlCol="0" anchor="ctr"/>
          <a:lstStyle/>
          <a:p>
            <a:pPr marL="0" indent="0" algn="l">
              <a:buNone/>
            </a:pPr>
            <a:r>
              <a:rPr lang="en-US" sz="1400" dirty="0">
                <a:solidFill>
                  <a:schemeClr val="tx1"/>
                </a:solidFill>
              </a:rPr>
              <a:t>Learning rate 3e-4</a:t>
            </a:r>
            <a:endParaRPr lang="en-US" sz="1400" dirty="0"/>
          </a:p>
        </p:txBody>
      </p:sp>
      <p:sp>
        <p:nvSpPr>
          <p:cNvPr id="14" name="b3d_tu_b1"/>
          <p:cNvSpPr/>
          <p:nvPr/>
        </p:nvSpPr>
        <p:spPr>
          <a:xfrm>
            <a:off x="7406640" y="2816352"/>
            <a:ext cx="2357628" cy="502920"/>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5" name="tu_v1"/>
          <p:cNvSpPr txBox="1"/>
          <p:nvPr/>
        </p:nvSpPr>
        <p:spPr>
          <a:xfrm>
            <a:off x="9873996" y="2816352"/>
            <a:ext cx="914400" cy="502920"/>
          </a:xfrm>
          <a:prstGeom prst="rect">
            <a:avLst/>
          </a:prstGeom>
          <a:noFill/>
          <a:ln/>
        </p:spPr>
        <p:txBody>
          <a:bodyPr wrap="square" lIns="0" tIns="0" rIns="0" bIns="0" rtlCol="0" anchor="ctr"/>
          <a:lstStyle/>
          <a:p>
            <a:pPr marL="0" indent="0" algn="l">
              <a:buNone/>
            </a:pPr>
            <a:r>
              <a:rPr lang="en-US" sz="1800" b="1" dirty="0">
                <a:solidFill>
                  <a:schemeClr val="tx1"/>
                </a:solidFill>
              </a:rPr>
              <a:t>59.10</a:t>
            </a:r>
            <a:endParaRPr lang="en-US" sz="1800" dirty="0"/>
          </a:p>
        </p:txBody>
      </p:sp>
      <p:sp>
        <p:nvSpPr>
          <p:cNvPr id="16" name="tu_l2"/>
          <p:cNvSpPr txBox="1"/>
          <p:nvPr/>
        </p:nvSpPr>
        <p:spPr>
          <a:xfrm>
            <a:off x="5257800" y="3529584"/>
            <a:ext cx="2103120" cy="502920"/>
          </a:xfrm>
          <a:prstGeom prst="rect">
            <a:avLst/>
          </a:prstGeom>
          <a:noFill/>
          <a:ln/>
        </p:spPr>
        <p:txBody>
          <a:bodyPr wrap="square" lIns="0" tIns="0" rIns="0" bIns="0" rtlCol="0" anchor="ctr"/>
          <a:lstStyle/>
          <a:p>
            <a:pPr marL="0" indent="0" algn="l">
              <a:buNone/>
            </a:pPr>
            <a:r>
              <a:rPr lang="en-US" sz="1400" dirty="0">
                <a:solidFill>
                  <a:schemeClr val="tx1"/>
                </a:solidFill>
              </a:rPr>
              <a:t>Unfreeze 1 block</a:t>
            </a:r>
            <a:endParaRPr lang="en-US" sz="1400" dirty="0"/>
          </a:p>
        </p:txBody>
      </p:sp>
      <p:sp>
        <p:nvSpPr>
          <p:cNvPr id="17" name="b3d_tu_b2"/>
          <p:cNvSpPr/>
          <p:nvPr/>
        </p:nvSpPr>
        <p:spPr>
          <a:xfrm>
            <a:off x="7406640" y="3529584"/>
            <a:ext cx="2590800" cy="502920"/>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8" name="tu_v2"/>
          <p:cNvSpPr txBox="1"/>
          <p:nvPr/>
        </p:nvSpPr>
        <p:spPr>
          <a:xfrm>
            <a:off x="10107168" y="3529584"/>
            <a:ext cx="914400" cy="502920"/>
          </a:xfrm>
          <a:prstGeom prst="rect">
            <a:avLst/>
          </a:prstGeom>
          <a:noFill/>
          <a:ln/>
        </p:spPr>
        <p:txBody>
          <a:bodyPr wrap="square" lIns="0" tIns="0" rIns="0" bIns="0" rtlCol="0" anchor="ctr"/>
          <a:lstStyle/>
          <a:p>
            <a:pPr marL="0" indent="0" algn="l">
              <a:buNone/>
            </a:pPr>
            <a:r>
              <a:rPr lang="en-US" sz="1800" b="1" dirty="0">
                <a:solidFill>
                  <a:schemeClr val="tx1"/>
                </a:solidFill>
              </a:rPr>
              <a:t>60.00</a:t>
            </a:r>
            <a:endParaRPr lang="en-US" sz="1800" dirty="0"/>
          </a:p>
        </p:txBody>
      </p:sp>
      <p:sp>
        <p:nvSpPr>
          <p:cNvPr id="19" name="tu_l3"/>
          <p:cNvSpPr txBox="1"/>
          <p:nvPr/>
        </p:nvSpPr>
        <p:spPr>
          <a:xfrm>
            <a:off x="5257800" y="4242816"/>
            <a:ext cx="2103120" cy="502920"/>
          </a:xfrm>
          <a:prstGeom prst="rect">
            <a:avLst/>
          </a:prstGeom>
          <a:noFill/>
          <a:ln/>
        </p:spPr>
        <p:txBody>
          <a:bodyPr wrap="square" lIns="0" tIns="0" rIns="0" bIns="0" rtlCol="0" anchor="ctr"/>
          <a:lstStyle/>
          <a:p>
            <a:pPr marL="0" indent="0" algn="l">
              <a:buNone/>
            </a:pPr>
            <a:r>
              <a:rPr lang="en-US" sz="1400" dirty="0">
                <a:solidFill>
                  <a:schemeClr val="tx1"/>
                </a:solidFill>
              </a:rPr>
              <a:t>Unfreeze 2 blocks</a:t>
            </a:r>
            <a:endParaRPr lang="en-US" sz="1400" dirty="0"/>
          </a:p>
        </p:txBody>
      </p:sp>
      <p:sp>
        <p:nvSpPr>
          <p:cNvPr id="20" name="b3d_tu_b3"/>
          <p:cNvSpPr/>
          <p:nvPr/>
        </p:nvSpPr>
        <p:spPr>
          <a:xfrm>
            <a:off x="7406640" y="4242816"/>
            <a:ext cx="2453488" cy="502920"/>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21" name="tu_v3"/>
          <p:cNvSpPr txBox="1"/>
          <p:nvPr/>
        </p:nvSpPr>
        <p:spPr>
          <a:xfrm>
            <a:off x="9969856" y="4242816"/>
            <a:ext cx="914400" cy="502920"/>
          </a:xfrm>
          <a:prstGeom prst="rect">
            <a:avLst/>
          </a:prstGeom>
          <a:noFill/>
          <a:ln/>
        </p:spPr>
        <p:txBody>
          <a:bodyPr wrap="square" lIns="0" tIns="0" rIns="0" bIns="0" rtlCol="0" anchor="ctr"/>
          <a:lstStyle/>
          <a:p>
            <a:pPr marL="0" indent="0" algn="l">
              <a:buNone/>
            </a:pPr>
            <a:r>
              <a:rPr lang="en-US" sz="1800" b="1" dirty="0">
                <a:solidFill>
                  <a:schemeClr val="tx1"/>
                </a:solidFill>
              </a:rPr>
              <a:t>59.47</a:t>
            </a:r>
            <a:endParaRPr lang="en-US" sz="1800" dirty="0"/>
          </a:p>
        </p:txBody>
      </p:sp>
      <p:sp>
        <p:nvSpPr>
          <p:cNvPr id="22" name="tu_ins"/>
          <p:cNvSpPr txBox="1"/>
          <p:nvPr/>
        </p:nvSpPr>
        <p:spPr>
          <a:xfrm>
            <a:off x="5257800" y="5029200"/>
            <a:ext cx="6153912" cy="1051560"/>
          </a:xfrm>
          <a:prstGeom prst="roundRect">
            <a:avLst>
              <a:gd name="adj" fmla="val 6957"/>
            </a:avLst>
          </a:prstGeom>
          <a:solidFill>
            <a:schemeClr val="accent1"/>
          </a:solidFill>
          <a:ln/>
          <a:effectLst>
            <a:outerShdw blurRad="101600" dist="38100" dir="5400000" algn="bl" rotWithShape="0">
              <a:srgbClr val="1B2433">
                <a:alpha val="16000"/>
              </a:srgbClr>
            </a:outerShdw>
          </a:effectLst>
        </p:spPr>
        <p:txBody>
          <a:bodyPr wrap="square" lIns="127000" tIns="127000" rIns="127000" bIns="127000" rtlCol="0" anchor="ctr"/>
          <a:lstStyle/>
          <a:p>
            <a:pPr marL="0" indent="0" algn="l">
              <a:buNone/>
            </a:pPr>
            <a:r>
              <a:rPr lang="en-US" sz="1400" dirty="0">
                <a:solidFill>
                  <a:schemeClr val="bg1"/>
                </a:solidFill>
              </a:rPr>
              <a:t>Two blocks had the highest accuracy (68.40%) but a lower Macro-F1 than one block (59.47 vs 60.00). More adaptation raised overall correctness without helping every class, so I kept selecting on Macro-F1.</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700"/>
                                        <p:tgtEl>
                                          <p:spTgt spid="14"/>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5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600" fill="hold"/>
                                        <p:tgtEl>
                                          <p:spTgt spid="7"/>
                                        </p:tgtEl>
                                        <p:attrNameLst>
                                          <p:attrName>ppt_x</p:attrName>
                                        </p:attrNameLst>
                                      </p:cBhvr>
                                      <p:tavLst>
                                        <p:tav tm="0">
                                          <p:val>
                                            <p:strVal val="#ppt_x"/>
                                          </p:val>
                                        </p:tav>
                                        <p:tav tm="100000">
                                          <p:val>
                                            <p:strVal val="#ppt_x"/>
                                          </p:val>
                                        </p:tav>
                                      </p:tavLst>
                                    </p:anim>
                                    <p:anim calcmode="lin" valueType="num">
                                      <p:cBhvr additive="base">
                                        <p:cTn id="29" dur="6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700"/>
                                        <p:tgtEl>
                                          <p:spTgt spid="17"/>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22" presetClass="entr" presetSubtype="8" fill="hold" grpId="0" nodeType="withEffect">
                                  <p:stCondLst>
                                    <p:cond delay="40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700"/>
                                        <p:tgtEl>
                                          <p:spTgt spid="20"/>
                                        </p:tgtEl>
                                      </p:cBhvr>
                                    </p:animEffect>
                                  </p:childTnLst>
                                </p:cTn>
                              </p:par>
                              <p:par>
                                <p:cTn id="44" presetID="10" presetClass="entr" presetSubtype="0" fill="hold" grpId="0" nodeType="withEffect">
                                  <p:stCondLst>
                                    <p:cond delay="90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40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 calcmode="lin" valueType="num">
                                      <p:cBhvr additive="base">
                                        <p:cTn id="54" dur="600" fill="hold"/>
                                        <p:tgtEl>
                                          <p:spTgt spid="22"/>
                                        </p:tgtEl>
                                        <p:attrNameLst>
                                          <p:attrName>ppt_x</p:attrName>
                                        </p:attrNameLst>
                                      </p:cBhvr>
                                      <p:tavLst>
                                        <p:tav tm="0">
                                          <p:val>
                                            <p:strVal val="#ppt_x"/>
                                          </p:val>
                                        </p:tav>
                                        <p:tav tm="100000">
                                          <p:val>
                                            <p:strVal val="#ppt_x"/>
                                          </p:val>
                                        </p:tav>
                                      </p:tavLst>
                                    </p:anim>
                                    <p:anim calcmode="lin" valueType="num">
                                      <p:cBhvr additive="base">
                                        <p:cTn id="55" dur="6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STAGE 3 OF 4  |  HEAD AND LOSS</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Classifier head and loss function</a:t>
            </a:r>
            <a:endParaRPr lang="en-US" sz="3600" dirty="0"/>
          </a:p>
        </p:txBody>
      </p:sp>
      <p:sp>
        <p:nvSpPr>
          <p:cNvPr id="5" name="hl_a"/>
          <p:cNvSpPr txBox="1"/>
          <p:nvPr/>
        </p:nvSpPr>
        <p:spPr>
          <a:xfrm>
            <a:off x="548640" y="1508760"/>
            <a:ext cx="4206240" cy="2651760"/>
          </a:xfrm>
          <a:prstGeom prst="roundRect">
            <a:avLst>
              <a:gd name="adj" fmla="val 2759"/>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What I changed</a:t>
            </a:r>
            <a:endParaRPr lang="en-US" sz="1800" dirty="0"/>
          </a:p>
          <a:p>
            <a:pPr marL="0" indent="0" algn="l">
              <a:spcAft>
                <a:spcPts val="600"/>
              </a:spcAft>
              <a:buNone/>
            </a:pPr>
            <a:r>
              <a:rPr lang="en-US" sz="1500" dirty="0">
                <a:solidFill>
                  <a:schemeClr val="tx1"/>
                </a:solidFill>
              </a:rPr>
              <a:t>Head: replaced the plain linear head with a Conv + GroupNorm head and with an MLP head, with two blocks unfrozen. The Conv + GroupNorm run also used class-weighted cross-entropy and a scheduler.</a:t>
            </a:r>
            <a:endParaRPr lang="en-US" sz="1800" dirty="0"/>
          </a:p>
          <a:p>
            <a:pPr marL="0" indent="0" algn="l">
              <a:buNone/>
            </a:pPr>
            <a:r>
              <a:rPr lang="en-US" sz="1500" dirty="0">
                <a:solidFill>
                  <a:schemeClr val="tx1"/>
                </a:solidFill>
              </a:rPr>
              <a:t>Loss: tried focal loss with γ = 1, γ = 2, and γ = 2 with label smoothing.</a:t>
            </a:r>
            <a:endParaRPr lang="en-US" sz="1800" dirty="0"/>
          </a:p>
        </p:txBody>
      </p:sp>
      <p:sp>
        <p:nvSpPr>
          <p:cNvPr id="6" name="hl_term"/>
          <p:cNvSpPr txBox="1"/>
          <p:nvPr/>
        </p:nvSpPr>
        <p:spPr>
          <a:xfrm>
            <a:off x="548640" y="4297680"/>
            <a:ext cx="4206240" cy="1965960"/>
          </a:xfrm>
          <a:prstGeom prst="roundRect">
            <a:avLst>
              <a:gd name="adj" fmla="val 3721"/>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27000" tIns="127000" rIns="127000" bIns="127000" rtlCol="0" anchor="t"/>
          <a:lstStyle/>
          <a:p>
            <a:pPr marL="0" indent="0">
              <a:buNone/>
            </a:pPr>
            <a:r>
              <a:rPr lang="en-US" sz="1100" b="1" dirty="0">
                <a:solidFill>
                  <a:schemeClr val="accent3"/>
                </a:solidFill>
              </a:rPr>
              <a:t>KEY TERM</a:t>
            </a:r>
            <a:endParaRPr lang="en-US" sz="1100" dirty="0"/>
          </a:p>
          <a:p>
            <a:pPr marL="0" indent="0">
              <a:spcAft>
                <a:spcPts val="400"/>
              </a:spcAft>
              <a:buNone/>
            </a:pPr>
            <a:r>
              <a:rPr lang="en-US" sz="1700" b="1" dirty="0">
                <a:solidFill>
                  <a:schemeClr val="tx2"/>
                </a:solidFill>
              </a:rPr>
              <a:t>Focal loss</a:t>
            </a:r>
            <a:endParaRPr lang="en-US" sz="1100" dirty="0"/>
          </a:p>
          <a:p>
            <a:pPr marL="0" indent="0">
              <a:spcAft>
                <a:spcPts val="300"/>
              </a:spcAft>
              <a:buNone/>
            </a:pPr>
            <a:r>
              <a:rPr lang="en-US" sz="1700" b="1" dirty="0">
                <a:solidFill>
                  <a:schemeClr val="accent1"/>
                </a:solidFill>
              </a:rPr>
              <a:t>FL = −(1 − p)^γ · log p</a:t>
            </a:r>
            <a:endParaRPr lang="en-US" sz="1100" dirty="0"/>
          </a:p>
          <a:p>
            <a:pPr marL="0" indent="0">
              <a:spcAft>
                <a:spcPts val="400"/>
              </a:spcAft>
              <a:buNone/>
            </a:pPr>
            <a:r>
              <a:rPr lang="en-US" sz="1300" dirty="0">
                <a:solidFill>
                  <a:schemeClr val="tx1"/>
                </a:solidFill>
              </a:rPr>
              <a:t>p is the probability given to the true class. Confident, correct examples get a weight near 0, so training focuses on hard, rare ones. Larger γ focuses harder.</a:t>
            </a:r>
            <a:endParaRPr lang="en-US" sz="1100" dirty="0"/>
          </a:p>
          <a:p>
            <a:pPr marL="0" indent="0">
              <a:buNone/>
            </a:pPr>
            <a:r>
              <a:rPr lang="en-US" sz="1300" dirty="0">
                <a:solidFill>
                  <a:schemeClr val="tx1"/>
                </a:solidFill>
              </a:rPr>
              <a:t>Label smoothing: softens the 0/1 targets slightly.</a:t>
            </a:r>
            <a:endParaRPr lang="en-US" sz="1100" dirty="0"/>
          </a:p>
        </p:txBody>
      </p:sp>
      <p:sp>
        <p:nvSpPr>
          <p:cNvPr id="7" name="panel_5.5_1.65"/>
          <p:cNvSpPr/>
          <p:nvPr/>
        </p:nvSpPr>
        <p:spPr>
          <a:xfrm>
            <a:off x="5029200" y="1508760"/>
            <a:ext cx="6611112" cy="4754880"/>
          </a:xfrm>
          <a:prstGeom prst="roundRect">
            <a:avLst>
              <a:gd name="adj" fmla="val 1538"/>
            </a:avLst>
          </a:prstGeom>
          <a:solidFill>
            <a:schemeClr val="bg2"/>
          </a:solidFill>
          <a:ln/>
        </p:spPr>
        <p:txBody>
          <a:bodyPr/>
          <a:lstStyle/>
          <a:p>
            <a:endParaRPr lang="en-US"/>
          </a:p>
        </p:txBody>
      </p:sp>
      <p:sp>
        <p:nvSpPr>
          <p:cNvPr id="8" name="hl_axis"/>
          <p:cNvSpPr txBox="1"/>
          <p:nvPr/>
        </p:nvSpPr>
        <p:spPr>
          <a:xfrm>
            <a:off x="5257800" y="1627632"/>
            <a:ext cx="6126480" cy="320040"/>
          </a:xfrm>
          <a:prstGeom prst="rect">
            <a:avLst/>
          </a:prstGeom>
          <a:noFill/>
          <a:ln/>
        </p:spPr>
        <p:txBody>
          <a:bodyPr wrap="square" lIns="0" tIns="0" rIns="0" bIns="0" rtlCol="0" anchor="ctr"/>
          <a:lstStyle/>
          <a:p>
            <a:pPr marL="0" indent="0" algn="l">
              <a:buNone/>
            </a:pPr>
            <a:r>
              <a:rPr lang="en-US" sz="1200" dirty="0">
                <a:solidFill>
                  <a:schemeClr val="accent5"/>
                </a:solidFill>
              </a:rPr>
              <a:t>Validation Macro-F1 (%), bars start at 55%</a:t>
            </a:r>
            <a:endParaRPr lang="en-US" sz="1200" dirty="0"/>
          </a:p>
        </p:txBody>
      </p:sp>
      <p:sp>
        <p:nvSpPr>
          <p:cNvPr id="9" name="hl_l0"/>
          <p:cNvSpPr txBox="1"/>
          <p:nvPr/>
        </p:nvSpPr>
        <p:spPr>
          <a:xfrm>
            <a:off x="5257800" y="2057400"/>
            <a:ext cx="2514600" cy="457200"/>
          </a:xfrm>
          <a:prstGeom prst="rect">
            <a:avLst/>
          </a:prstGeom>
          <a:noFill/>
          <a:ln/>
        </p:spPr>
        <p:txBody>
          <a:bodyPr wrap="square" lIns="0" tIns="0" rIns="0" bIns="0" rtlCol="0" anchor="ctr"/>
          <a:lstStyle/>
          <a:p>
            <a:pPr marL="0" indent="0" algn="l">
              <a:buNone/>
            </a:pPr>
            <a:r>
              <a:rPr lang="en-US" sz="1400" dirty="0">
                <a:solidFill>
                  <a:schemeClr val="tx1"/>
                </a:solidFill>
              </a:rPr>
              <a:t>Conv + GroupNorm head</a:t>
            </a:r>
            <a:endParaRPr lang="en-US" sz="1400" dirty="0"/>
          </a:p>
        </p:txBody>
      </p:sp>
      <p:sp>
        <p:nvSpPr>
          <p:cNvPr id="10" name="b3d_hl_b0"/>
          <p:cNvSpPr/>
          <p:nvPr/>
        </p:nvSpPr>
        <p:spPr>
          <a:xfrm>
            <a:off x="7818120" y="2057400"/>
            <a:ext cx="2267712" cy="457200"/>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1" name="hl_v0"/>
          <p:cNvSpPr txBox="1"/>
          <p:nvPr/>
        </p:nvSpPr>
        <p:spPr>
          <a:xfrm>
            <a:off x="10195560" y="2057400"/>
            <a:ext cx="914400" cy="457200"/>
          </a:xfrm>
          <a:prstGeom prst="rect">
            <a:avLst/>
          </a:prstGeom>
          <a:noFill/>
          <a:ln/>
        </p:spPr>
        <p:txBody>
          <a:bodyPr wrap="square" lIns="0" tIns="0" rIns="0" bIns="0" rtlCol="0" anchor="ctr"/>
          <a:lstStyle/>
          <a:p>
            <a:pPr marL="0" indent="0" algn="l">
              <a:buNone/>
            </a:pPr>
            <a:r>
              <a:rPr lang="en-US" sz="1800" b="1" dirty="0">
                <a:solidFill>
                  <a:schemeClr val="tx1"/>
                </a:solidFill>
              </a:rPr>
              <a:t>64.92</a:t>
            </a:r>
            <a:endParaRPr lang="en-US" sz="1800" dirty="0"/>
          </a:p>
        </p:txBody>
      </p:sp>
      <p:sp>
        <p:nvSpPr>
          <p:cNvPr id="12" name="hl_l1"/>
          <p:cNvSpPr txBox="1"/>
          <p:nvPr/>
        </p:nvSpPr>
        <p:spPr>
          <a:xfrm>
            <a:off x="5257800" y="2679192"/>
            <a:ext cx="2514600" cy="457200"/>
          </a:xfrm>
          <a:prstGeom prst="rect">
            <a:avLst/>
          </a:prstGeom>
          <a:noFill/>
          <a:ln/>
        </p:spPr>
        <p:txBody>
          <a:bodyPr wrap="square" lIns="0" tIns="0" rIns="0" bIns="0" rtlCol="0" anchor="ctr"/>
          <a:lstStyle/>
          <a:p>
            <a:pPr marL="0" indent="0" algn="l">
              <a:buNone/>
            </a:pPr>
            <a:r>
              <a:rPr lang="en-US" sz="1400" dirty="0">
                <a:solidFill>
                  <a:schemeClr val="tx1"/>
                </a:solidFill>
              </a:rPr>
              <a:t>MLP head</a:t>
            </a:r>
            <a:endParaRPr lang="en-US" sz="1400" dirty="0"/>
          </a:p>
        </p:txBody>
      </p:sp>
      <p:sp>
        <p:nvSpPr>
          <p:cNvPr id="13" name="b3d_hl_b1"/>
          <p:cNvSpPr/>
          <p:nvPr/>
        </p:nvSpPr>
        <p:spPr>
          <a:xfrm>
            <a:off x="7818120" y="2679192"/>
            <a:ext cx="2242566" cy="457200"/>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4" name="hl_v1"/>
          <p:cNvSpPr txBox="1"/>
          <p:nvPr/>
        </p:nvSpPr>
        <p:spPr>
          <a:xfrm>
            <a:off x="10170414" y="2679192"/>
            <a:ext cx="914400" cy="457200"/>
          </a:xfrm>
          <a:prstGeom prst="rect">
            <a:avLst/>
          </a:prstGeom>
          <a:noFill/>
          <a:ln/>
        </p:spPr>
        <p:txBody>
          <a:bodyPr wrap="square" lIns="0" tIns="0" rIns="0" bIns="0" rtlCol="0" anchor="ctr"/>
          <a:lstStyle/>
          <a:p>
            <a:pPr marL="0" indent="0" algn="l">
              <a:buNone/>
            </a:pPr>
            <a:r>
              <a:rPr lang="en-US" sz="1800" b="1" dirty="0">
                <a:solidFill>
                  <a:schemeClr val="tx1"/>
                </a:solidFill>
              </a:rPr>
              <a:t>64.81</a:t>
            </a:r>
            <a:endParaRPr lang="en-US" sz="1800" dirty="0"/>
          </a:p>
        </p:txBody>
      </p:sp>
      <p:sp>
        <p:nvSpPr>
          <p:cNvPr id="15" name="hl_l2"/>
          <p:cNvSpPr txBox="1"/>
          <p:nvPr/>
        </p:nvSpPr>
        <p:spPr>
          <a:xfrm>
            <a:off x="5257800" y="3300984"/>
            <a:ext cx="2514600" cy="457200"/>
          </a:xfrm>
          <a:prstGeom prst="rect">
            <a:avLst/>
          </a:prstGeom>
          <a:noFill/>
          <a:ln/>
        </p:spPr>
        <p:txBody>
          <a:bodyPr wrap="square" lIns="0" tIns="0" rIns="0" bIns="0" rtlCol="0" anchor="ctr"/>
          <a:lstStyle/>
          <a:p>
            <a:pPr marL="0" indent="0" algn="l">
              <a:buNone/>
            </a:pPr>
            <a:r>
              <a:rPr lang="en-US" sz="1400" b="1" dirty="0">
                <a:solidFill>
                  <a:schemeClr val="tx1"/>
                </a:solidFill>
              </a:rPr>
              <a:t>Focal loss γ = 1</a:t>
            </a:r>
            <a:endParaRPr lang="en-US" sz="1400" dirty="0"/>
          </a:p>
        </p:txBody>
      </p:sp>
      <p:sp>
        <p:nvSpPr>
          <p:cNvPr id="16" name="b3d_hl_b2"/>
          <p:cNvSpPr/>
          <p:nvPr/>
        </p:nvSpPr>
        <p:spPr>
          <a:xfrm>
            <a:off x="7818120" y="3300984"/>
            <a:ext cx="2455164" cy="457200"/>
          </a:xfrm>
          <a:prstGeom prst="rect">
            <a:avLst/>
          </a:prstGeom>
          <a:solidFill>
            <a:schemeClr val="accent3"/>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7" name="hl_v2"/>
          <p:cNvSpPr txBox="1"/>
          <p:nvPr/>
        </p:nvSpPr>
        <p:spPr>
          <a:xfrm>
            <a:off x="10383012" y="3300984"/>
            <a:ext cx="914400" cy="457200"/>
          </a:xfrm>
          <a:prstGeom prst="rect">
            <a:avLst/>
          </a:prstGeom>
          <a:noFill/>
          <a:ln/>
        </p:spPr>
        <p:txBody>
          <a:bodyPr wrap="square" lIns="0" tIns="0" rIns="0" bIns="0" rtlCol="0" anchor="ctr"/>
          <a:lstStyle/>
          <a:p>
            <a:pPr marL="0" indent="0" algn="l">
              <a:buNone/>
            </a:pPr>
            <a:r>
              <a:rPr lang="en-US" sz="1800" b="1" dirty="0">
                <a:solidFill>
                  <a:schemeClr val="tx1"/>
                </a:solidFill>
              </a:rPr>
              <a:t>65.74</a:t>
            </a:r>
            <a:endParaRPr lang="en-US" sz="1800" dirty="0"/>
          </a:p>
        </p:txBody>
      </p:sp>
      <p:sp>
        <p:nvSpPr>
          <p:cNvPr id="18" name="hl_l3"/>
          <p:cNvSpPr txBox="1"/>
          <p:nvPr/>
        </p:nvSpPr>
        <p:spPr>
          <a:xfrm>
            <a:off x="5257800" y="3922776"/>
            <a:ext cx="2514600" cy="457200"/>
          </a:xfrm>
          <a:prstGeom prst="rect">
            <a:avLst/>
          </a:prstGeom>
          <a:noFill/>
          <a:ln/>
        </p:spPr>
        <p:txBody>
          <a:bodyPr wrap="square" lIns="0" tIns="0" rIns="0" bIns="0" rtlCol="0" anchor="ctr"/>
          <a:lstStyle/>
          <a:p>
            <a:pPr marL="0" indent="0" algn="l">
              <a:buNone/>
            </a:pPr>
            <a:r>
              <a:rPr lang="en-US" sz="1400" dirty="0">
                <a:solidFill>
                  <a:schemeClr val="tx1"/>
                </a:solidFill>
              </a:rPr>
              <a:t>Focal loss γ = 2</a:t>
            </a:r>
            <a:endParaRPr lang="en-US" sz="1400" dirty="0"/>
          </a:p>
        </p:txBody>
      </p:sp>
      <p:sp>
        <p:nvSpPr>
          <p:cNvPr id="19" name="b3d_hl_b3"/>
          <p:cNvSpPr/>
          <p:nvPr/>
        </p:nvSpPr>
        <p:spPr>
          <a:xfrm>
            <a:off x="7818120" y="3922776"/>
            <a:ext cx="2087118" cy="457200"/>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20" name="hl_v3"/>
          <p:cNvSpPr txBox="1"/>
          <p:nvPr/>
        </p:nvSpPr>
        <p:spPr>
          <a:xfrm>
            <a:off x="10014966" y="3922776"/>
            <a:ext cx="914400" cy="457200"/>
          </a:xfrm>
          <a:prstGeom prst="rect">
            <a:avLst/>
          </a:prstGeom>
          <a:noFill/>
          <a:ln/>
        </p:spPr>
        <p:txBody>
          <a:bodyPr wrap="square" lIns="0" tIns="0" rIns="0" bIns="0" rtlCol="0" anchor="ctr"/>
          <a:lstStyle/>
          <a:p>
            <a:pPr marL="0" indent="0" algn="l">
              <a:buNone/>
            </a:pPr>
            <a:r>
              <a:rPr lang="en-US" sz="1800" b="1" dirty="0">
                <a:solidFill>
                  <a:schemeClr val="tx1"/>
                </a:solidFill>
              </a:rPr>
              <a:t>64.13</a:t>
            </a:r>
            <a:endParaRPr lang="en-US" sz="1800" dirty="0"/>
          </a:p>
        </p:txBody>
      </p:sp>
      <p:sp>
        <p:nvSpPr>
          <p:cNvPr id="21" name="hl_l4"/>
          <p:cNvSpPr txBox="1"/>
          <p:nvPr/>
        </p:nvSpPr>
        <p:spPr>
          <a:xfrm>
            <a:off x="5257800" y="4544568"/>
            <a:ext cx="2514600" cy="457200"/>
          </a:xfrm>
          <a:prstGeom prst="rect">
            <a:avLst/>
          </a:prstGeom>
          <a:noFill/>
          <a:ln/>
        </p:spPr>
        <p:txBody>
          <a:bodyPr wrap="square" lIns="0" tIns="0" rIns="0" bIns="0" rtlCol="0" anchor="ctr"/>
          <a:lstStyle/>
          <a:p>
            <a:pPr marL="0" indent="0" algn="l">
              <a:buNone/>
            </a:pPr>
            <a:r>
              <a:rPr lang="en-US" sz="1400" dirty="0">
                <a:solidFill>
                  <a:schemeClr val="tx1"/>
                </a:solidFill>
              </a:rPr>
              <a:t>Focal γ = 2 + smoothing</a:t>
            </a:r>
            <a:endParaRPr lang="en-US" sz="1400" dirty="0"/>
          </a:p>
        </p:txBody>
      </p:sp>
      <p:sp>
        <p:nvSpPr>
          <p:cNvPr id="22" name="b3d_hl_b4"/>
          <p:cNvSpPr/>
          <p:nvPr/>
        </p:nvSpPr>
        <p:spPr>
          <a:xfrm>
            <a:off x="7818120" y="4544568"/>
            <a:ext cx="2009394" cy="457200"/>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23" name="hl_v4"/>
          <p:cNvSpPr txBox="1"/>
          <p:nvPr/>
        </p:nvSpPr>
        <p:spPr>
          <a:xfrm>
            <a:off x="9937242" y="4544568"/>
            <a:ext cx="914400" cy="457200"/>
          </a:xfrm>
          <a:prstGeom prst="rect">
            <a:avLst/>
          </a:prstGeom>
          <a:noFill/>
          <a:ln/>
        </p:spPr>
        <p:txBody>
          <a:bodyPr wrap="square" lIns="0" tIns="0" rIns="0" bIns="0" rtlCol="0" anchor="ctr"/>
          <a:lstStyle/>
          <a:p>
            <a:pPr marL="0" indent="0" algn="l">
              <a:buNone/>
            </a:pPr>
            <a:r>
              <a:rPr lang="en-US" sz="1800" b="1" dirty="0">
                <a:solidFill>
                  <a:schemeClr val="tx1"/>
                </a:solidFill>
              </a:rPr>
              <a:t>63.79</a:t>
            </a:r>
            <a:endParaRPr lang="en-US" sz="1800" dirty="0"/>
          </a:p>
        </p:txBody>
      </p:sp>
      <p:sp>
        <p:nvSpPr>
          <p:cNvPr id="24" name="hl_ins"/>
          <p:cNvSpPr txBox="1"/>
          <p:nvPr/>
        </p:nvSpPr>
        <p:spPr>
          <a:xfrm>
            <a:off x="5257800" y="5257800"/>
            <a:ext cx="6153912" cy="868680"/>
          </a:xfrm>
          <a:prstGeom prst="roundRect">
            <a:avLst>
              <a:gd name="adj" fmla="val 8421"/>
            </a:avLst>
          </a:prstGeom>
          <a:solidFill>
            <a:schemeClr val="accent1"/>
          </a:solidFill>
          <a:ln/>
          <a:effectLst>
            <a:outerShdw blurRad="101600" dist="38100" dir="5400000" algn="bl" rotWithShape="0">
              <a:srgbClr val="1B2433">
                <a:alpha val="16000"/>
              </a:srgbClr>
            </a:outerShdw>
          </a:effectLst>
        </p:spPr>
        <p:txBody>
          <a:bodyPr wrap="square" lIns="101600" tIns="101600" rIns="101600" bIns="101600" rtlCol="0" anchor="ctr"/>
          <a:lstStyle/>
          <a:p>
            <a:pPr marL="0" indent="0" algn="l">
              <a:buNone/>
            </a:pPr>
            <a:r>
              <a:rPr lang="en-US" sz="1300" dirty="0">
                <a:solidFill>
                  <a:schemeClr val="bg1"/>
                </a:solidFill>
              </a:rPr>
              <a:t>Largest recorded gain of the study: 60.00 to 65.74 Macro-F1. The Conv + GroupNorm head had the best accuracy (73.88%) and balanced accuracy (65.72%). These were separate runs, so I read them as direction, not proof.</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700"/>
                                        <p:tgtEl>
                                          <p:spTgt spid="10"/>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2" presetClass="entr" presetSubtype="8" fill="hold" grpId="0" nodeType="withEffect">
                                  <p:stCondLst>
                                    <p:cond delay="3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700"/>
                                        <p:tgtEl>
                                          <p:spTgt spid="13"/>
                                        </p:tgtEl>
                                      </p:cBhvr>
                                    </p:animEffect>
                                  </p:childTnLst>
                                </p:cTn>
                              </p:par>
                              <p:par>
                                <p:cTn id="23" presetID="10" presetClass="entr" presetSubtype="0" fill="hold" grpId="0" nodeType="withEffect">
                                  <p:stCondLst>
                                    <p:cond delay="80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txEl>
                                              <p:charRg st="4294967295" end="4294967295"/>
                                            </p:txEl>
                                          </p:spTgt>
                                        </p:tgtEl>
                                        <p:attrNameLst>
                                          <p:attrName>style.visibility</p:attrName>
                                        </p:attrNameLst>
                                      </p:cBhvr>
                                      <p:to>
                                        <p:strVal val="visible"/>
                                      </p:to>
                                    </p:set>
                                    <p:anim calcmode="lin" valueType="num">
                                      <p:cBhvr additive="base">
                                        <p:cTn id="33" dur="600" fill="hold"/>
                                        <p:tgtEl>
                                          <p:spTgt spid="6">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34" dur="600" fill="hold"/>
                                        <p:tgtEl>
                                          <p:spTgt spid="6">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700"/>
                                        <p:tgtEl>
                                          <p:spTgt spid="16"/>
                                        </p:tgtEl>
                                      </p:cBhvr>
                                    </p:animEffect>
                                  </p:childTnLst>
                                </p:cTn>
                              </p:par>
                              <p:par>
                                <p:cTn id="40" presetID="10" presetClass="entr" presetSubtype="0" fill="hold" grpId="0" nodeType="withEffect">
                                  <p:stCondLst>
                                    <p:cond delay="500"/>
                                  </p:stCondLst>
                                  <p:childTnLst>
                                    <p:set>
                                      <p:cBhvr>
                                        <p:cTn id="41" dur="1" fill="hold">
                                          <p:stCondLst>
                                            <p:cond delay="0"/>
                                          </p:stCondLst>
                                        </p:cTn>
                                        <p:tgtEl>
                                          <p:spTgt spid="17">
                                            <p:txEl>
                                              <p:charRg st="4294967295" end="4294967295"/>
                                            </p:txEl>
                                          </p:spTgt>
                                        </p:tgtEl>
                                        <p:attrNameLst>
                                          <p:attrName>style.visibility</p:attrName>
                                        </p:attrNameLst>
                                      </p:cBhvr>
                                      <p:to>
                                        <p:strVal val="visible"/>
                                      </p:to>
                                    </p:set>
                                    <p:animEffect transition="in" filter="fade">
                                      <p:cBhvr>
                                        <p:cTn id="42" dur="500"/>
                                        <p:tgtEl>
                                          <p:spTgt spid="17">
                                            <p:txEl>
                                              <p:charRg st="4294967295" end="4294967295"/>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22" presetClass="entr" presetSubtype="8" fill="hold" grpId="0" nodeType="withEffect">
                                  <p:stCondLst>
                                    <p:cond delay="60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700"/>
                                        <p:tgtEl>
                                          <p:spTgt spid="19"/>
                                        </p:tgtEl>
                                      </p:cBhvr>
                                    </p:animEffect>
                                  </p:childTnLst>
                                </p:cTn>
                              </p:par>
                              <p:par>
                                <p:cTn id="49" presetID="10" presetClass="entr" presetSubtype="0" fill="hold" grpId="0" nodeType="withEffect">
                                  <p:stCondLst>
                                    <p:cond delay="110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60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22" presetClass="entr" presetSubtype="8" fill="hold" grpId="0" nodeType="withEffect">
                                  <p:stCondLst>
                                    <p:cond delay="90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700"/>
                                        <p:tgtEl>
                                          <p:spTgt spid="22"/>
                                        </p:tgtEl>
                                      </p:cBhvr>
                                    </p:animEffect>
                                  </p:childTnLst>
                                </p:cTn>
                              </p:par>
                              <p:par>
                                <p:cTn id="58" presetID="10" presetClass="entr" presetSubtype="0"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90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 calcmode="lin" valueType="num">
                                      <p:cBhvr additive="base">
                                        <p:cTn id="68" dur="600" fill="hold"/>
                                        <p:tgtEl>
                                          <p:spTgt spid="24"/>
                                        </p:tgtEl>
                                        <p:attrNameLst>
                                          <p:attrName>ppt_x</p:attrName>
                                        </p:attrNameLst>
                                      </p:cBhvr>
                                      <p:tavLst>
                                        <p:tav tm="0">
                                          <p:val>
                                            <p:strVal val="#ppt_x"/>
                                          </p:val>
                                        </p:tav>
                                        <p:tav tm="100000">
                                          <p:val>
                                            <p:strVal val="#ppt_x"/>
                                          </p:val>
                                        </p:tav>
                                      </p:tavLst>
                                    </p:anim>
                                    <p:anim calcmode="lin" valueType="num">
                                      <p:cBhvr additive="base">
                                        <p:cTn id="69" dur="6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animBg="1"/>
      <p:bldP spid="11" grpId="0" animBg="1"/>
      <p:bldP spid="12" grpId="0" animBg="1"/>
      <p:bldP spid="13" grpId="0" animBg="1"/>
      <p:bldP spid="14" grpId="0" animBg="1"/>
      <p:bldP spid="15" grpId="0" animBg="1"/>
      <p:bldP spid="16" grpId="0" animBg="1"/>
      <p:bldP spid="17" grpId="0"/>
      <p:bldP spid="18" grpId="0" animBg="1"/>
      <p:bldP spid="19" grpId="0" animBg="1"/>
      <p:bldP spid="20" grpId="0" animBg="1"/>
      <p:bldP spid="21" grpId="0" animBg="1"/>
      <p:bldP spid="22"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STAGE 4 OF 4  |  AUGMENTATION</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Augmentation: three training pipelines</a:t>
            </a:r>
            <a:endParaRPr lang="en-US" sz="3600" dirty="0"/>
          </a:p>
        </p:txBody>
      </p:sp>
      <p:sp>
        <p:nvSpPr>
          <p:cNvPr id="5" name="au_def"/>
          <p:cNvSpPr txBox="1"/>
          <p:nvPr/>
        </p:nvSpPr>
        <p:spPr>
          <a:xfrm>
            <a:off x="548640" y="1508760"/>
            <a:ext cx="11091672" cy="1005840"/>
          </a:xfrm>
          <a:prstGeom prst="roundRect">
            <a:avLst>
              <a:gd name="adj" fmla="val 7273"/>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ctr"/>
          <a:lstStyle/>
          <a:p>
            <a:pPr marL="0" indent="0" algn="l">
              <a:buNone/>
            </a:pPr>
            <a:r>
              <a:rPr lang="en-US" sz="1600" b="1" dirty="0">
                <a:solidFill>
                  <a:schemeClr val="accent3"/>
                </a:solidFill>
              </a:rPr>
              <a:t>Augmentation: </a:t>
            </a:r>
            <a:r>
              <a:rPr lang="en-US" sz="1600" dirty="0">
                <a:solidFill>
                  <a:schemeClr val="tx1"/>
                </a:solidFill>
              </a:rPr>
              <a:t>show the model a slightly changed copy of a training image, keeping its label. Validation and test images are never augmented. Same model and loss in all three runs (focal loss, γ = 1).</a:t>
            </a:r>
            <a:endParaRPr lang="en-US" sz="1600" dirty="0"/>
          </a:p>
        </p:txBody>
      </p:sp>
      <p:sp>
        <p:nvSpPr>
          <p:cNvPr id="6" name="au_c0"/>
          <p:cNvSpPr txBox="1"/>
          <p:nvPr/>
        </p:nvSpPr>
        <p:spPr>
          <a:xfrm>
            <a:off x="548640" y="2697480"/>
            <a:ext cx="3520440" cy="2697480"/>
          </a:xfrm>
          <a:prstGeom prst="roundRect">
            <a:avLst>
              <a:gd name="adj" fmla="val 2712"/>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200"/>
              </a:spcAft>
              <a:buNone/>
            </a:pPr>
            <a:r>
              <a:rPr lang="en-US" sz="1800" b="1" dirty="0">
                <a:solidFill>
                  <a:schemeClr val="tx2"/>
                </a:solidFill>
              </a:rPr>
              <a:t>Baseline</a:t>
            </a:r>
            <a:endParaRPr lang="en-US" sz="1800" dirty="0"/>
          </a:p>
          <a:p>
            <a:pPr marL="0" indent="0" algn="l">
              <a:spcAft>
                <a:spcPts val="800"/>
              </a:spcAft>
              <a:buNone/>
            </a:pPr>
            <a:r>
              <a:rPr lang="en-US" sz="1400" dirty="0">
                <a:solidFill>
                  <a:schemeClr val="tx1"/>
                </a:solidFill>
              </a:rPr>
              <a:t>The reference training transform.</a:t>
            </a:r>
            <a:endParaRPr lang="en-US" sz="1800" dirty="0"/>
          </a:p>
          <a:p>
            <a:pPr marL="0" indent="0" algn="l">
              <a:buNone/>
            </a:pPr>
            <a:r>
              <a:rPr lang="en-US" sz="1500" dirty="0">
                <a:solidFill>
                  <a:schemeClr val="tx1"/>
                </a:solidFill>
              </a:rPr>
              <a:t>Macro-F1   </a:t>
            </a:r>
            <a:r>
              <a:rPr lang="en-US" sz="1500" b="1" dirty="0">
                <a:solidFill>
                  <a:schemeClr val="tx1"/>
                </a:solidFill>
              </a:rPr>
              <a:t>64.07%</a:t>
            </a:r>
            <a:endParaRPr lang="en-US" sz="1800" dirty="0"/>
          </a:p>
          <a:p>
            <a:pPr marL="0" indent="0" algn="l">
              <a:buNone/>
            </a:pPr>
            <a:r>
              <a:rPr lang="en-US" sz="1500" dirty="0">
                <a:solidFill>
                  <a:schemeClr val="tx1"/>
                </a:solidFill>
              </a:rPr>
              <a:t>Balanced accuracy   </a:t>
            </a:r>
            <a:r>
              <a:rPr lang="en-US" sz="1500" b="1" dirty="0">
                <a:solidFill>
                  <a:schemeClr val="tx1"/>
                </a:solidFill>
              </a:rPr>
              <a:t>63.32%</a:t>
            </a:r>
            <a:endParaRPr lang="en-US" sz="1800" dirty="0"/>
          </a:p>
          <a:p>
            <a:pPr marL="0" indent="0" algn="l">
              <a:buNone/>
            </a:pPr>
            <a:r>
              <a:rPr lang="en-US" sz="1500" dirty="0">
                <a:solidFill>
                  <a:schemeClr val="tx1"/>
                </a:solidFill>
              </a:rPr>
              <a:t>Accuracy   </a:t>
            </a:r>
            <a:r>
              <a:rPr lang="en-US" sz="1500" b="1" dirty="0">
                <a:solidFill>
                  <a:schemeClr val="accent3"/>
                </a:solidFill>
              </a:rPr>
              <a:t>72.73%</a:t>
            </a:r>
            <a:endParaRPr lang="en-US" sz="1800" dirty="0"/>
          </a:p>
          <a:p>
            <a:pPr marL="0" indent="0" algn="l">
              <a:buNone/>
            </a:pPr>
            <a:r>
              <a:rPr lang="en-US" sz="1500" dirty="0">
                <a:solidFill>
                  <a:schemeClr val="tx1"/>
                </a:solidFill>
              </a:rPr>
              <a:t>Training time   </a:t>
            </a:r>
            <a:r>
              <a:rPr lang="en-US" sz="1500" b="1" dirty="0">
                <a:solidFill>
                  <a:schemeClr val="tx1"/>
                </a:solidFill>
              </a:rPr>
              <a:t>422.6 s</a:t>
            </a:r>
            <a:endParaRPr lang="en-US" sz="1800" dirty="0"/>
          </a:p>
          <a:p>
            <a:pPr marL="0" indent="0" algn="l">
              <a:buNone/>
            </a:pPr>
            <a:r>
              <a:rPr lang="en-US" sz="1500" dirty="0">
                <a:solidFill>
                  <a:schemeClr val="tx1"/>
                </a:solidFill>
              </a:rPr>
              <a:t>Best epoch   </a:t>
            </a:r>
            <a:r>
              <a:rPr lang="en-US" sz="1500" b="1" dirty="0">
                <a:solidFill>
                  <a:schemeClr val="tx1"/>
                </a:solidFill>
              </a:rPr>
              <a:t>6</a:t>
            </a:r>
            <a:endParaRPr lang="en-US" sz="1800" dirty="0"/>
          </a:p>
        </p:txBody>
      </p:sp>
      <p:sp>
        <p:nvSpPr>
          <p:cNvPr id="7" name="au_c1"/>
          <p:cNvSpPr txBox="1"/>
          <p:nvPr/>
        </p:nvSpPr>
        <p:spPr>
          <a:xfrm>
            <a:off x="4334256" y="2697480"/>
            <a:ext cx="3520440" cy="2697480"/>
          </a:xfrm>
          <a:prstGeom prst="roundRect">
            <a:avLst>
              <a:gd name="adj" fmla="val 2712"/>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200"/>
              </a:spcAft>
              <a:buNone/>
            </a:pPr>
            <a:r>
              <a:rPr lang="en-US" sz="1800" b="1" dirty="0">
                <a:solidFill>
                  <a:schemeClr val="tx2"/>
                </a:solidFill>
              </a:rPr>
              <a:t>Realistic</a:t>
            </a:r>
            <a:endParaRPr lang="en-US" sz="1800" dirty="0"/>
          </a:p>
          <a:p>
            <a:pPr marL="0" indent="0" algn="l">
              <a:spcAft>
                <a:spcPts val="800"/>
              </a:spcAft>
              <a:buNone/>
            </a:pPr>
            <a:r>
              <a:rPr lang="en-US" sz="1400" dirty="0">
                <a:solidFill>
                  <a:schemeClr val="tx1"/>
                </a:solidFill>
              </a:rPr>
              <a:t>Modest changes meant to resemble real capture conditions.</a:t>
            </a:r>
            <a:endParaRPr lang="en-US" sz="1800" dirty="0"/>
          </a:p>
          <a:p>
            <a:pPr marL="0" indent="0" algn="l">
              <a:buNone/>
            </a:pPr>
            <a:r>
              <a:rPr lang="en-US" sz="1500" dirty="0">
                <a:solidFill>
                  <a:schemeClr val="tx1"/>
                </a:solidFill>
              </a:rPr>
              <a:t>Macro-F1   </a:t>
            </a:r>
            <a:r>
              <a:rPr lang="en-US" sz="1500" b="1" dirty="0">
                <a:solidFill>
                  <a:schemeClr val="accent3"/>
                </a:solidFill>
              </a:rPr>
              <a:t>64.18%</a:t>
            </a:r>
            <a:endParaRPr lang="en-US" sz="1800" dirty="0"/>
          </a:p>
          <a:p>
            <a:pPr marL="0" indent="0" algn="l">
              <a:buNone/>
            </a:pPr>
            <a:r>
              <a:rPr lang="en-US" sz="1500" dirty="0">
                <a:solidFill>
                  <a:schemeClr val="tx1"/>
                </a:solidFill>
              </a:rPr>
              <a:t>Balanced accuracy   </a:t>
            </a:r>
            <a:r>
              <a:rPr lang="en-US" sz="1500" b="1" dirty="0">
                <a:solidFill>
                  <a:schemeClr val="tx1"/>
                </a:solidFill>
              </a:rPr>
              <a:t>65.60%</a:t>
            </a:r>
            <a:endParaRPr lang="en-US" sz="1800" dirty="0"/>
          </a:p>
          <a:p>
            <a:pPr marL="0" indent="0" algn="l">
              <a:buNone/>
            </a:pPr>
            <a:r>
              <a:rPr lang="en-US" sz="1500" dirty="0">
                <a:solidFill>
                  <a:schemeClr val="tx1"/>
                </a:solidFill>
              </a:rPr>
              <a:t>Accuracy   </a:t>
            </a:r>
            <a:r>
              <a:rPr lang="en-US" sz="1500" b="1" dirty="0">
                <a:solidFill>
                  <a:schemeClr val="tx1"/>
                </a:solidFill>
              </a:rPr>
              <a:t>71.72%</a:t>
            </a:r>
            <a:endParaRPr lang="en-US" sz="1800" dirty="0"/>
          </a:p>
          <a:p>
            <a:pPr marL="0" indent="0" algn="l">
              <a:buNone/>
            </a:pPr>
            <a:r>
              <a:rPr lang="en-US" sz="1500" dirty="0">
                <a:solidFill>
                  <a:schemeClr val="tx1"/>
                </a:solidFill>
              </a:rPr>
              <a:t>Training time   </a:t>
            </a:r>
            <a:r>
              <a:rPr lang="en-US" sz="1500" b="1" dirty="0">
                <a:solidFill>
                  <a:schemeClr val="tx1"/>
                </a:solidFill>
              </a:rPr>
              <a:t>449.5 s</a:t>
            </a:r>
            <a:endParaRPr lang="en-US" sz="1800" dirty="0"/>
          </a:p>
          <a:p>
            <a:pPr marL="0" indent="0" algn="l">
              <a:buNone/>
            </a:pPr>
            <a:r>
              <a:rPr lang="en-US" sz="1500" dirty="0">
                <a:solidFill>
                  <a:schemeClr val="tx1"/>
                </a:solidFill>
              </a:rPr>
              <a:t>Best epoch   </a:t>
            </a:r>
            <a:r>
              <a:rPr lang="en-US" sz="1500" b="1" dirty="0">
                <a:solidFill>
                  <a:schemeClr val="tx1"/>
                </a:solidFill>
              </a:rPr>
              <a:t>5</a:t>
            </a:r>
            <a:endParaRPr lang="en-US" sz="1800" dirty="0"/>
          </a:p>
        </p:txBody>
      </p:sp>
      <p:sp>
        <p:nvSpPr>
          <p:cNvPr id="8" name="au_c2"/>
          <p:cNvSpPr txBox="1"/>
          <p:nvPr/>
        </p:nvSpPr>
        <p:spPr>
          <a:xfrm>
            <a:off x="8119872" y="2697480"/>
            <a:ext cx="3520440" cy="2697480"/>
          </a:xfrm>
          <a:prstGeom prst="roundRect">
            <a:avLst>
              <a:gd name="adj" fmla="val 2712"/>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200"/>
              </a:spcAft>
              <a:buNone/>
            </a:pPr>
            <a:r>
              <a:rPr lang="en-US" sz="1800" b="1" dirty="0">
                <a:solidFill>
                  <a:schemeClr val="tx2"/>
                </a:solidFill>
              </a:rPr>
              <a:t>RandAugment</a:t>
            </a:r>
            <a:endParaRPr lang="en-US" sz="1800" dirty="0"/>
          </a:p>
          <a:p>
            <a:pPr marL="0" indent="0" algn="l">
              <a:spcAft>
                <a:spcPts val="800"/>
              </a:spcAft>
              <a:buNone/>
            </a:pPr>
            <a:r>
              <a:rPr lang="en-US" sz="1400" dirty="0">
                <a:solidFill>
                  <a:schemeClr val="tx1"/>
                </a:solidFill>
              </a:rPr>
              <a:t>Random mix of operations (rotation, shear, contrast).</a:t>
            </a:r>
            <a:endParaRPr lang="en-US" sz="1800" dirty="0"/>
          </a:p>
          <a:p>
            <a:pPr marL="0" indent="0" algn="l">
              <a:buNone/>
            </a:pPr>
            <a:r>
              <a:rPr lang="en-US" sz="1500" dirty="0">
                <a:solidFill>
                  <a:schemeClr val="tx1"/>
                </a:solidFill>
              </a:rPr>
              <a:t>Macro-F1   </a:t>
            </a:r>
            <a:r>
              <a:rPr lang="en-US" sz="1500" b="1" dirty="0">
                <a:solidFill>
                  <a:schemeClr val="tx1"/>
                </a:solidFill>
              </a:rPr>
              <a:t>63.53%</a:t>
            </a:r>
            <a:endParaRPr lang="en-US" sz="1800" dirty="0"/>
          </a:p>
          <a:p>
            <a:pPr marL="0" indent="0" algn="l">
              <a:buNone/>
            </a:pPr>
            <a:r>
              <a:rPr lang="en-US" sz="1500" dirty="0">
                <a:solidFill>
                  <a:schemeClr val="tx1"/>
                </a:solidFill>
              </a:rPr>
              <a:t>Balanced accuracy   </a:t>
            </a:r>
            <a:r>
              <a:rPr lang="en-US" sz="1500" b="1" dirty="0">
                <a:solidFill>
                  <a:schemeClr val="accent3"/>
                </a:solidFill>
              </a:rPr>
              <a:t>66.38%</a:t>
            </a:r>
            <a:endParaRPr lang="en-US" sz="1800" dirty="0"/>
          </a:p>
          <a:p>
            <a:pPr marL="0" indent="0" algn="l">
              <a:buNone/>
            </a:pPr>
            <a:r>
              <a:rPr lang="en-US" sz="1500" dirty="0">
                <a:solidFill>
                  <a:schemeClr val="tx1"/>
                </a:solidFill>
              </a:rPr>
              <a:t>Accuracy   </a:t>
            </a:r>
            <a:r>
              <a:rPr lang="en-US" sz="1500" b="1" dirty="0">
                <a:solidFill>
                  <a:schemeClr val="tx1"/>
                </a:solidFill>
              </a:rPr>
              <a:t>68.98%</a:t>
            </a:r>
            <a:endParaRPr lang="en-US" sz="1800" dirty="0"/>
          </a:p>
          <a:p>
            <a:pPr marL="0" indent="0" algn="l">
              <a:buNone/>
            </a:pPr>
            <a:r>
              <a:rPr lang="en-US" sz="1500" dirty="0">
                <a:solidFill>
                  <a:schemeClr val="tx1"/>
                </a:solidFill>
              </a:rPr>
              <a:t>Training time   </a:t>
            </a:r>
            <a:r>
              <a:rPr lang="en-US" sz="1500" b="1" dirty="0">
                <a:solidFill>
                  <a:schemeClr val="tx1"/>
                </a:solidFill>
              </a:rPr>
              <a:t>286.9 s</a:t>
            </a:r>
            <a:endParaRPr lang="en-US" sz="1800" dirty="0"/>
          </a:p>
          <a:p>
            <a:pPr marL="0" indent="0" algn="l">
              <a:buNone/>
            </a:pPr>
            <a:r>
              <a:rPr lang="en-US" sz="1500" dirty="0">
                <a:solidFill>
                  <a:schemeClr val="tx1"/>
                </a:solidFill>
              </a:rPr>
              <a:t>Best epoch   </a:t>
            </a:r>
            <a:r>
              <a:rPr lang="en-US" sz="1500" b="1" dirty="0">
                <a:solidFill>
                  <a:schemeClr val="tx1"/>
                </a:solidFill>
              </a:rPr>
              <a:t>3</a:t>
            </a:r>
            <a:endParaRPr lang="en-US" sz="1800" dirty="0"/>
          </a:p>
        </p:txBody>
      </p:sp>
      <p:sp>
        <p:nvSpPr>
          <p:cNvPr id="9" name="au_dec"/>
          <p:cNvSpPr txBox="1"/>
          <p:nvPr/>
        </p:nvSpPr>
        <p:spPr>
          <a:xfrm>
            <a:off x="548640" y="5532120"/>
            <a:ext cx="11091672" cy="777240"/>
          </a:xfrm>
          <a:prstGeom prst="roundRect">
            <a:avLst>
              <a:gd name="adj" fmla="val 9412"/>
            </a:avLst>
          </a:prstGeom>
          <a:solidFill>
            <a:schemeClr val="accent1"/>
          </a:solidFill>
          <a:ln/>
          <a:effectLst>
            <a:outerShdw blurRad="101600" dist="38100" dir="5400000" algn="bl" rotWithShape="0">
              <a:srgbClr val="1B2433">
                <a:alpha val="16000"/>
              </a:srgbClr>
            </a:outerShdw>
          </a:effectLst>
        </p:spPr>
        <p:txBody>
          <a:bodyPr wrap="square" lIns="127000" tIns="127000" rIns="127000" bIns="127000" rtlCol="0" anchor="ctr"/>
          <a:lstStyle/>
          <a:p>
            <a:pPr marL="0" indent="0" algn="l">
              <a:buNone/>
            </a:pPr>
            <a:r>
              <a:rPr lang="en-US" sz="1500" b="1" dirty="0">
                <a:solidFill>
                  <a:schemeClr val="bg1"/>
                </a:solidFill>
              </a:rPr>
              <a:t>Selected: Realistic. </a:t>
            </a:r>
            <a:r>
              <a:rPr lang="en-US" sz="1500" dirty="0">
                <a:solidFill>
                  <a:schemeClr val="bg1"/>
                </a:solidFill>
              </a:rPr>
              <a:t>Highest Macro-F1, but only +0.11 over baseline. RandAugment led balanced accuracy and trained fastest. Amber values mark the best in each metric.</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600" fill="hold"/>
                                        <p:tgtEl>
                                          <p:spTgt spid="6"/>
                                        </p:tgtEl>
                                        <p:attrNameLst>
                                          <p:attrName>ppt_x</p:attrName>
                                        </p:attrNameLst>
                                      </p:cBhvr>
                                      <p:tavLst>
                                        <p:tav tm="0">
                                          <p:val>
                                            <p:strVal val="#ppt_x"/>
                                          </p:val>
                                        </p:tav>
                                        <p:tav tm="100000">
                                          <p:val>
                                            <p:strVal val="#ppt_x"/>
                                          </p:val>
                                        </p:tav>
                                      </p:tavLst>
                                    </p:anim>
                                    <p:anim calcmode="lin" valueType="num">
                                      <p:cBhvr additive="base">
                                        <p:cTn id="14" dur="6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charRg st="4294967295" end="4294967295"/>
                                            </p:txEl>
                                          </p:spTgt>
                                        </p:tgtEl>
                                        <p:attrNameLst>
                                          <p:attrName>style.visibility</p:attrName>
                                        </p:attrNameLst>
                                      </p:cBhvr>
                                      <p:to>
                                        <p:strVal val="visible"/>
                                      </p:to>
                                    </p:set>
                                    <p:anim calcmode="lin" valueType="num">
                                      <p:cBhvr additive="base">
                                        <p:cTn id="19" dur="600" fill="hold"/>
                                        <p:tgtEl>
                                          <p:spTgt spid="7">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20" dur="600" fill="hold"/>
                                        <p:tgtEl>
                                          <p:spTgt spid="7">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600" fill="hold"/>
                                        <p:tgtEl>
                                          <p:spTgt spid="8"/>
                                        </p:tgtEl>
                                        <p:attrNameLst>
                                          <p:attrName>ppt_x</p:attrName>
                                        </p:attrNameLst>
                                      </p:cBhvr>
                                      <p:tavLst>
                                        <p:tav tm="0">
                                          <p:val>
                                            <p:strVal val="#ppt_x"/>
                                          </p:val>
                                        </p:tav>
                                        <p:tav tm="100000">
                                          <p:val>
                                            <p:strVal val="#ppt_x"/>
                                          </p:val>
                                        </p:tav>
                                      </p:tavLst>
                                    </p:anim>
                                    <p:anim calcmode="lin" valueType="num">
                                      <p:cBhvr additive="base">
                                        <p:cTn id="26" dur="6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p:tgtEl>
                                          <p:spTgt spid="9"/>
                                        </p:tgtEl>
                                        <p:attrNameLst>
                                          <p:attrName>ppt_x</p:attrName>
                                        </p:attrNameLst>
                                      </p:cBhvr>
                                      <p:tavLst>
                                        <p:tav tm="0">
                                          <p:val>
                                            <p:strVal val="#ppt_x"/>
                                          </p:val>
                                        </p:tav>
                                        <p:tav tm="100000">
                                          <p:val>
                                            <p:strVal val="#ppt_x"/>
                                          </p:val>
                                        </p:tav>
                                      </p:tavLst>
                                    </p:anim>
                                    <p:anim calcmode="lin" valueType="num">
                                      <p:cBhvr additive="base">
                                        <p:cTn id="32" dur="6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THE JOURNEY</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The full journey in one view</a:t>
            </a:r>
            <a:endParaRPr lang="en-US" sz="3600" dirty="0"/>
          </a:p>
        </p:txBody>
      </p:sp>
      <p:sp>
        <p:nvSpPr>
          <p:cNvPr id="5" name="jr_axis"/>
          <p:cNvSpPr txBox="1"/>
          <p:nvPr/>
        </p:nvSpPr>
        <p:spPr>
          <a:xfrm>
            <a:off x="548640" y="1417320"/>
            <a:ext cx="5486400" cy="274320"/>
          </a:xfrm>
          <a:prstGeom prst="rect">
            <a:avLst/>
          </a:prstGeom>
          <a:noFill/>
          <a:ln/>
        </p:spPr>
        <p:txBody>
          <a:bodyPr wrap="square" lIns="0" tIns="0" rIns="0" bIns="0" rtlCol="0" anchor="ctr"/>
          <a:lstStyle/>
          <a:p>
            <a:pPr marL="0" indent="0" algn="l">
              <a:buNone/>
            </a:pPr>
            <a:r>
              <a:rPr lang="en-US" sz="1200" dirty="0">
                <a:solidFill>
                  <a:schemeClr val="accent5"/>
                </a:solidFill>
              </a:rPr>
              <a:t>Validation Macro-F1 (%). Vertical axis starts at 57.</a:t>
            </a:r>
            <a:endParaRPr lang="en-US" sz="1200" dirty="0"/>
          </a:p>
        </p:txBody>
      </p:sp>
      <p:sp>
        <p:nvSpPr>
          <p:cNvPr id="6" name="b3d_jr_p0"/>
          <p:cNvSpPr/>
          <p:nvPr/>
        </p:nvSpPr>
        <p:spPr>
          <a:xfrm>
            <a:off x="1188720" y="4256532"/>
            <a:ext cx="365760" cy="365760"/>
          </a:xfrm>
          <a:prstGeom prst="ellipse">
            <a:avLst/>
          </a:prstGeom>
          <a:solidFill>
            <a:schemeClr val="accent1"/>
          </a:solidFill>
          <a:ln w="25400">
            <a:solidFill>
              <a:schemeClr val="bg1"/>
            </a:solidFill>
            <a:prstDash val="solid"/>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7" name="jr_v0"/>
          <p:cNvSpPr txBox="1"/>
          <p:nvPr/>
        </p:nvSpPr>
        <p:spPr>
          <a:xfrm>
            <a:off x="640080" y="3817620"/>
            <a:ext cx="1463040" cy="365760"/>
          </a:xfrm>
          <a:prstGeom prst="rect">
            <a:avLst/>
          </a:prstGeom>
          <a:noFill/>
          <a:ln/>
        </p:spPr>
        <p:txBody>
          <a:bodyPr wrap="square" lIns="0" tIns="0" rIns="0" bIns="0" rtlCol="0" anchor="ctr"/>
          <a:lstStyle/>
          <a:p>
            <a:pPr marL="0" indent="0" algn="ctr">
              <a:buNone/>
            </a:pPr>
            <a:r>
              <a:rPr lang="en-US" sz="2000" b="1" dirty="0">
                <a:solidFill>
                  <a:schemeClr val="tx2"/>
                </a:solidFill>
              </a:rPr>
              <a:t>57.30</a:t>
            </a:r>
            <a:endParaRPr lang="en-US" sz="2000" dirty="0"/>
          </a:p>
        </p:txBody>
      </p:sp>
      <p:sp>
        <p:nvSpPr>
          <p:cNvPr id="8" name="jr_l0"/>
          <p:cNvSpPr txBox="1"/>
          <p:nvPr/>
        </p:nvSpPr>
        <p:spPr>
          <a:xfrm>
            <a:off x="502920" y="5029200"/>
            <a:ext cx="1737360" cy="640080"/>
          </a:xfrm>
          <a:prstGeom prst="rect">
            <a:avLst/>
          </a:prstGeom>
          <a:noFill/>
          <a:ln/>
        </p:spPr>
        <p:txBody>
          <a:bodyPr wrap="square" lIns="0" tIns="0" rIns="0" bIns="0" rtlCol="0" anchor="t"/>
          <a:lstStyle/>
          <a:p>
            <a:pPr marL="0" indent="0" algn="ctr">
              <a:buNone/>
            </a:pPr>
            <a:r>
              <a:rPr lang="en-US" sz="1400" dirty="0">
                <a:solidFill>
                  <a:schemeClr val="tx1"/>
                </a:solidFill>
              </a:rPr>
              <a:t>Frozen DINOv2 probe</a:t>
            </a:r>
            <a:endParaRPr lang="en-US" sz="1400" dirty="0"/>
          </a:p>
        </p:txBody>
      </p:sp>
      <p:sp>
        <p:nvSpPr>
          <p:cNvPr id="9" name="jr_s1"/>
          <p:cNvSpPr/>
          <p:nvPr/>
        </p:nvSpPr>
        <p:spPr>
          <a:xfrm flipV="1">
            <a:off x="1371600" y="3918204"/>
            <a:ext cx="1892808" cy="521208"/>
          </a:xfrm>
          <a:prstGeom prst="line">
            <a:avLst/>
          </a:prstGeom>
          <a:noFill/>
          <a:ln w="38100">
            <a:solidFill>
              <a:schemeClr val="accent1"/>
            </a:solidFill>
            <a:prstDash val="solid"/>
          </a:ln>
        </p:spPr>
        <p:txBody>
          <a:bodyPr/>
          <a:lstStyle/>
          <a:p>
            <a:endParaRPr lang="en-US"/>
          </a:p>
        </p:txBody>
      </p:sp>
      <p:sp>
        <p:nvSpPr>
          <p:cNvPr id="10" name="b3d_jr_p1"/>
          <p:cNvSpPr/>
          <p:nvPr/>
        </p:nvSpPr>
        <p:spPr>
          <a:xfrm>
            <a:off x="3081528" y="3735324"/>
            <a:ext cx="365760" cy="365760"/>
          </a:xfrm>
          <a:prstGeom prst="ellipse">
            <a:avLst/>
          </a:prstGeom>
          <a:solidFill>
            <a:schemeClr val="accent1"/>
          </a:solidFill>
          <a:ln w="25400">
            <a:solidFill>
              <a:schemeClr val="bg1"/>
            </a:solidFill>
            <a:prstDash val="solid"/>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1" name="jr_v1"/>
          <p:cNvSpPr txBox="1"/>
          <p:nvPr/>
        </p:nvSpPr>
        <p:spPr>
          <a:xfrm>
            <a:off x="2532888" y="3296412"/>
            <a:ext cx="1463040" cy="365760"/>
          </a:xfrm>
          <a:prstGeom prst="rect">
            <a:avLst/>
          </a:prstGeom>
          <a:noFill/>
          <a:ln/>
        </p:spPr>
        <p:txBody>
          <a:bodyPr wrap="square" lIns="0" tIns="0" rIns="0" bIns="0" rtlCol="0" anchor="ctr"/>
          <a:lstStyle/>
          <a:p>
            <a:pPr marL="0" indent="0" algn="ctr">
              <a:buNone/>
            </a:pPr>
            <a:r>
              <a:rPr lang="en-US" sz="2000" b="1" dirty="0">
                <a:solidFill>
                  <a:schemeClr val="tx2"/>
                </a:solidFill>
              </a:rPr>
              <a:t>59.10</a:t>
            </a:r>
            <a:endParaRPr lang="en-US" sz="2000" dirty="0"/>
          </a:p>
        </p:txBody>
      </p:sp>
      <p:sp>
        <p:nvSpPr>
          <p:cNvPr id="12" name="jr_l1"/>
          <p:cNvSpPr txBox="1"/>
          <p:nvPr/>
        </p:nvSpPr>
        <p:spPr>
          <a:xfrm>
            <a:off x="2395728" y="5029200"/>
            <a:ext cx="1737360" cy="640080"/>
          </a:xfrm>
          <a:prstGeom prst="rect">
            <a:avLst/>
          </a:prstGeom>
          <a:noFill/>
          <a:ln/>
        </p:spPr>
        <p:txBody>
          <a:bodyPr wrap="square" lIns="0" tIns="0" rIns="0" bIns="0" rtlCol="0" anchor="t"/>
          <a:lstStyle/>
          <a:p>
            <a:pPr marL="0" indent="0" algn="ctr">
              <a:buNone/>
            </a:pPr>
            <a:r>
              <a:rPr lang="en-US" sz="1400" dirty="0">
                <a:solidFill>
                  <a:schemeClr val="tx1"/>
                </a:solidFill>
              </a:rPr>
              <a:t>Learning rate 3e-4</a:t>
            </a:r>
            <a:endParaRPr lang="en-US" sz="1400" dirty="0"/>
          </a:p>
        </p:txBody>
      </p:sp>
      <p:sp>
        <p:nvSpPr>
          <p:cNvPr id="13" name="jr_s2"/>
          <p:cNvSpPr/>
          <p:nvPr/>
        </p:nvSpPr>
        <p:spPr>
          <a:xfrm flipV="1">
            <a:off x="3264408" y="3657600"/>
            <a:ext cx="1892808" cy="260604"/>
          </a:xfrm>
          <a:prstGeom prst="line">
            <a:avLst/>
          </a:prstGeom>
          <a:noFill/>
          <a:ln w="38100">
            <a:solidFill>
              <a:schemeClr val="accent1"/>
            </a:solidFill>
            <a:prstDash val="solid"/>
          </a:ln>
        </p:spPr>
        <p:txBody>
          <a:bodyPr/>
          <a:lstStyle/>
          <a:p>
            <a:endParaRPr lang="en-US"/>
          </a:p>
        </p:txBody>
      </p:sp>
      <p:sp>
        <p:nvSpPr>
          <p:cNvPr id="14" name="b3d_jr_p2"/>
          <p:cNvSpPr/>
          <p:nvPr/>
        </p:nvSpPr>
        <p:spPr>
          <a:xfrm>
            <a:off x="4974336" y="3474720"/>
            <a:ext cx="365760" cy="365760"/>
          </a:xfrm>
          <a:prstGeom prst="ellipse">
            <a:avLst/>
          </a:prstGeom>
          <a:solidFill>
            <a:schemeClr val="accent1"/>
          </a:solidFill>
          <a:ln w="25400">
            <a:solidFill>
              <a:schemeClr val="bg1"/>
            </a:solidFill>
            <a:prstDash val="solid"/>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5" name="jr_v2"/>
          <p:cNvSpPr txBox="1"/>
          <p:nvPr/>
        </p:nvSpPr>
        <p:spPr>
          <a:xfrm>
            <a:off x="4425696" y="3035808"/>
            <a:ext cx="1463040" cy="365760"/>
          </a:xfrm>
          <a:prstGeom prst="rect">
            <a:avLst/>
          </a:prstGeom>
          <a:noFill/>
          <a:ln/>
        </p:spPr>
        <p:txBody>
          <a:bodyPr wrap="square" lIns="0" tIns="0" rIns="0" bIns="0" rtlCol="0" anchor="ctr"/>
          <a:lstStyle/>
          <a:p>
            <a:pPr marL="0" indent="0" algn="ctr">
              <a:buNone/>
            </a:pPr>
            <a:r>
              <a:rPr lang="en-US" sz="2000" b="1" dirty="0">
                <a:solidFill>
                  <a:schemeClr val="tx2"/>
                </a:solidFill>
              </a:rPr>
              <a:t>60.00</a:t>
            </a:r>
            <a:endParaRPr lang="en-US" sz="2000" dirty="0"/>
          </a:p>
        </p:txBody>
      </p:sp>
      <p:sp>
        <p:nvSpPr>
          <p:cNvPr id="16" name="jr_l2"/>
          <p:cNvSpPr txBox="1"/>
          <p:nvPr/>
        </p:nvSpPr>
        <p:spPr>
          <a:xfrm>
            <a:off x="4288536" y="5029200"/>
            <a:ext cx="1737360" cy="640080"/>
          </a:xfrm>
          <a:prstGeom prst="rect">
            <a:avLst/>
          </a:prstGeom>
          <a:noFill/>
          <a:ln/>
        </p:spPr>
        <p:txBody>
          <a:bodyPr wrap="square" lIns="0" tIns="0" rIns="0" bIns="0" rtlCol="0" anchor="t"/>
          <a:lstStyle/>
          <a:p>
            <a:pPr marL="0" indent="0" algn="ctr">
              <a:buNone/>
            </a:pPr>
            <a:r>
              <a:rPr lang="en-US" sz="1400" dirty="0">
                <a:solidFill>
                  <a:schemeClr val="tx1"/>
                </a:solidFill>
              </a:rPr>
              <a:t>Unfreeze 1 block</a:t>
            </a:r>
            <a:endParaRPr lang="en-US" sz="1400" dirty="0"/>
          </a:p>
        </p:txBody>
      </p:sp>
      <p:sp>
        <p:nvSpPr>
          <p:cNvPr id="17" name="jr_s3"/>
          <p:cNvSpPr/>
          <p:nvPr/>
        </p:nvSpPr>
        <p:spPr>
          <a:xfrm flipV="1">
            <a:off x="5157216" y="2232965"/>
            <a:ext cx="1892808" cy="1424635"/>
          </a:xfrm>
          <a:prstGeom prst="line">
            <a:avLst/>
          </a:prstGeom>
          <a:noFill/>
          <a:ln w="38100">
            <a:solidFill>
              <a:schemeClr val="accent1"/>
            </a:solidFill>
            <a:prstDash val="solid"/>
          </a:ln>
        </p:spPr>
        <p:txBody>
          <a:bodyPr/>
          <a:lstStyle/>
          <a:p>
            <a:endParaRPr lang="en-US"/>
          </a:p>
        </p:txBody>
      </p:sp>
      <p:sp>
        <p:nvSpPr>
          <p:cNvPr id="18" name="b3d_jr_p3"/>
          <p:cNvSpPr/>
          <p:nvPr/>
        </p:nvSpPr>
        <p:spPr>
          <a:xfrm>
            <a:off x="6867144" y="2050085"/>
            <a:ext cx="365760" cy="365760"/>
          </a:xfrm>
          <a:prstGeom prst="ellipse">
            <a:avLst/>
          </a:prstGeom>
          <a:solidFill>
            <a:schemeClr val="accent1"/>
          </a:solidFill>
          <a:ln w="25400">
            <a:solidFill>
              <a:schemeClr val="bg1"/>
            </a:solidFill>
            <a:prstDash val="solid"/>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9" name="jr_v3"/>
          <p:cNvSpPr txBox="1"/>
          <p:nvPr/>
        </p:nvSpPr>
        <p:spPr>
          <a:xfrm>
            <a:off x="6318504" y="1611173"/>
            <a:ext cx="1463040" cy="365760"/>
          </a:xfrm>
          <a:prstGeom prst="rect">
            <a:avLst/>
          </a:prstGeom>
          <a:noFill/>
          <a:ln/>
        </p:spPr>
        <p:txBody>
          <a:bodyPr wrap="square" lIns="0" tIns="0" rIns="0" bIns="0" rtlCol="0" anchor="ctr"/>
          <a:lstStyle/>
          <a:p>
            <a:pPr marL="0" indent="0" algn="ctr">
              <a:buNone/>
            </a:pPr>
            <a:r>
              <a:rPr lang="en-US" sz="2000" b="1" dirty="0">
                <a:solidFill>
                  <a:schemeClr val="tx2"/>
                </a:solidFill>
              </a:rPr>
              <a:t>64.92</a:t>
            </a:r>
            <a:endParaRPr lang="en-US" sz="2000" dirty="0"/>
          </a:p>
        </p:txBody>
      </p:sp>
      <p:sp>
        <p:nvSpPr>
          <p:cNvPr id="20" name="jr_l3"/>
          <p:cNvSpPr txBox="1"/>
          <p:nvPr/>
        </p:nvSpPr>
        <p:spPr>
          <a:xfrm>
            <a:off x="6181344" y="5029200"/>
            <a:ext cx="1737360" cy="640080"/>
          </a:xfrm>
          <a:prstGeom prst="rect">
            <a:avLst/>
          </a:prstGeom>
          <a:noFill/>
          <a:ln/>
        </p:spPr>
        <p:txBody>
          <a:bodyPr wrap="square" lIns="0" tIns="0" rIns="0" bIns="0" rtlCol="0" anchor="t"/>
          <a:lstStyle/>
          <a:p>
            <a:pPr marL="0" indent="0" algn="ctr">
              <a:buNone/>
            </a:pPr>
            <a:r>
              <a:rPr lang="en-US" sz="1400" dirty="0">
                <a:solidFill>
                  <a:schemeClr val="tx1"/>
                </a:solidFill>
              </a:rPr>
              <a:t>Conv + GroupNorm head</a:t>
            </a:r>
            <a:endParaRPr lang="en-US" sz="1400" dirty="0"/>
          </a:p>
        </p:txBody>
      </p:sp>
      <p:sp>
        <p:nvSpPr>
          <p:cNvPr id="21" name="jr_s4"/>
          <p:cNvSpPr/>
          <p:nvPr/>
        </p:nvSpPr>
        <p:spPr>
          <a:xfrm flipV="1">
            <a:off x="7050024" y="1995526"/>
            <a:ext cx="1892808" cy="237439"/>
          </a:xfrm>
          <a:prstGeom prst="line">
            <a:avLst/>
          </a:prstGeom>
          <a:noFill/>
          <a:ln w="38100">
            <a:solidFill>
              <a:schemeClr val="accent1"/>
            </a:solidFill>
            <a:prstDash val="solid"/>
          </a:ln>
        </p:spPr>
        <p:txBody>
          <a:bodyPr/>
          <a:lstStyle/>
          <a:p>
            <a:endParaRPr lang="en-US"/>
          </a:p>
        </p:txBody>
      </p:sp>
      <p:sp>
        <p:nvSpPr>
          <p:cNvPr id="22" name="b3d_jr_p4"/>
          <p:cNvSpPr/>
          <p:nvPr/>
        </p:nvSpPr>
        <p:spPr>
          <a:xfrm>
            <a:off x="8759952" y="1812646"/>
            <a:ext cx="365760" cy="365760"/>
          </a:xfrm>
          <a:prstGeom prst="ellipse">
            <a:avLst/>
          </a:prstGeom>
          <a:solidFill>
            <a:schemeClr val="accent1"/>
          </a:solidFill>
          <a:ln w="25400">
            <a:solidFill>
              <a:schemeClr val="bg1"/>
            </a:solidFill>
            <a:prstDash val="solid"/>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23" name="jr_v4"/>
          <p:cNvSpPr txBox="1"/>
          <p:nvPr/>
        </p:nvSpPr>
        <p:spPr>
          <a:xfrm>
            <a:off x="8211312" y="1373734"/>
            <a:ext cx="1463040" cy="365760"/>
          </a:xfrm>
          <a:prstGeom prst="rect">
            <a:avLst/>
          </a:prstGeom>
          <a:noFill/>
          <a:ln/>
        </p:spPr>
        <p:txBody>
          <a:bodyPr wrap="square" lIns="0" tIns="0" rIns="0" bIns="0" rtlCol="0" anchor="ctr"/>
          <a:lstStyle/>
          <a:p>
            <a:pPr marL="0" indent="0" algn="ctr">
              <a:buNone/>
            </a:pPr>
            <a:r>
              <a:rPr lang="en-US" sz="2000" b="1" dirty="0">
                <a:solidFill>
                  <a:schemeClr val="tx2"/>
                </a:solidFill>
              </a:rPr>
              <a:t>65.74</a:t>
            </a:r>
            <a:endParaRPr lang="en-US" sz="2000" dirty="0"/>
          </a:p>
        </p:txBody>
      </p:sp>
      <p:sp>
        <p:nvSpPr>
          <p:cNvPr id="24" name="jr_l4"/>
          <p:cNvSpPr txBox="1"/>
          <p:nvPr/>
        </p:nvSpPr>
        <p:spPr>
          <a:xfrm>
            <a:off x="8074152" y="5029200"/>
            <a:ext cx="1737360" cy="640080"/>
          </a:xfrm>
          <a:prstGeom prst="rect">
            <a:avLst/>
          </a:prstGeom>
          <a:noFill/>
          <a:ln/>
        </p:spPr>
        <p:txBody>
          <a:bodyPr wrap="square" lIns="0" tIns="0" rIns="0" bIns="0" rtlCol="0" anchor="t"/>
          <a:lstStyle/>
          <a:p>
            <a:pPr marL="0" indent="0" algn="ctr">
              <a:buNone/>
            </a:pPr>
            <a:r>
              <a:rPr lang="en-US" sz="1400" dirty="0">
                <a:solidFill>
                  <a:schemeClr val="tx1"/>
                </a:solidFill>
              </a:rPr>
              <a:t>Focal loss γ = 1</a:t>
            </a:r>
            <a:endParaRPr lang="en-US" sz="1400" dirty="0"/>
          </a:p>
        </p:txBody>
      </p:sp>
      <p:sp>
        <p:nvSpPr>
          <p:cNvPr id="25" name="jr_s5"/>
          <p:cNvSpPr/>
          <p:nvPr/>
        </p:nvSpPr>
        <p:spPr>
          <a:xfrm>
            <a:off x="8942832" y="1995526"/>
            <a:ext cx="1892808" cy="451714"/>
          </a:xfrm>
          <a:prstGeom prst="line">
            <a:avLst/>
          </a:prstGeom>
          <a:noFill/>
          <a:ln w="38100">
            <a:solidFill>
              <a:schemeClr val="accent1"/>
            </a:solidFill>
            <a:prstDash val="solid"/>
          </a:ln>
        </p:spPr>
        <p:txBody>
          <a:bodyPr/>
          <a:lstStyle/>
          <a:p>
            <a:endParaRPr lang="en-US"/>
          </a:p>
        </p:txBody>
      </p:sp>
      <p:sp>
        <p:nvSpPr>
          <p:cNvPr id="26" name="b3d_jr_p5"/>
          <p:cNvSpPr/>
          <p:nvPr/>
        </p:nvSpPr>
        <p:spPr>
          <a:xfrm>
            <a:off x="10652760" y="2264359"/>
            <a:ext cx="365760" cy="365760"/>
          </a:xfrm>
          <a:prstGeom prst="ellipse">
            <a:avLst/>
          </a:prstGeom>
          <a:solidFill>
            <a:schemeClr val="accent3"/>
          </a:solidFill>
          <a:ln w="25400">
            <a:solidFill>
              <a:schemeClr val="bg1"/>
            </a:solidFill>
            <a:prstDash val="solid"/>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27" name="jr_v5"/>
          <p:cNvSpPr txBox="1"/>
          <p:nvPr/>
        </p:nvSpPr>
        <p:spPr>
          <a:xfrm>
            <a:off x="10104120" y="1825447"/>
            <a:ext cx="1463040" cy="365760"/>
          </a:xfrm>
          <a:prstGeom prst="rect">
            <a:avLst/>
          </a:prstGeom>
          <a:noFill/>
          <a:ln/>
        </p:spPr>
        <p:txBody>
          <a:bodyPr wrap="square" lIns="0" tIns="0" rIns="0" bIns="0" rtlCol="0" anchor="ctr"/>
          <a:lstStyle/>
          <a:p>
            <a:pPr marL="0" indent="0" algn="ctr">
              <a:buNone/>
            </a:pPr>
            <a:r>
              <a:rPr lang="en-US" sz="2000" b="1" dirty="0">
                <a:solidFill>
                  <a:schemeClr val="accent3"/>
                </a:solidFill>
              </a:rPr>
              <a:t>64.18</a:t>
            </a:r>
            <a:endParaRPr lang="en-US" sz="2000" dirty="0"/>
          </a:p>
        </p:txBody>
      </p:sp>
      <p:sp>
        <p:nvSpPr>
          <p:cNvPr id="28" name="jr_l5"/>
          <p:cNvSpPr txBox="1"/>
          <p:nvPr/>
        </p:nvSpPr>
        <p:spPr>
          <a:xfrm>
            <a:off x="9966960" y="5029200"/>
            <a:ext cx="1737360" cy="640080"/>
          </a:xfrm>
          <a:prstGeom prst="rect">
            <a:avLst/>
          </a:prstGeom>
          <a:noFill/>
          <a:ln/>
        </p:spPr>
        <p:txBody>
          <a:bodyPr wrap="square" lIns="0" tIns="0" rIns="0" bIns="0" rtlCol="0" anchor="t"/>
          <a:lstStyle/>
          <a:p>
            <a:pPr marL="0" indent="0" algn="ctr">
              <a:buNone/>
            </a:pPr>
            <a:r>
              <a:rPr lang="en-US" sz="1400" dirty="0">
                <a:solidFill>
                  <a:schemeClr val="tx1"/>
                </a:solidFill>
              </a:rPr>
              <a:t>Realistic augmentation</a:t>
            </a:r>
            <a:endParaRPr lang="en-US" sz="1400" dirty="0"/>
          </a:p>
        </p:txBody>
      </p:sp>
      <p:sp>
        <p:nvSpPr>
          <p:cNvPr id="29" name="jr_note"/>
          <p:cNvSpPr txBox="1"/>
          <p:nvPr/>
        </p:nvSpPr>
        <p:spPr>
          <a:xfrm>
            <a:off x="548640" y="5669280"/>
            <a:ext cx="11091672" cy="658368"/>
          </a:xfrm>
          <a:prstGeom prst="roundRect">
            <a:avLst>
              <a:gd name="adj" fmla="val 11111"/>
            </a:avLst>
          </a:prstGeom>
          <a:solidFill>
            <a:schemeClr val="accent1"/>
          </a:solidFill>
          <a:ln/>
          <a:effectLst>
            <a:outerShdw blurRad="101600" dist="38100" dir="5400000" algn="bl" rotWithShape="0">
              <a:srgbClr val="1B2433">
                <a:alpha val="16000"/>
              </a:srgbClr>
            </a:outerShdw>
          </a:effectLst>
        </p:spPr>
        <p:txBody>
          <a:bodyPr wrap="square" lIns="101600" tIns="101600" rIns="101600" bIns="101600" rtlCol="0" anchor="ctr"/>
          <a:lstStyle/>
          <a:p>
            <a:pPr marL="0" indent="0" algn="l">
              <a:buNone/>
            </a:pPr>
            <a:r>
              <a:rPr lang="en-US" sz="1400" b="1" dirty="0">
                <a:solidFill>
                  <a:schemeClr val="bg1"/>
                </a:solidFill>
              </a:rPr>
              <a:t>Reading note: </a:t>
            </a:r>
            <a:r>
              <a:rPr lang="en-US" sz="1400" dirty="0">
                <a:solidFill>
                  <a:schemeClr val="bg1"/>
                </a:solidFill>
              </a:rPr>
              <a:t>points 4 and 5 are separate head and loss runs. The final checkpoint comes from the controlled augmentation series (64.18%), so it is not directly comparable to 65.74%.</a:t>
            </a:r>
            <a:endParaRPr lang="en-US" sz="1400" dirty="0"/>
          </a:p>
        </p:txBody>
      </p:sp>
      <p:sp>
        <p:nvSpPr>
          <p:cNvPr id="4"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100">
        <p14:prism/>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fill="hold"/>
                                        <p:tgtEl>
                                          <p:spTgt spid="6"/>
                                        </p:tgtEl>
                                        <p:attrNameLst>
                                          <p:attrName>ppt_x</p:attrName>
                                        </p:attrNameLst>
                                      </p:cBhvr>
                                      <p:tavLst>
                                        <p:tav tm="0">
                                          <p:val>
                                            <p:strVal val="#ppt_x"/>
                                          </p:val>
                                        </p:tav>
                                        <p:tav tm="100000">
                                          <p:val>
                                            <p:strVal val="#ppt_x"/>
                                          </p:val>
                                        </p:tav>
                                      </p:tavLst>
                                    </p:anim>
                                    <p:anim calcmode="lin" valueType="num">
                                      <p:cBhvr additive="base">
                                        <p:cTn id="8" dur="60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700"/>
                                        <p:tgtEl>
                                          <p:spTgt spid="9"/>
                                        </p:tgtEl>
                                      </p:cBhvr>
                                    </p:animEffect>
                                  </p:childTnLst>
                                </p:cTn>
                              </p:par>
                              <p:par>
                                <p:cTn id="20" presetID="2" presetClass="entr" presetSubtype="4" fill="hold" grpId="0" nodeType="withEffect">
                                  <p:stCondLst>
                                    <p:cond delay="30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600" fill="hold"/>
                                        <p:tgtEl>
                                          <p:spTgt spid="10"/>
                                        </p:tgtEl>
                                        <p:attrNameLst>
                                          <p:attrName>ppt_x</p:attrName>
                                        </p:attrNameLst>
                                      </p:cBhvr>
                                      <p:tavLst>
                                        <p:tav tm="0">
                                          <p:val>
                                            <p:strVal val="#ppt_x"/>
                                          </p:val>
                                        </p:tav>
                                        <p:tav tm="100000">
                                          <p:val>
                                            <p:strVal val="#ppt_x"/>
                                          </p:val>
                                        </p:tav>
                                      </p:tavLst>
                                    </p:anim>
                                    <p:anim calcmode="lin" valueType="num">
                                      <p:cBhvr additive="base">
                                        <p:cTn id="23" dur="600" fill="hold"/>
                                        <p:tgtEl>
                                          <p:spTgt spid="10"/>
                                        </p:tgtEl>
                                        <p:attrNameLst>
                                          <p:attrName>ppt_y</p:attrName>
                                        </p:attrNameLst>
                                      </p:cBhvr>
                                      <p:tavLst>
                                        <p:tav tm="0">
                                          <p:val>
                                            <p:strVal val="1+#ppt_h/2"/>
                                          </p:val>
                                        </p:tav>
                                        <p:tav tm="100000">
                                          <p:val>
                                            <p:strVal val="#ppt_y"/>
                                          </p:val>
                                        </p:tav>
                                      </p:tavLst>
                                    </p:anim>
                                  </p:childTnLst>
                                </p:cTn>
                              </p:par>
                              <p:par>
                                <p:cTn id="24" presetID="10" presetClass="entr" presetSubtype="0" fill="hold" grpId="0" nodeType="withEffect">
                                  <p:stCondLst>
                                    <p:cond delay="5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30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700"/>
                                        <p:tgtEl>
                                          <p:spTgt spid="13"/>
                                        </p:tgtEl>
                                      </p:cBhvr>
                                    </p:animEffect>
                                  </p:childTnLst>
                                </p:cTn>
                              </p:par>
                              <p:par>
                                <p:cTn id="35" presetID="2" presetClass="entr" presetSubtype="4" fill="hold" grpId="0" nodeType="withEffect">
                                  <p:stCondLst>
                                    <p:cond delay="30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600" fill="hold"/>
                                        <p:tgtEl>
                                          <p:spTgt spid="14"/>
                                        </p:tgtEl>
                                        <p:attrNameLst>
                                          <p:attrName>ppt_x</p:attrName>
                                        </p:attrNameLst>
                                      </p:cBhvr>
                                      <p:tavLst>
                                        <p:tav tm="0">
                                          <p:val>
                                            <p:strVal val="#ppt_x"/>
                                          </p:val>
                                        </p:tav>
                                        <p:tav tm="100000">
                                          <p:val>
                                            <p:strVal val="#ppt_x"/>
                                          </p:val>
                                        </p:tav>
                                      </p:tavLst>
                                    </p:anim>
                                    <p:anim calcmode="lin" valueType="num">
                                      <p:cBhvr additive="base">
                                        <p:cTn id="38" dur="600" fill="hold"/>
                                        <p:tgtEl>
                                          <p:spTgt spid="14"/>
                                        </p:tgtEl>
                                        <p:attrNameLst>
                                          <p:attrName>ppt_y</p:attrName>
                                        </p:attrNameLst>
                                      </p:cBhvr>
                                      <p:tavLst>
                                        <p:tav tm="0">
                                          <p:val>
                                            <p:strVal val="1+#ppt_h/2"/>
                                          </p:val>
                                        </p:tav>
                                        <p:tav tm="100000">
                                          <p:val>
                                            <p:strVal val="#ppt_y"/>
                                          </p:val>
                                        </p:tav>
                                      </p:tavLst>
                                    </p:anim>
                                  </p:childTnLst>
                                </p:cTn>
                              </p:par>
                              <p:par>
                                <p:cTn id="39" presetID="10" presetClass="entr" presetSubtype="0" fill="hold" grpId="0" nodeType="withEffect">
                                  <p:stCondLst>
                                    <p:cond delay="5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30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700"/>
                                        <p:tgtEl>
                                          <p:spTgt spid="17"/>
                                        </p:tgtEl>
                                      </p:cBhvr>
                                    </p:animEffect>
                                  </p:childTnLst>
                                </p:cTn>
                              </p:par>
                              <p:par>
                                <p:cTn id="50" presetID="2" presetClass="entr" presetSubtype="4" fill="hold" grpId="0" nodeType="withEffect">
                                  <p:stCondLst>
                                    <p:cond delay="30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600" fill="hold"/>
                                        <p:tgtEl>
                                          <p:spTgt spid="18"/>
                                        </p:tgtEl>
                                        <p:attrNameLst>
                                          <p:attrName>ppt_x</p:attrName>
                                        </p:attrNameLst>
                                      </p:cBhvr>
                                      <p:tavLst>
                                        <p:tav tm="0">
                                          <p:val>
                                            <p:strVal val="#ppt_x"/>
                                          </p:val>
                                        </p:tav>
                                        <p:tav tm="100000">
                                          <p:val>
                                            <p:strVal val="#ppt_x"/>
                                          </p:val>
                                        </p:tav>
                                      </p:tavLst>
                                    </p:anim>
                                    <p:anim calcmode="lin" valueType="num">
                                      <p:cBhvr additive="base">
                                        <p:cTn id="53" dur="600" fill="hold"/>
                                        <p:tgtEl>
                                          <p:spTgt spid="18"/>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50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30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left)">
                                      <p:cBhvr>
                                        <p:cTn id="64" dur="700"/>
                                        <p:tgtEl>
                                          <p:spTgt spid="21"/>
                                        </p:tgtEl>
                                      </p:cBhvr>
                                    </p:animEffect>
                                  </p:childTnLst>
                                </p:cTn>
                              </p:par>
                              <p:par>
                                <p:cTn id="65" presetID="2" presetClass="entr" presetSubtype="4" fill="hold" grpId="0" nodeType="withEffect">
                                  <p:stCondLst>
                                    <p:cond delay="30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600" fill="hold"/>
                                        <p:tgtEl>
                                          <p:spTgt spid="22"/>
                                        </p:tgtEl>
                                        <p:attrNameLst>
                                          <p:attrName>ppt_x</p:attrName>
                                        </p:attrNameLst>
                                      </p:cBhvr>
                                      <p:tavLst>
                                        <p:tav tm="0">
                                          <p:val>
                                            <p:strVal val="#ppt_x"/>
                                          </p:val>
                                        </p:tav>
                                        <p:tav tm="100000">
                                          <p:val>
                                            <p:strVal val="#ppt_x"/>
                                          </p:val>
                                        </p:tav>
                                      </p:tavLst>
                                    </p:anim>
                                    <p:anim calcmode="lin" valueType="num">
                                      <p:cBhvr additive="base">
                                        <p:cTn id="68" dur="600" fill="hold"/>
                                        <p:tgtEl>
                                          <p:spTgt spid="22"/>
                                        </p:tgtEl>
                                        <p:attrNameLst>
                                          <p:attrName>ppt_y</p:attrName>
                                        </p:attrNameLst>
                                      </p:cBhvr>
                                      <p:tavLst>
                                        <p:tav tm="0">
                                          <p:val>
                                            <p:strVal val="1+#ppt_h/2"/>
                                          </p:val>
                                        </p:tav>
                                        <p:tav tm="100000">
                                          <p:val>
                                            <p:strVal val="#ppt_y"/>
                                          </p:val>
                                        </p:tav>
                                      </p:tavLst>
                                    </p:anim>
                                  </p:childTnLst>
                                </p:cTn>
                              </p:par>
                              <p:par>
                                <p:cTn id="69" presetID="10" presetClass="entr" presetSubtype="0" fill="hold" grpId="0" nodeType="withEffect">
                                  <p:stCondLst>
                                    <p:cond delay="50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30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wipe(left)">
                                      <p:cBhvr>
                                        <p:cTn id="79" dur="700"/>
                                        <p:tgtEl>
                                          <p:spTgt spid="25"/>
                                        </p:tgtEl>
                                      </p:cBhvr>
                                    </p:animEffect>
                                  </p:childTnLst>
                                </p:cTn>
                              </p:par>
                              <p:par>
                                <p:cTn id="80" presetID="2" presetClass="entr" presetSubtype="4" fill="hold" grpId="0" nodeType="withEffect">
                                  <p:stCondLst>
                                    <p:cond delay="300"/>
                                  </p:stCondLst>
                                  <p:childTnLst>
                                    <p:set>
                                      <p:cBhvr>
                                        <p:cTn id="81" dur="1" fill="hold">
                                          <p:stCondLst>
                                            <p:cond delay="0"/>
                                          </p:stCondLst>
                                        </p:cTn>
                                        <p:tgtEl>
                                          <p:spTgt spid="26"/>
                                        </p:tgtEl>
                                        <p:attrNameLst>
                                          <p:attrName>style.visibility</p:attrName>
                                        </p:attrNameLst>
                                      </p:cBhvr>
                                      <p:to>
                                        <p:strVal val="visible"/>
                                      </p:to>
                                    </p:set>
                                    <p:anim calcmode="lin" valueType="num">
                                      <p:cBhvr additive="base">
                                        <p:cTn id="82" dur="600" fill="hold"/>
                                        <p:tgtEl>
                                          <p:spTgt spid="26"/>
                                        </p:tgtEl>
                                        <p:attrNameLst>
                                          <p:attrName>ppt_x</p:attrName>
                                        </p:attrNameLst>
                                      </p:cBhvr>
                                      <p:tavLst>
                                        <p:tav tm="0">
                                          <p:val>
                                            <p:strVal val="#ppt_x"/>
                                          </p:val>
                                        </p:tav>
                                        <p:tav tm="100000">
                                          <p:val>
                                            <p:strVal val="#ppt_x"/>
                                          </p:val>
                                        </p:tav>
                                      </p:tavLst>
                                    </p:anim>
                                    <p:anim calcmode="lin" valueType="num">
                                      <p:cBhvr additive="base">
                                        <p:cTn id="83" dur="600" fill="hold"/>
                                        <p:tgtEl>
                                          <p:spTgt spid="26"/>
                                        </p:tgtEl>
                                        <p:attrNameLst>
                                          <p:attrName>ppt_y</p:attrName>
                                        </p:attrNameLst>
                                      </p:cBhvr>
                                      <p:tavLst>
                                        <p:tav tm="0">
                                          <p:val>
                                            <p:strVal val="1+#ppt_h/2"/>
                                          </p:val>
                                        </p:tav>
                                        <p:tav tm="100000">
                                          <p:val>
                                            <p:strVal val="#ppt_y"/>
                                          </p:val>
                                        </p:tav>
                                      </p:tavLst>
                                    </p:anim>
                                  </p:childTnLst>
                                </p:cTn>
                              </p:par>
                              <p:par>
                                <p:cTn id="84" presetID="10" presetClass="entr" presetSubtype="0" fill="hold" grpId="0" nodeType="withEffect">
                                  <p:stCondLst>
                                    <p:cond delay="50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par>
                                <p:cTn id="87" presetID="10" presetClass="entr" presetSubtype="0" fill="hold" grpId="0" nodeType="withEffect">
                                  <p:stCondLst>
                                    <p:cond delay="30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29"/>
                                        </p:tgtEl>
                                        <p:attrNameLst>
                                          <p:attrName>style.visibility</p:attrName>
                                        </p:attrNameLst>
                                      </p:cBhvr>
                                      <p:to>
                                        <p:strVal val="visible"/>
                                      </p:to>
                                    </p:set>
                                    <p:anim calcmode="lin" valueType="num">
                                      <p:cBhvr additive="base">
                                        <p:cTn id="94" dur="600" fill="hold"/>
                                        <p:tgtEl>
                                          <p:spTgt spid="29"/>
                                        </p:tgtEl>
                                        <p:attrNameLst>
                                          <p:attrName>ppt_x</p:attrName>
                                        </p:attrNameLst>
                                      </p:cBhvr>
                                      <p:tavLst>
                                        <p:tav tm="0">
                                          <p:val>
                                            <p:strVal val="#ppt_x"/>
                                          </p:val>
                                        </p:tav>
                                        <p:tav tm="100000">
                                          <p:val>
                                            <p:strVal val="#ppt_x"/>
                                          </p:val>
                                        </p:tav>
                                      </p:tavLst>
                                    </p:anim>
                                    <p:anim calcmode="lin" valueType="num">
                                      <p:cBhvr additive="base">
                                        <p:cTn id="95" dur="6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FINAL EVALUATION</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Final checkpoint and test result</a:t>
            </a:r>
            <a:endParaRPr lang="en-US" sz="3600" dirty="0"/>
          </a:p>
        </p:txBody>
      </p:sp>
      <p:sp>
        <p:nvSpPr>
          <p:cNvPr id="5" name="fc_cfg"/>
          <p:cNvSpPr txBox="1"/>
          <p:nvPr/>
        </p:nvSpPr>
        <p:spPr>
          <a:xfrm>
            <a:off x="548640" y="1508760"/>
            <a:ext cx="4846320" cy="4754880"/>
          </a:xfrm>
          <a:prstGeom prst="roundRect">
            <a:avLst>
              <a:gd name="adj" fmla="val 153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Selected checkpoint</a:t>
            </a:r>
            <a:endParaRPr lang="en-US" sz="1800" dirty="0"/>
          </a:p>
          <a:p>
            <a:pPr marL="0" indent="0" algn="l">
              <a:spcAft>
                <a:spcPts val="1000"/>
              </a:spcAft>
              <a:buNone/>
            </a:pPr>
            <a:r>
              <a:rPr lang="en-US" sz="1500" b="1" dirty="0">
                <a:solidFill>
                  <a:schemeClr val="accent1"/>
                </a:solidFill>
                <a:latin typeface="Courier New" pitchFamily="34" charset="0"/>
                <a:ea typeface="Courier New" pitchFamily="34" charset="-122"/>
                <a:cs typeface="Courier New" pitchFamily="34" charset="-120"/>
              </a:rPr>
              <a:t>E07_Aug_Realistic_FocalG1</a:t>
            </a:r>
            <a:endParaRPr lang="en-US" sz="1800" dirty="0"/>
          </a:p>
          <a:p>
            <a:pPr marL="0" indent="0" algn="l">
              <a:spcAft>
                <a:spcPts val="600"/>
              </a:spcAft>
              <a:buNone/>
            </a:pPr>
            <a:r>
              <a:rPr lang="en-US" sz="1600" dirty="0">
                <a:solidFill>
                  <a:schemeClr val="tx1"/>
                </a:solidFill>
              </a:rPr>
              <a:t>Head: convolutional</a:t>
            </a:r>
            <a:endParaRPr lang="en-US" sz="1800" dirty="0"/>
          </a:p>
          <a:p>
            <a:pPr marL="0" indent="0" algn="l">
              <a:spcAft>
                <a:spcPts val="600"/>
              </a:spcAft>
              <a:buNone/>
            </a:pPr>
            <a:r>
              <a:rPr lang="en-US" sz="1600" dirty="0">
                <a:solidFill>
                  <a:schemeClr val="tx1"/>
                </a:solidFill>
              </a:rPr>
              <a:t>Unfrozen blocks: 2</a:t>
            </a:r>
            <a:endParaRPr lang="en-US" sz="1800" dirty="0"/>
          </a:p>
          <a:p>
            <a:pPr marL="0" indent="0" algn="l">
              <a:spcAft>
                <a:spcPts val="600"/>
              </a:spcAft>
              <a:buNone/>
            </a:pPr>
            <a:r>
              <a:rPr lang="en-US" sz="1600" dirty="0">
                <a:solidFill>
                  <a:schemeClr val="tx1"/>
                </a:solidFill>
              </a:rPr>
              <a:t>Learning rate: backbone 1e-5, head 1e-4</a:t>
            </a:r>
            <a:endParaRPr lang="en-US" sz="1800" dirty="0"/>
          </a:p>
          <a:p>
            <a:pPr marL="0" indent="0" algn="l">
              <a:spcAft>
                <a:spcPts val="600"/>
              </a:spcAft>
              <a:buNone/>
            </a:pPr>
            <a:r>
              <a:rPr lang="en-US" sz="1600" dirty="0">
                <a:solidFill>
                  <a:schemeClr val="tx1"/>
                </a:solidFill>
              </a:rPr>
              <a:t>Loss: focal, γ = 1.0, no label smoothing</a:t>
            </a:r>
            <a:endParaRPr lang="en-US" sz="1800" dirty="0"/>
          </a:p>
          <a:p>
            <a:pPr marL="0" indent="0" algn="l">
              <a:spcAft>
                <a:spcPts val="600"/>
              </a:spcAft>
              <a:buNone/>
            </a:pPr>
            <a:r>
              <a:rPr lang="en-US" sz="1600" dirty="0">
                <a:solidFill>
                  <a:schemeClr val="tx1"/>
                </a:solidFill>
              </a:rPr>
              <a:t>Up to 15 epochs, patience 4, best epoch 5</a:t>
            </a:r>
            <a:endParaRPr lang="en-US" sz="1800" dirty="0"/>
          </a:p>
          <a:p>
            <a:pPr marL="0" indent="0" algn="l">
              <a:spcAft>
                <a:spcPts val="600"/>
              </a:spcAft>
              <a:buNone/>
            </a:pPr>
            <a:r>
              <a:rPr lang="en-US" sz="1600" dirty="0">
                <a:solidFill>
                  <a:schemeClr val="tx1"/>
                </a:solidFill>
              </a:rPr>
              <a:t>Seed 42</a:t>
            </a:r>
            <a:endParaRPr lang="en-US" sz="1800" dirty="0"/>
          </a:p>
          <a:p>
            <a:pPr marL="0" indent="0" algn="l">
              <a:buNone/>
            </a:pPr>
            <a:r>
              <a:rPr lang="en-US" sz="1600" dirty="0">
                <a:solidFill>
                  <a:schemeClr val="tx1"/>
                </a:solidFill>
              </a:rPr>
              <a:t>Chosen by validation Macro-F1 (64.18%)</a:t>
            </a:r>
            <a:endParaRPr lang="en-US" sz="1800" dirty="0"/>
          </a:p>
        </p:txBody>
      </p:sp>
      <p:sp>
        <p:nvSpPr>
          <p:cNvPr id="6" name="b3d_fc_t0"/>
          <p:cNvSpPr txBox="1"/>
          <p:nvPr/>
        </p:nvSpPr>
        <p:spPr>
          <a:xfrm>
            <a:off x="5669280" y="1508760"/>
            <a:ext cx="2834640" cy="2057400"/>
          </a:xfrm>
          <a:prstGeom prst="roundRect">
            <a:avLst>
              <a:gd name="adj" fmla="val 3556"/>
            </a:avLst>
          </a:prstGeom>
          <a:solidFill>
            <a:schemeClr val="bg2"/>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177800" tIns="177800" rIns="177800" bIns="177800" rtlCol="0" anchor="ctr"/>
          <a:lstStyle/>
          <a:p>
            <a:pPr marL="0" indent="0">
              <a:spcAft>
                <a:spcPts val="200"/>
              </a:spcAft>
              <a:buNone/>
            </a:pPr>
            <a:r>
              <a:rPr lang="en-US" sz="3800" b="1" dirty="0">
                <a:solidFill>
                  <a:schemeClr val="accent1"/>
                </a:solidFill>
              </a:rPr>
              <a:t>69.41%</a:t>
            </a:r>
            <a:endParaRPr lang="en-US" sz="3800" dirty="0"/>
          </a:p>
          <a:p>
            <a:pPr marL="0" indent="0">
              <a:spcAft>
                <a:spcPts val="200"/>
              </a:spcAft>
              <a:buNone/>
            </a:pPr>
            <a:r>
              <a:rPr lang="en-US" sz="1600" b="1" dirty="0">
                <a:solidFill>
                  <a:schemeClr val="tx2"/>
                </a:solidFill>
              </a:rPr>
              <a:t>Accuracy</a:t>
            </a:r>
            <a:endParaRPr lang="en-US" sz="3800" dirty="0"/>
          </a:p>
          <a:p>
            <a:pPr marL="0" indent="0">
              <a:buNone/>
            </a:pPr>
            <a:r>
              <a:rPr lang="en-US" sz="1300" dirty="0">
                <a:solidFill>
                  <a:schemeClr val="tx1"/>
                </a:solidFill>
              </a:rPr>
              <a:t>share of images classified correctly</a:t>
            </a:r>
            <a:endParaRPr lang="en-US" sz="3800" dirty="0"/>
          </a:p>
        </p:txBody>
      </p:sp>
      <p:sp>
        <p:nvSpPr>
          <p:cNvPr id="7" name="b3d_fc_t1"/>
          <p:cNvSpPr txBox="1"/>
          <p:nvPr/>
        </p:nvSpPr>
        <p:spPr>
          <a:xfrm>
            <a:off x="8686800" y="1508760"/>
            <a:ext cx="2834640" cy="2057400"/>
          </a:xfrm>
          <a:prstGeom prst="roundRect">
            <a:avLst>
              <a:gd name="adj" fmla="val 3556"/>
            </a:avLst>
          </a:prstGeom>
          <a:solidFill>
            <a:schemeClr val="bg2"/>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177800" tIns="177800" rIns="177800" bIns="177800" rtlCol="0" anchor="ctr"/>
          <a:lstStyle/>
          <a:p>
            <a:pPr marL="0" indent="0">
              <a:spcAft>
                <a:spcPts val="200"/>
              </a:spcAft>
              <a:buNone/>
            </a:pPr>
            <a:r>
              <a:rPr lang="en-US" sz="3800" b="1" dirty="0">
                <a:solidFill>
                  <a:schemeClr val="accent1"/>
                </a:solidFill>
              </a:rPr>
              <a:t>61.30%</a:t>
            </a:r>
            <a:endParaRPr lang="en-US" sz="3800" dirty="0"/>
          </a:p>
          <a:p>
            <a:pPr marL="0" indent="0">
              <a:spcAft>
                <a:spcPts val="200"/>
              </a:spcAft>
              <a:buNone/>
            </a:pPr>
            <a:r>
              <a:rPr lang="en-US" sz="1600" b="1" dirty="0">
                <a:solidFill>
                  <a:schemeClr val="tx2"/>
                </a:solidFill>
              </a:rPr>
              <a:t>Balanced accuracy</a:t>
            </a:r>
            <a:endParaRPr lang="en-US" sz="3800" dirty="0"/>
          </a:p>
          <a:p>
            <a:pPr marL="0" indent="0">
              <a:buNone/>
            </a:pPr>
            <a:r>
              <a:rPr lang="en-US" sz="1300" dirty="0">
                <a:solidFill>
                  <a:schemeClr val="tx1"/>
                </a:solidFill>
              </a:rPr>
              <a:t>average recall over the 3 classes</a:t>
            </a:r>
            <a:endParaRPr lang="en-US" sz="3800" dirty="0"/>
          </a:p>
        </p:txBody>
      </p:sp>
      <p:sp>
        <p:nvSpPr>
          <p:cNvPr id="8" name="b3d_fc_t2"/>
          <p:cNvSpPr txBox="1"/>
          <p:nvPr/>
        </p:nvSpPr>
        <p:spPr>
          <a:xfrm>
            <a:off x="5669280" y="3749040"/>
            <a:ext cx="2834640" cy="2057400"/>
          </a:xfrm>
          <a:prstGeom prst="roundRect">
            <a:avLst>
              <a:gd name="adj" fmla="val 3556"/>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177800" tIns="177800" rIns="177800" bIns="177800" rtlCol="0" anchor="ctr"/>
          <a:lstStyle/>
          <a:p>
            <a:pPr marL="0" indent="0">
              <a:spcAft>
                <a:spcPts val="200"/>
              </a:spcAft>
              <a:buNone/>
            </a:pPr>
            <a:r>
              <a:rPr lang="en-US" sz="3800" b="1" dirty="0">
                <a:solidFill>
                  <a:schemeClr val="bg1"/>
                </a:solidFill>
              </a:rPr>
              <a:t>59.78%</a:t>
            </a:r>
            <a:endParaRPr lang="en-US" sz="3800" dirty="0"/>
          </a:p>
          <a:p>
            <a:pPr marL="0" indent="0">
              <a:spcAft>
                <a:spcPts val="200"/>
              </a:spcAft>
              <a:buNone/>
            </a:pPr>
            <a:r>
              <a:rPr lang="en-US" sz="1600" b="1" dirty="0">
                <a:solidFill>
                  <a:schemeClr val="bg1"/>
                </a:solidFill>
              </a:rPr>
              <a:t>Macro-F1</a:t>
            </a:r>
            <a:endParaRPr lang="en-US" sz="3800" dirty="0"/>
          </a:p>
          <a:p>
            <a:pPr marL="0" indent="0">
              <a:buNone/>
            </a:pPr>
            <a:r>
              <a:rPr lang="en-US" sz="1300" dirty="0">
                <a:solidFill>
                  <a:schemeClr val="bg1"/>
                </a:solidFill>
              </a:rPr>
              <a:t>selection metric, equal class weight</a:t>
            </a:r>
            <a:endParaRPr lang="en-US" sz="3800" dirty="0"/>
          </a:p>
        </p:txBody>
      </p:sp>
      <p:sp>
        <p:nvSpPr>
          <p:cNvPr id="9" name="b3d_fc_t3"/>
          <p:cNvSpPr txBox="1"/>
          <p:nvPr/>
        </p:nvSpPr>
        <p:spPr>
          <a:xfrm>
            <a:off x="8686800" y="3749040"/>
            <a:ext cx="2834640" cy="2057400"/>
          </a:xfrm>
          <a:prstGeom prst="roundRect">
            <a:avLst>
              <a:gd name="adj" fmla="val 3556"/>
            </a:avLst>
          </a:prstGeom>
          <a:solidFill>
            <a:schemeClr val="bg2"/>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wrap="square" lIns="177800" tIns="177800" rIns="177800" bIns="177800" rtlCol="0" anchor="ctr"/>
          <a:lstStyle/>
          <a:p>
            <a:pPr marL="0" indent="0">
              <a:spcAft>
                <a:spcPts val="200"/>
              </a:spcAft>
              <a:buNone/>
            </a:pPr>
            <a:r>
              <a:rPr lang="en-US" sz="3800" b="1" dirty="0">
                <a:solidFill>
                  <a:schemeClr val="accent1"/>
                </a:solidFill>
              </a:rPr>
              <a:t>70.23%</a:t>
            </a:r>
            <a:endParaRPr lang="en-US" sz="3800" dirty="0"/>
          </a:p>
          <a:p>
            <a:pPr marL="0" indent="0">
              <a:spcAft>
                <a:spcPts val="200"/>
              </a:spcAft>
              <a:buNone/>
            </a:pPr>
            <a:r>
              <a:rPr lang="en-US" sz="1600" b="1" dirty="0">
                <a:solidFill>
                  <a:schemeClr val="tx2"/>
                </a:solidFill>
              </a:rPr>
              <a:t>Weighted F1</a:t>
            </a:r>
            <a:endParaRPr lang="en-US" sz="3800" dirty="0"/>
          </a:p>
          <a:p>
            <a:pPr marL="0" indent="0">
              <a:buNone/>
            </a:pPr>
            <a:r>
              <a:rPr lang="en-US" sz="1300" dirty="0">
                <a:solidFill>
                  <a:schemeClr val="tx1"/>
                </a:solidFill>
              </a:rPr>
              <a:t>F1 weighted by class size</a:t>
            </a:r>
            <a:endParaRPr lang="en-US" sz="3800" dirty="0"/>
          </a:p>
        </p:txBody>
      </p:sp>
      <p:sp>
        <p:nvSpPr>
          <p:cNvPr id="10" name="fc_note"/>
          <p:cNvSpPr txBox="1"/>
          <p:nvPr/>
        </p:nvSpPr>
        <p:spPr>
          <a:xfrm>
            <a:off x="5669280" y="5943600"/>
            <a:ext cx="5852160" cy="320040"/>
          </a:xfrm>
          <a:prstGeom prst="rect">
            <a:avLst/>
          </a:prstGeom>
          <a:noFill/>
          <a:ln/>
        </p:spPr>
        <p:txBody>
          <a:bodyPr wrap="square" lIns="0" tIns="0" rIns="0" bIns="0" rtlCol="0" anchor="ctr"/>
          <a:lstStyle/>
          <a:p>
            <a:pPr marL="0" indent="0" algn="l">
              <a:buNone/>
            </a:pPr>
            <a:r>
              <a:rPr lang="en-US" sz="1400" i="1" dirty="0">
                <a:solidFill>
                  <a:schemeClr val="accent5"/>
                </a:solidFill>
              </a:rPr>
              <a:t>693 held-out test images, evaluated once with no further tuning</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100">
        <p14:prism/>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600" fill="hold"/>
                                        <p:tgtEl>
                                          <p:spTgt spid="6"/>
                                        </p:tgtEl>
                                        <p:attrNameLst>
                                          <p:attrName>ppt_x</p:attrName>
                                        </p:attrNameLst>
                                      </p:cBhvr>
                                      <p:tavLst>
                                        <p:tav tm="0">
                                          <p:val>
                                            <p:strVal val="#ppt_x"/>
                                          </p:val>
                                        </p:tav>
                                        <p:tav tm="100000">
                                          <p:val>
                                            <p:strVal val="#ppt_x"/>
                                          </p:val>
                                        </p:tav>
                                      </p:tavLst>
                                    </p:anim>
                                    <p:anim calcmode="lin" valueType="num">
                                      <p:cBhvr additive="base">
                                        <p:cTn id="14" dur="6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charRg st="4294967295" end="4294967295"/>
                                            </p:txEl>
                                          </p:spTgt>
                                        </p:tgtEl>
                                        <p:attrNameLst>
                                          <p:attrName>style.visibility</p:attrName>
                                        </p:attrNameLst>
                                      </p:cBhvr>
                                      <p:to>
                                        <p:strVal val="visible"/>
                                      </p:to>
                                    </p:set>
                                    <p:anim calcmode="lin" valueType="num">
                                      <p:cBhvr additive="base">
                                        <p:cTn id="25" dur="600" fill="hold"/>
                                        <p:tgtEl>
                                          <p:spTgt spid="8">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26" dur="600" fill="hold"/>
                                        <p:tgtEl>
                                          <p:spTgt spid="8">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p:tgtEl>
                                          <p:spTgt spid="9"/>
                                        </p:tgtEl>
                                        <p:attrNameLst>
                                          <p:attrName>ppt_x</p:attrName>
                                        </p:attrNameLst>
                                      </p:cBhvr>
                                      <p:tavLst>
                                        <p:tav tm="0">
                                          <p:val>
                                            <p:strVal val="#ppt_x"/>
                                          </p:val>
                                        </p:tav>
                                        <p:tav tm="100000">
                                          <p:val>
                                            <p:strVal val="#ppt_x"/>
                                          </p:val>
                                        </p:tav>
                                      </p:tavLst>
                                    </p:anim>
                                    <p:anim calcmode="lin" valueType="num">
                                      <p:cBhvr additive="base">
                                        <p:cTn id="32" dur="6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FINAL EVALUATION</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Validation versus test</a:t>
            </a:r>
            <a:endParaRPr lang="en-US" sz="3600" dirty="0"/>
          </a:p>
        </p:txBody>
      </p:sp>
      <p:sp>
        <p:nvSpPr>
          <p:cNvPr id="5" name="panel_0.6_1.65"/>
          <p:cNvSpPr/>
          <p:nvPr/>
        </p:nvSpPr>
        <p:spPr>
          <a:xfrm>
            <a:off x="548640" y="1508760"/>
            <a:ext cx="7315200" cy="4754880"/>
          </a:xfrm>
          <a:prstGeom prst="roundRect">
            <a:avLst>
              <a:gd name="adj" fmla="val 1538"/>
            </a:avLst>
          </a:prstGeom>
          <a:solidFill>
            <a:schemeClr val="bg2"/>
          </a:solidFill>
          <a:ln/>
        </p:spPr>
        <p:txBody>
          <a:bodyPr/>
          <a:lstStyle/>
          <a:p>
            <a:endParaRPr lang="en-US"/>
          </a:p>
        </p:txBody>
      </p:sp>
      <p:sp>
        <p:nvSpPr>
          <p:cNvPr id="6" name="Shape 3"/>
          <p:cNvSpPr/>
          <p:nvPr/>
        </p:nvSpPr>
        <p:spPr>
          <a:xfrm>
            <a:off x="822960" y="1691640"/>
            <a:ext cx="182880" cy="182880"/>
          </a:xfrm>
          <a:prstGeom prst="rect">
            <a:avLst/>
          </a:prstGeom>
          <a:solidFill>
            <a:schemeClr val="accent1"/>
          </a:solidFill>
          <a:ln/>
        </p:spPr>
        <p:txBody>
          <a:bodyPr/>
          <a:lstStyle/>
          <a:p>
            <a:endParaRPr lang="en-US"/>
          </a:p>
        </p:txBody>
      </p:sp>
      <p:sp>
        <p:nvSpPr>
          <p:cNvPr id="7" name="vt_lg1"/>
          <p:cNvSpPr txBox="1"/>
          <p:nvPr/>
        </p:nvSpPr>
        <p:spPr>
          <a:xfrm>
            <a:off x="1097280" y="1627632"/>
            <a:ext cx="1280160" cy="320040"/>
          </a:xfrm>
          <a:prstGeom prst="rect">
            <a:avLst/>
          </a:prstGeom>
          <a:noFill/>
          <a:ln/>
        </p:spPr>
        <p:txBody>
          <a:bodyPr wrap="square" lIns="0" tIns="0" rIns="0" bIns="0" rtlCol="0" anchor="ctr"/>
          <a:lstStyle/>
          <a:p>
            <a:pPr marL="0" indent="0" algn="l">
              <a:buNone/>
            </a:pPr>
            <a:r>
              <a:rPr lang="en-US" sz="1400" dirty="0">
                <a:solidFill>
                  <a:schemeClr val="tx1"/>
                </a:solidFill>
              </a:rPr>
              <a:t>Validation</a:t>
            </a:r>
            <a:endParaRPr lang="en-US" sz="1400" dirty="0"/>
          </a:p>
        </p:txBody>
      </p:sp>
      <p:sp>
        <p:nvSpPr>
          <p:cNvPr id="8" name="Shape 5"/>
          <p:cNvSpPr/>
          <p:nvPr/>
        </p:nvSpPr>
        <p:spPr>
          <a:xfrm>
            <a:off x="2468880" y="1691640"/>
            <a:ext cx="182880" cy="182880"/>
          </a:xfrm>
          <a:prstGeom prst="rect">
            <a:avLst/>
          </a:prstGeom>
          <a:solidFill>
            <a:schemeClr val="accent3"/>
          </a:solidFill>
          <a:ln/>
        </p:spPr>
        <p:txBody>
          <a:bodyPr/>
          <a:lstStyle/>
          <a:p>
            <a:endParaRPr lang="en-US"/>
          </a:p>
        </p:txBody>
      </p:sp>
      <p:sp>
        <p:nvSpPr>
          <p:cNvPr id="9" name="vt_lg2"/>
          <p:cNvSpPr txBox="1"/>
          <p:nvPr/>
        </p:nvSpPr>
        <p:spPr>
          <a:xfrm>
            <a:off x="2743200" y="1627632"/>
            <a:ext cx="914400" cy="320040"/>
          </a:xfrm>
          <a:prstGeom prst="rect">
            <a:avLst/>
          </a:prstGeom>
          <a:noFill/>
          <a:ln/>
        </p:spPr>
        <p:txBody>
          <a:bodyPr wrap="square" lIns="0" tIns="0" rIns="0" bIns="0" rtlCol="0" anchor="ctr"/>
          <a:lstStyle/>
          <a:p>
            <a:pPr marL="0" indent="0" algn="l">
              <a:buNone/>
            </a:pPr>
            <a:r>
              <a:rPr lang="en-US" sz="1400" dirty="0">
                <a:solidFill>
                  <a:schemeClr val="tx1"/>
                </a:solidFill>
              </a:rPr>
              <a:t>Test</a:t>
            </a:r>
            <a:endParaRPr lang="en-US" sz="1400" dirty="0"/>
          </a:p>
        </p:txBody>
      </p:sp>
      <p:sp>
        <p:nvSpPr>
          <p:cNvPr id="10" name="b3d_vt_b00"/>
          <p:cNvSpPr/>
          <p:nvPr/>
        </p:nvSpPr>
        <p:spPr>
          <a:xfrm>
            <a:off x="914400" y="2919908"/>
            <a:ext cx="868680" cy="2200732"/>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1" name="vt_v00"/>
          <p:cNvSpPr txBox="1"/>
          <p:nvPr/>
        </p:nvSpPr>
        <p:spPr>
          <a:xfrm>
            <a:off x="822960" y="2554148"/>
            <a:ext cx="1051560" cy="320040"/>
          </a:xfrm>
          <a:prstGeom prst="rect">
            <a:avLst/>
          </a:prstGeom>
          <a:noFill/>
          <a:ln/>
        </p:spPr>
        <p:txBody>
          <a:bodyPr wrap="square" lIns="0" tIns="0" rIns="0" bIns="0" rtlCol="0" anchor="ctr"/>
          <a:lstStyle/>
          <a:p>
            <a:pPr marL="0" indent="0" algn="ctr">
              <a:buNone/>
            </a:pPr>
            <a:r>
              <a:rPr lang="en-US" sz="1600" b="1" dirty="0">
                <a:solidFill>
                  <a:schemeClr val="tx1"/>
                </a:solidFill>
              </a:rPr>
              <a:t>64.18</a:t>
            </a:r>
            <a:endParaRPr lang="en-US" sz="1600" dirty="0"/>
          </a:p>
        </p:txBody>
      </p:sp>
      <p:sp>
        <p:nvSpPr>
          <p:cNvPr id="12" name="b3d_vt_b01"/>
          <p:cNvSpPr/>
          <p:nvPr/>
        </p:nvSpPr>
        <p:spPr>
          <a:xfrm>
            <a:off x="1874520" y="3070784"/>
            <a:ext cx="868680" cy="2049856"/>
          </a:xfrm>
          <a:prstGeom prst="rect">
            <a:avLst/>
          </a:prstGeom>
          <a:solidFill>
            <a:schemeClr val="accent3"/>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3" name="vt_v01"/>
          <p:cNvSpPr txBox="1"/>
          <p:nvPr/>
        </p:nvSpPr>
        <p:spPr>
          <a:xfrm>
            <a:off x="1783080" y="2705024"/>
            <a:ext cx="1051560" cy="320040"/>
          </a:xfrm>
          <a:prstGeom prst="rect">
            <a:avLst/>
          </a:prstGeom>
          <a:noFill/>
          <a:ln/>
        </p:spPr>
        <p:txBody>
          <a:bodyPr wrap="square" lIns="0" tIns="0" rIns="0" bIns="0" rtlCol="0" anchor="ctr"/>
          <a:lstStyle/>
          <a:p>
            <a:pPr marL="0" indent="0" algn="ctr">
              <a:buNone/>
            </a:pPr>
            <a:r>
              <a:rPr lang="en-US" sz="1600" b="1" dirty="0">
                <a:solidFill>
                  <a:schemeClr val="tx1"/>
                </a:solidFill>
              </a:rPr>
              <a:t>59.78</a:t>
            </a:r>
            <a:endParaRPr lang="en-US" sz="1600" dirty="0"/>
          </a:p>
        </p:txBody>
      </p:sp>
      <p:sp>
        <p:nvSpPr>
          <p:cNvPr id="14" name="vt_n0"/>
          <p:cNvSpPr txBox="1"/>
          <p:nvPr/>
        </p:nvSpPr>
        <p:spPr>
          <a:xfrm>
            <a:off x="731520" y="5212080"/>
            <a:ext cx="2194560" cy="320040"/>
          </a:xfrm>
          <a:prstGeom prst="rect">
            <a:avLst/>
          </a:prstGeom>
          <a:noFill/>
          <a:ln/>
        </p:spPr>
        <p:txBody>
          <a:bodyPr wrap="square" lIns="0" tIns="0" rIns="0" bIns="0" rtlCol="0" anchor="ctr"/>
          <a:lstStyle/>
          <a:p>
            <a:pPr marL="0" indent="0" algn="ctr">
              <a:buNone/>
            </a:pPr>
            <a:r>
              <a:rPr lang="en-US" sz="1400" b="1" dirty="0">
                <a:solidFill>
                  <a:schemeClr val="tx1"/>
                </a:solidFill>
              </a:rPr>
              <a:t>Macro-F1</a:t>
            </a:r>
            <a:endParaRPr lang="en-US" sz="1400" dirty="0"/>
          </a:p>
        </p:txBody>
      </p:sp>
      <p:sp>
        <p:nvSpPr>
          <p:cNvPr id="15" name="vt_g0"/>
          <p:cNvSpPr txBox="1"/>
          <p:nvPr/>
        </p:nvSpPr>
        <p:spPr>
          <a:xfrm>
            <a:off x="731520" y="5577840"/>
            <a:ext cx="2194560" cy="320040"/>
          </a:xfrm>
          <a:prstGeom prst="rect">
            <a:avLst/>
          </a:prstGeom>
          <a:noFill/>
          <a:ln/>
        </p:spPr>
        <p:txBody>
          <a:bodyPr wrap="square" lIns="0" tIns="0" rIns="0" bIns="0" rtlCol="0" anchor="ctr"/>
          <a:lstStyle/>
          <a:p>
            <a:pPr marL="0" indent="0" algn="ctr">
              <a:buNone/>
            </a:pPr>
            <a:r>
              <a:rPr lang="en-US" sz="1600" b="1" dirty="0">
                <a:solidFill>
                  <a:schemeClr val="accent6"/>
                </a:solidFill>
              </a:rPr>
              <a:t>−4.40 pts</a:t>
            </a:r>
            <a:endParaRPr lang="en-US" sz="1600" dirty="0"/>
          </a:p>
        </p:txBody>
      </p:sp>
      <p:sp>
        <p:nvSpPr>
          <p:cNvPr id="16" name="b3d_vt_b10"/>
          <p:cNvSpPr/>
          <p:nvPr/>
        </p:nvSpPr>
        <p:spPr>
          <a:xfrm>
            <a:off x="3246120" y="2871216"/>
            <a:ext cx="868680" cy="2249424"/>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7" name="vt_v10"/>
          <p:cNvSpPr txBox="1"/>
          <p:nvPr/>
        </p:nvSpPr>
        <p:spPr>
          <a:xfrm>
            <a:off x="3154680" y="2505456"/>
            <a:ext cx="1051560" cy="320040"/>
          </a:xfrm>
          <a:prstGeom prst="rect">
            <a:avLst/>
          </a:prstGeom>
          <a:noFill/>
          <a:ln/>
        </p:spPr>
        <p:txBody>
          <a:bodyPr wrap="square" lIns="0" tIns="0" rIns="0" bIns="0" rtlCol="0" anchor="ctr"/>
          <a:lstStyle/>
          <a:p>
            <a:pPr marL="0" indent="0" algn="ctr">
              <a:buNone/>
            </a:pPr>
            <a:r>
              <a:rPr lang="en-US" sz="1600" b="1" dirty="0">
                <a:solidFill>
                  <a:schemeClr val="tx1"/>
                </a:solidFill>
              </a:rPr>
              <a:t>65.60</a:t>
            </a:r>
            <a:endParaRPr lang="en-US" sz="1600" dirty="0"/>
          </a:p>
        </p:txBody>
      </p:sp>
      <p:sp>
        <p:nvSpPr>
          <p:cNvPr id="18" name="b3d_vt_b11"/>
          <p:cNvSpPr/>
          <p:nvPr/>
        </p:nvSpPr>
        <p:spPr>
          <a:xfrm>
            <a:off x="4206240" y="3018663"/>
            <a:ext cx="868680" cy="2101977"/>
          </a:xfrm>
          <a:prstGeom prst="rect">
            <a:avLst/>
          </a:prstGeom>
          <a:solidFill>
            <a:schemeClr val="accent3"/>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9" name="vt_v11"/>
          <p:cNvSpPr txBox="1"/>
          <p:nvPr/>
        </p:nvSpPr>
        <p:spPr>
          <a:xfrm>
            <a:off x="4114800" y="2652903"/>
            <a:ext cx="1051560" cy="320040"/>
          </a:xfrm>
          <a:prstGeom prst="rect">
            <a:avLst/>
          </a:prstGeom>
          <a:noFill/>
          <a:ln/>
        </p:spPr>
        <p:txBody>
          <a:bodyPr wrap="square" lIns="0" tIns="0" rIns="0" bIns="0" rtlCol="0" anchor="ctr"/>
          <a:lstStyle/>
          <a:p>
            <a:pPr marL="0" indent="0" algn="ctr">
              <a:buNone/>
            </a:pPr>
            <a:r>
              <a:rPr lang="en-US" sz="1600" b="1" dirty="0">
                <a:solidFill>
                  <a:schemeClr val="tx1"/>
                </a:solidFill>
              </a:rPr>
              <a:t>61.30</a:t>
            </a:r>
            <a:endParaRPr lang="en-US" sz="1600" dirty="0"/>
          </a:p>
        </p:txBody>
      </p:sp>
      <p:sp>
        <p:nvSpPr>
          <p:cNvPr id="20" name="vt_n1"/>
          <p:cNvSpPr txBox="1"/>
          <p:nvPr/>
        </p:nvSpPr>
        <p:spPr>
          <a:xfrm>
            <a:off x="3063240" y="5212080"/>
            <a:ext cx="2194560" cy="320040"/>
          </a:xfrm>
          <a:prstGeom prst="rect">
            <a:avLst/>
          </a:prstGeom>
          <a:noFill/>
          <a:ln/>
        </p:spPr>
        <p:txBody>
          <a:bodyPr wrap="square" lIns="0" tIns="0" rIns="0" bIns="0" rtlCol="0" anchor="ctr"/>
          <a:lstStyle/>
          <a:p>
            <a:pPr marL="0" indent="0" algn="ctr">
              <a:buNone/>
            </a:pPr>
            <a:r>
              <a:rPr lang="en-US" sz="1400" b="1" dirty="0">
                <a:solidFill>
                  <a:schemeClr val="tx1"/>
                </a:solidFill>
              </a:rPr>
              <a:t>Balanced accuracy</a:t>
            </a:r>
            <a:endParaRPr lang="en-US" sz="1400" dirty="0"/>
          </a:p>
        </p:txBody>
      </p:sp>
      <p:sp>
        <p:nvSpPr>
          <p:cNvPr id="21" name="vt_g1"/>
          <p:cNvSpPr txBox="1"/>
          <p:nvPr/>
        </p:nvSpPr>
        <p:spPr>
          <a:xfrm>
            <a:off x="3063240" y="5577840"/>
            <a:ext cx="2194560" cy="320040"/>
          </a:xfrm>
          <a:prstGeom prst="rect">
            <a:avLst/>
          </a:prstGeom>
          <a:noFill/>
          <a:ln/>
        </p:spPr>
        <p:txBody>
          <a:bodyPr wrap="square" lIns="0" tIns="0" rIns="0" bIns="0" rtlCol="0" anchor="ctr"/>
          <a:lstStyle/>
          <a:p>
            <a:pPr marL="0" indent="0" algn="ctr">
              <a:buNone/>
            </a:pPr>
            <a:r>
              <a:rPr lang="en-US" sz="1600" b="1" dirty="0">
                <a:solidFill>
                  <a:schemeClr val="accent6"/>
                </a:solidFill>
              </a:rPr>
              <a:t>−4.30 pts</a:t>
            </a:r>
            <a:endParaRPr lang="en-US" sz="1600" dirty="0"/>
          </a:p>
        </p:txBody>
      </p:sp>
      <p:sp>
        <p:nvSpPr>
          <p:cNvPr id="22" name="b3d_vt_b20"/>
          <p:cNvSpPr/>
          <p:nvPr/>
        </p:nvSpPr>
        <p:spPr>
          <a:xfrm>
            <a:off x="5577840" y="2661361"/>
            <a:ext cx="868680" cy="2459279"/>
          </a:xfrm>
          <a:prstGeom prst="rect">
            <a:avLst/>
          </a:prstGeom>
          <a:solidFill>
            <a:schemeClr val="accent1"/>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23" name="vt_v20"/>
          <p:cNvSpPr txBox="1"/>
          <p:nvPr/>
        </p:nvSpPr>
        <p:spPr>
          <a:xfrm>
            <a:off x="5486400" y="2295601"/>
            <a:ext cx="1051560" cy="320040"/>
          </a:xfrm>
          <a:prstGeom prst="rect">
            <a:avLst/>
          </a:prstGeom>
          <a:noFill/>
          <a:ln/>
        </p:spPr>
        <p:txBody>
          <a:bodyPr wrap="square" lIns="0" tIns="0" rIns="0" bIns="0" rtlCol="0" anchor="ctr"/>
          <a:lstStyle/>
          <a:p>
            <a:pPr marL="0" indent="0" algn="ctr">
              <a:buNone/>
            </a:pPr>
            <a:r>
              <a:rPr lang="en-US" sz="1600" b="1" dirty="0">
                <a:solidFill>
                  <a:schemeClr val="tx1"/>
                </a:solidFill>
              </a:rPr>
              <a:t>71.72</a:t>
            </a:r>
            <a:endParaRPr lang="en-US" sz="1600" dirty="0"/>
          </a:p>
        </p:txBody>
      </p:sp>
      <p:sp>
        <p:nvSpPr>
          <p:cNvPr id="24" name="b3d_vt_b21"/>
          <p:cNvSpPr/>
          <p:nvPr/>
        </p:nvSpPr>
        <p:spPr>
          <a:xfrm>
            <a:off x="6537960" y="2740571"/>
            <a:ext cx="868680" cy="2380069"/>
          </a:xfrm>
          <a:prstGeom prst="rect">
            <a:avLst/>
          </a:prstGeom>
          <a:solidFill>
            <a:schemeClr val="accent3"/>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25" name="vt_v21"/>
          <p:cNvSpPr txBox="1"/>
          <p:nvPr/>
        </p:nvSpPr>
        <p:spPr>
          <a:xfrm>
            <a:off x="6446520" y="2374811"/>
            <a:ext cx="1051560" cy="320040"/>
          </a:xfrm>
          <a:prstGeom prst="rect">
            <a:avLst/>
          </a:prstGeom>
          <a:noFill/>
          <a:ln/>
        </p:spPr>
        <p:txBody>
          <a:bodyPr wrap="square" lIns="0" tIns="0" rIns="0" bIns="0" rtlCol="0" anchor="ctr"/>
          <a:lstStyle/>
          <a:p>
            <a:pPr marL="0" indent="0" algn="ctr">
              <a:buNone/>
            </a:pPr>
            <a:r>
              <a:rPr lang="en-US" sz="1600" b="1" dirty="0">
                <a:solidFill>
                  <a:schemeClr val="tx1"/>
                </a:solidFill>
              </a:rPr>
              <a:t>69.41</a:t>
            </a:r>
            <a:endParaRPr lang="en-US" sz="1600" dirty="0"/>
          </a:p>
        </p:txBody>
      </p:sp>
      <p:sp>
        <p:nvSpPr>
          <p:cNvPr id="26" name="vt_n2"/>
          <p:cNvSpPr txBox="1"/>
          <p:nvPr/>
        </p:nvSpPr>
        <p:spPr>
          <a:xfrm>
            <a:off x="5394960" y="5212080"/>
            <a:ext cx="2194560" cy="320040"/>
          </a:xfrm>
          <a:prstGeom prst="rect">
            <a:avLst/>
          </a:prstGeom>
          <a:noFill/>
          <a:ln/>
        </p:spPr>
        <p:txBody>
          <a:bodyPr wrap="square" lIns="0" tIns="0" rIns="0" bIns="0" rtlCol="0" anchor="ctr"/>
          <a:lstStyle/>
          <a:p>
            <a:pPr marL="0" indent="0" algn="ctr">
              <a:buNone/>
            </a:pPr>
            <a:r>
              <a:rPr lang="en-US" sz="1400" b="1" dirty="0">
                <a:solidFill>
                  <a:schemeClr val="tx1"/>
                </a:solidFill>
              </a:rPr>
              <a:t>Accuracy</a:t>
            </a:r>
            <a:endParaRPr lang="en-US" sz="1400" dirty="0"/>
          </a:p>
        </p:txBody>
      </p:sp>
      <p:sp>
        <p:nvSpPr>
          <p:cNvPr id="27" name="vt_g2"/>
          <p:cNvSpPr txBox="1"/>
          <p:nvPr/>
        </p:nvSpPr>
        <p:spPr>
          <a:xfrm>
            <a:off x="5394960" y="5577840"/>
            <a:ext cx="2194560" cy="320040"/>
          </a:xfrm>
          <a:prstGeom prst="rect">
            <a:avLst/>
          </a:prstGeom>
          <a:noFill/>
          <a:ln/>
        </p:spPr>
        <p:txBody>
          <a:bodyPr wrap="square" lIns="0" tIns="0" rIns="0" bIns="0" rtlCol="0" anchor="ctr"/>
          <a:lstStyle/>
          <a:p>
            <a:pPr marL="0" indent="0" algn="ctr">
              <a:buNone/>
            </a:pPr>
            <a:r>
              <a:rPr lang="en-US" sz="1600" b="1" dirty="0">
                <a:solidFill>
                  <a:schemeClr val="accent6"/>
                </a:solidFill>
              </a:rPr>
              <a:t>−2.31 pts</a:t>
            </a:r>
            <a:endParaRPr lang="en-US" sz="1600" dirty="0"/>
          </a:p>
        </p:txBody>
      </p:sp>
      <p:sp>
        <p:nvSpPr>
          <p:cNvPr id="28" name="vt_read"/>
          <p:cNvSpPr txBox="1"/>
          <p:nvPr/>
        </p:nvSpPr>
        <p:spPr>
          <a:xfrm>
            <a:off x="8138160" y="1508760"/>
            <a:ext cx="3502152" cy="4754880"/>
          </a:xfrm>
          <a:prstGeom prst="roundRect">
            <a:avLst>
              <a:gd name="adj" fmla="val 2089"/>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Reading the gap</a:t>
            </a:r>
            <a:endParaRPr lang="en-US" sz="1800" dirty="0"/>
          </a:p>
          <a:p>
            <a:pPr marL="0" indent="0" algn="l">
              <a:spcAft>
                <a:spcPts val="600"/>
              </a:spcAft>
              <a:buNone/>
            </a:pPr>
            <a:r>
              <a:rPr lang="en-US" sz="1600" dirty="0">
                <a:solidFill>
                  <a:schemeClr val="tx1"/>
                </a:solidFill>
              </a:rPr>
              <a:t>The test scores are 2 to 4 points lower than validation.</a:t>
            </a:r>
            <a:endParaRPr lang="en-US" sz="1800" dirty="0"/>
          </a:p>
          <a:p>
            <a:pPr marL="0" indent="0" algn="l">
              <a:spcAft>
                <a:spcPts val="600"/>
              </a:spcAft>
              <a:buNone/>
            </a:pPr>
            <a:r>
              <a:rPr lang="en-US" sz="1600" dirty="0">
                <a:solidFill>
                  <a:schemeClr val="tx1"/>
                </a:solidFill>
              </a:rPr>
              <a:t>Possible reasons: ordinary variation between two 693-image sets, class ambiguity, or settings that fit the validation set a little too well.</a:t>
            </a:r>
            <a:endParaRPr lang="en-US" sz="1800" dirty="0"/>
          </a:p>
          <a:p>
            <a:pPr marL="0" indent="0" algn="l">
              <a:spcAft>
                <a:spcPts val="600"/>
              </a:spcAft>
              <a:buNone/>
            </a:pPr>
            <a:r>
              <a:rPr lang="en-US" sz="1600" dirty="0">
                <a:solidFill>
                  <a:schemeClr val="tx1"/>
                </a:solidFill>
              </a:rPr>
              <a:t>One run cannot separate these.</a:t>
            </a:r>
            <a:endParaRPr lang="en-US" sz="1800" dirty="0"/>
          </a:p>
          <a:p>
            <a:pPr marL="0" indent="0" algn="l">
              <a:buNone/>
            </a:pPr>
            <a:r>
              <a:rPr lang="en-US" sz="1600" dirty="0">
                <a:solidFill>
                  <a:schemeClr val="tx1"/>
                </a:solidFill>
              </a:rPr>
              <a:t>The split is image-level, not event-held-out, so a new disaster could give a larger gap.</a:t>
            </a:r>
            <a:endParaRPr lang="en-US" sz="1800" dirty="0"/>
          </a:p>
        </p:txBody>
      </p:sp>
      <p:sp>
        <p:nvSpPr>
          <p:cNvPr id="4"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700"/>
                                        <p:tgtEl>
                                          <p:spTgt spid="10"/>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22" presetClass="entr" presetSubtype="4" fill="hold" grpId="0" nodeType="withEffect">
                                  <p:stCondLst>
                                    <p:cond delay="400"/>
                                  </p:stCondLst>
                                  <p:childTnLst>
                                    <p:set>
                                      <p:cBhvr>
                                        <p:cTn id="12" dur="1" fill="hold">
                                          <p:stCondLst>
                                            <p:cond delay="0"/>
                                          </p:stCondLst>
                                        </p:cTn>
                                        <p:tgtEl>
                                          <p:spTgt spid="12"/>
                                        </p:tgtEl>
                                        <p:attrNameLst>
                                          <p:attrName>style.visibility</p:attrName>
                                        </p:attrNameLst>
                                      </p:cBhvr>
                                      <p:to>
                                        <p:strVal val="visible"/>
                                      </p:to>
                                    </p:set>
                                    <p:animEffect transition="in" filter="wipe(down)">
                                      <p:cBhvr>
                                        <p:cTn id="13" dur="700"/>
                                        <p:tgtEl>
                                          <p:spTgt spid="12"/>
                                        </p:tgtEl>
                                      </p:cBhvr>
                                    </p:animEffect>
                                  </p:childTnLst>
                                </p:cTn>
                              </p:par>
                              <p:par>
                                <p:cTn id="14" presetID="10" presetClass="entr" presetSubtype="0" fill="hold" grpId="0" nodeType="withEffect">
                                  <p:stCondLst>
                                    <p:cond delay="9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11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700"/>
                                        <p:tgtEl>
                                          <p:spTgt spid="16"/>
                                        </p:tgtEl>
                                      </p:cBhvr>
                                    </p:animEffect>
                                  </p:childTnLst>
                                </p:cTn>
                              </p:par>
                              <p:par>
                                <p:cTn id="28" presetID="10" presetClass="entr" presetSubtype="0" fill="hold" grpId="0" nodeType="withEffect">
                                  <p:stCondLst>
                                    <p:cond delay="5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22" presetClass="entr" presetSubtype="4" fill="hold" grpId="0" nodeType="withEffect">
                                  <p:stCondLst>
                                    <p:cond delay="400"/>
                                  </p:stCondLst>
                                  <p:childTnLst>
                                    <p:set>
                                      <p:cBhvr>
                                        <p:cTn id="32" dur="1" fill="hold">
                                          <p:stCondLst>
                                            <p:cond delay="0"/>
                                          </p:stCondLst>
                                        </p:cTn>
                                        <p:tgtEl>
                                          <p:spTgt spid="18"/>
                                        </p:tgtEl>
                                        <p:attrNameLst>
                                          <p:attrName>style.visibility</p:attrName>
                                        </p:attrNameLst>
                                      </p:cBhvr>
                                      <p:to>
                                        <p:strVal val="visible"/>
                                      </p:to>
                                    </p:set>
                                    <p:animEffect transition="in" filter="wipe(down)">
                                      <p:cBhvr>
                                        <p:cTn id="33" dur="700"/>
                                        <p:tgtEl>
                                          <p:spTgt spid="18"/>
                                        </p:tgtEl>
                                      </p:cBhvr>
                                    </p:animEffect>
                                  </p:childTnLst>
                                </p:cTn>
                              </p:par>
                              <p:par>
                                <p:cTn id="34" presetID="10" presetClass="entr" presetSubtype="0" fill="hold" grpId="0" nodeType="withEffect">
                                  <p:stCondLst>
                                    <p:cond delay="90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110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700"/>
                                        <p:tgtEl>
                                          <p:spTgt spid="22"/>
                                        </p:tgtEl>
                                      </p:cBhvr>
                                    </p:animEffect>
                                  </p:childTnLst>
                                </p:cTn>
                              </p:par>
                              <p:par>
                                <p:cTn id="48" presetID="10" presetClass="entr" presetSubtype="0" fill="hold" grpId="0" nodeType="withEffect">
                                  <p:stCondLst>
                                    <p:cond delay="50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par>
                                <p:cTn id="51" presetID="22" presetClass="entr" presetSubtype="4" fill="hold" grpId="0" nodeType="withEffect">
                                  <p:stCondLst>
                                    <p:cond delay="400"/>
                                  </p:stCondLst>
                                  <p:childTnLst>
                                    <p:set>
                                      <p:cBhvr>
                                        <p:cTn id="52" dur="1" fill="hold">
                                          <p:stCondLst>
                                            <p:cond delay="0"/>
                                          </p:stCondLst>
                                        </p:cTn>
                                        <p:tgtEl>
                                          <p:spTgt spid="24"/>
                                        </p:tgtEl>
                                        <p:attrNameLst>
                                          <p:attrName>style.visibility</p:attrName>
                                        </p:attrNameLst>
                                      </p:cBhvr>
                                      <p:to>
                                        <p:strVal val="visible"/>
                                      </p:to>
                                    </p:set>
                                    <p:animEffect transition="in" filter="wipe(down)">
                                      <p:cBhvr>
                                        <p:cTn id="53" dur="700"/>
                                        <p:tgtEl>
                                          <p:spTgt spid="24"/>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par>
                                <p:cTn id="60" presetID="10" presetClass="entr" presetSubtype="0" fill="hold" grpId="0" nodeType="withEffect">
                                  <p:stCondLst>
                                    <p:cond delay="110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600" fill="hold"/>
                                        <p:tgtEl>
                                          <p:spTgt spid="28"/>
                                        </p:tgtEl>
                                        <p:attrNameLst>
                                          <p:attrName>ppt_x</p:attrName>
                                        </p:attrNameLst>
                                      </p:cBhvr>
                                      <p:tavLst>
                                        <p:tav tm="0">
                                          <p:val>
                                            <p:strVal val="#ppt_x"/>
                                          </p:val>
                                        </p:tav>
                                        <p:tav tm="100000">
                                          <p:val>
                                            <p:strVal val="#ppt_x"/>
                                          </p:val>
                                        </p:tav>
                                      </p:tavLst>
                                    </p:anim>
                                    <p:anim calcmode="lin" valueType="num">
                                      <p:cBhvr additive="base">
                                        <p:cTn id="68" dur="6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FINAL EVALUATION</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Per-class results need a label check</a:t>
            </a:r>
            <a:endParaRPr lang="en-US" sz="3600" dirty="0"/>
          </a:p>
        </p:txBody>
      </p:sp>
      <p:sp>
        <p:nvSpPr>
          <p:cNvPr id="5" name="panel_0.6_1.65"/>
          <p:cNvSpPr/>
          <p:nvPr/>
        </p:nvSpPr>
        <p:spPr>
          <a:xfrm>
            <a:off x="548640" y="1508760"/>
            <a:ext cx="6217920" cy="4754880"/>
          </a:xfrm>
          <a:prstGeom prst="roundRect">
            <a:avLst>
              <a:gd name="adj" fmla="val 1538"/>
            </a:avLst>
          </a:prstGeom>
          <a:solidFill>
            <a:schemeClr val="bg2"/>
          </a:solidFill>
          <a:ln/>
        </p:spPr>
        <p:txBody>
          <a:bodyPr/>
          <a:lstStyle/>
          <a:p>
            <a:endParaRPr lang="en-US"/>
          </a:p>
        </p:txBody>
      </p:sp>
      <p:sp>
        <p:nvSpPr>
          <p:cNvPr id="6" name="pc_t"/>
          <p:cNvSpPr txBox="1"/>
          <p:nvPr/>
        </p:nvSpPr>
        <p:spPr>
          <a:xfrm>
            <a:off x="777240" y="1645920"/>
            <a:ext cx="5760720" cy="365760"/>
          </a:xfrm>
          <a:prstGeom prst="rect">
            <a:avLst/>
          </a:prstGeom>
          <a:noFill/>
          <a:ln/>
        </p:spPr>
        <p:txBody>
          <a:bodyPr wrap="square" lIns="0" tIns="0" rIns="0" bIns="0" rtlCol="0" anchor="ctr"/>
          <a:lstStyle/>
          <a:p>
            <a:pPr marL="0" indent="0" algn="l">
              <a:buNone/>
            </a:pPr>
            <a:r>
              <a:rPr lang="en-US" sz="1600" b="1" dirty="0">
                <a:solidFill>
                  <a:schemeClr val="tx2"/>
                </a:solidFill>
              </a:rPr>
              <a:t>F1 per class, as printed in the report (provisional)</a:t>
            </a:r>
            <a:endParaRPr lang="en-US" sz="1600" dirty="0"/>
          </a:p>
        </p:txBody>
      </p:sp>
      <p:sp>
        <p:nvSpPr>
          <p:cNvPr id="7" name="pc_l0"/>
          <p:cNvSpPr txBox="1"/>
          <p:nvPr/>
        </p:nvSpPr>
        <p:spPr>
          <a:xfrm>
            <a:off x="777240" y="2286000"/>
            <a:ext cx="3657600" cy="320040"/>
          </a:xfrm>
          <a:prstGeom prst="rect">
            <a:avLst/>
          </a:prstGeom>
          <a:noFill/>
          <a:ln/>
        </p:spPr>
        <p:txBody>
          <a:bodyPr wrap="square" lIns="0" tIns="0" rIns="0" bIns="0" rtlCol="0" anchor="ctr"/>
          <a:lstStyle/>
          <a:p>
            <a:pPr marL="0" indent="0" algn="l">
              <a:buNone/>
            </a:pPr>
            <a:r>
              <a:rPr lang="en-US" sz="1400" b="1" dirty="0">
                <a:solidFill>
                  <a:schemeClr val="tx1"/>
                </a:solidFill>
              </a:rPr>
              <a:t>little_or_no_damage</a:t>
            </a:r>
            <a:endParaRPr lang="en-US" sz="1400" dirty="0"/>
          </a:p>
        </p:txBody>
      </p:sp>
      <p:sp>
        <p:nvSpPr>
          <p:cNvPr id="8" name="pc_s0"/>
          <p:cNvSpPr txBox="1"/>
          <p:nvPr/>
        </p:nvSpPr>
        <p:spPr>
          <a:xfrm>
            <a:off x="777240" y="2633472"/>
            <a:ext cx="3657600" cy="274320"/>
          </a:xfrm>
          <a:prstGeom prst="rect">
            <a:avLst/>
          </a:prstGeom>
          <a:noFill/>
          <a:ln/>
        </p:spPr>
        <p:txBody>
          <a:bodyPr wrap="square" lIns="0" tIns="0" rIns="0" bIns="0" rtlCol="0" anchor="ctr"/>
          <a:lstStyle/>
          <a:p>
            <a:pPr marL="0" indent="0" algn="l">
              <a:buNone/>
            </a:pPr>
            <a:r>
              <a:rPr lang="en-US" sz="1200" dirty="0">
                <a:solidFill>
                  <a:schemeClr val="accent5"/>
                </a:solidFill>
              </a:rPr>
              <a:t>P 43.44  R 55.79  n = 95</a:t>
            </a:r>
            <a:endParaRPr lang="en-US" sz="1200" dirty="0"/>
          </a:p>
        </p:txBody>
      </p:sp>
      <p:sp>
        <p:nvSpPr>
          <p:cNvPr id="9" name="b3d_pc_b0"/>
          <p:cNvSpPr/>
          <p:nvPr/>
        </p:nvSpPr>
        <p:spPr>
          <a:xfrm>
            <a:off x="777240" y="2944368"/>
            <a:ext cx="1340053" cy="365760"/>
          </a:xfrm>
          <a:prstGeom prst="rect">
            <a:avLst/>
          </a:prstGeom>
          <a:solidFill>
            <a:schemeClr val="accent5"/>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0" name="pc_v0"/>
          <p:cNvSpPr txBox="1"/>
          <p:nvPr/>
        </p:nvSpPr>
        <p:spPr>
          <a:xfrm>
            <a:off x="2227021" y="2944368"/>
            <a:ext cx="914400" cy="365760"/>
          </a:xfrm>
          <a:prstGeom prst="rect">
            <a:avLst/>
          </a:prstGeom>
          <a:noFill/>
          <a:ln/>
        </p:spPr>
        <p:txBody>
          <a:bodyPr wrap="square" lIns="0" tIns="0" rIns="0" bIns="0" rtlCol="0" anchor="ctr"/>
          <a:lstStyle/>
          <a:p>
            <a:pPr marL="0" indent="0" algn="l">
              <a:buNone/>
            </a:pPr>
            <a:r>
              <a:rPr lang="en-US" sz="1800" b="1" dirty="0">
                <a:solidFill>
                  <a:schemeClr val="tx1"/>
                </a:solidFill>
              </a:rPr>
              <a:t>48.85</a:t>
            </a:r>
            <a:endParaRPr lang="en-US" sz="1800" dirty="0"/>
          </a:p>
        </p:txBody>
      </p:sp>
      <p:sp>
        <p:nvSpPr>
          <p:cNvPr id="11" name="pc_l1"/>
          <p:cNvSpPr txBox="1"/>
          <p:nvPr/>
        </p:nvSpPr>
        <p:spPr>
          <a:xfrm>
            <a:off x="777240" y="3566160"/>
            <a:ext cx="3657600" cy="320040"/>
          </a:xfrm>
          <a:prstGeom prst="rect">
            <a:avLst/>
          </a:prstGeom>
          <a:noFill/>
          <a:ln/>
        </p:spPr>
        <p:txBody>
          <a:bodyPr wrap="square" lIns="0" tIns="0" rIns="0" bIns="0" rtlCol="0" anchor="ctr"/>
          <a:lstStyle/>
          <a:p>
            <a:pPr marL="0" indent="0" algn="l">
              <a:buNone/>
            </a:pPr>
            <a:r>
              <a:rPr lang="en-US" sz="1400" b="1" dirty="0">
                <a:solidFill>
                  <a:schemeClr val="tx1"/>
                </a:solidFill>
              </a:rPr>
              <a:t>mild_damage</a:t>
            </a:r>
            <a:endParaRPr lang="en-US" sz="1400" dirty="0"/>
          </a:p>
        </p:txBody>
      </p:sp>
      <p:sp>
        <p:nvSpPr>
          <p:cNvPr id="12" name="pc_s1"/>
          <p:cNvSpPr txBox="1"/>
          <p:nvPr/>
        </p:nvSpPr>
        <p:spPr>
          <a:xfrm>
            <a:off x="777240" y="3913632"/>
            <a:ext cx="3657600" cy="274320"/>
          </a:xfrm>
          <a:prstGeom prst="rect">
            <a:avLst/>
          </a:prstGeom>
          <a:noFill/>
          <a:ln/>
        </p:spPr>
        <p:txBody>
          <a:bodyPr wrap="square" lIns="0" tIns="0" rIns="0" bIns="0" rtlCol="0" anchor="ctr"/>
          <a:lstStyle/>
          <a:p>
            <a:pPr marL="0" indent="0" algn="l">
              <a:buNone/>
            </a:pPr>
            <a:r>
              <a:rPr lang="en-US" sz="1200" dirty="0">
                <a:solidFill>
                  <a:schemeClr val="accent5"/>
                </a:solidFill>
              </a:rPr>
              <a:t>P 45.88  R 47.27  n = 165</a:t>
            </a:r>
            <a:endParaRPr lang="en-US" sz="1200" dirty="0"/>
          </a:p>
        </p:txBody>
      </p:sp>
      <p:sp>
        <p:nvSpPr>
          <p:cNvPr id="13" name="b3d_pc_b1"/>
          <p:cNvSpPr/>
          <p:nvPr/>
        </p:nvSpPr>
        <p:spPr>
          <a:xfrm>
            <a:off x="777240" y="4224528"/>
            <a:ext cx="1277508" cy="365760"/>
          </a:xfrm>
          <a:prstGeom prst="rect">
            <a:avLst/>
          </a:prstGeom>
          <a:solidFill>
            <a:schemeClr val="accent5"/>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4" name="pc_v1"/>
          <p:cNvSpPr txBox="1"/>
          <p:nvPr/>
        </p:nvSpPr>
        <p:spPr>
          <a:xfrm>
            <a:off x="2164476" y="4224528"/>
            <a:ext cx="914400" cy="365760"/>
          </a:xfrm>
          <a:prstGeom prst="rect">
            <a:avLst/>
          </a:prstGeom>
          <a:noFill/>
          <a:ln/>
        </p:spPr>
        <p:txBody>
          <a:bodyPr wrap="square" lIns="0" tIns="0" rIns="0" bIns="0" rtlCol="0" anchor="ctr"/>
          <a:lstStyle/>
          <a:p>
            <a:pPr marL="0" indent="0" algn="l">
              <a:buNone/>
            </a:pPr>
            <a:r>
              <a:rPr lang="en-US" sz="1800" b="1" dirty="0">
                <a:solidFill>
                  <a:schemeClr val="tx1"/>
                </a:solidFill>
              </a:rPr>
              <a:t>46.57</a:t>
            </a:r>
            <a:endParaRPr lang="en-US" sz="1800" dirty="0"/>
          </a:p>
        </p:txBody>
      </p:sp>
      <p:sp>
        <p:nvSpPr>
          <p:cNvPr id="15" name="pc_l2"/>
          <p:cNvSpPr txBox="1"/>
          <p:nvPr/>
        </p:nvSpPr>
        <p:spPr>
          <a:xfrm>
            <a:off x="777240" y="4846320"/>
            <a:ext cx="3657600" cy="320040"/>
          </a:xfrm>
          <a:prstGeom prst="rect">
            <a:avLst/>
          </a:prstGeom>
          <a:noFill/>
          <a:ln/>
        </p:spPr>
        <p:txBody>
          <a:bodyPr wrap="square" lIns="0" tIns="0" rIns="0" bIns="0" rtlCol="0" anchor="ctr"/>
          <a:lstStyle/>
          <a:p>
            <a:pPr marL="0" indent="0" algn="l">
              <a:buNone/>
            </a:pPr>
            <a:r>
              <a:rPr lang="en-US" sz="1400" b="1" dirty="0">
                <a:solidFill>
                  <a:schemeClr val="tx1"/>
                </a:solidFill>
              </a:rPr>
              <a:t>severe_damage</a:t>
            </a:r>
            <a:endParaRPr lang="en-US" sz="1400" dirty="0"/>
          </a:p>
        </p:txBody>
      </p:sp>
      <p:sp>
        <p:nvSpPr>
          <p:cNvPr id="16" name="pc_s2"/>
          <p:cNvSpPr txBox="1"/>
          <p:nvPr/>
        </p:nvSpPr>
        <p:spPr>
          <a:xfrm>
            <a:off x="777240" y="5193792"/>
            <a:ext cx="3657600" cy="274320"/>
          </a:xfrm>
          <a:prstGeom prst="rect">
            <a:avLst/>
          </a:prstGeom>
          <a:noFill/>
          <a:ln/>
        </p:spPr>
        <p:txBody>
          <a:bodyPr wrap="square" lIns="0" tIns="0" rIns="0" bIns="0" rtlCol="0" anchor="ctr"/>
          <a:lstStyle/>
          <a:p>
            <a:pPr marL="0" indent="0" algn="l">
              <a:buNone/>
            </a:pPr>
            <a:r>
              <a:rPr lang="en-US" sz="1200" dirty="0">
                <a:solidFill>
                  <a:schemeClr val="accent5"/>
                </a:solidFill>
              </a:rPr>
              <a:t>P 87.28  R 80.83  n = 433</a:t>
            </a:r>
            <a:endParaRPr lang="en-US" sz="1200" dirty="0"/>
          </a:p>
        </p:txBody>
      </p:sp>
      <p:sp>
        <p:nvSpPr>
          <p:cNvPr id="17" name="b3d_pc_b2"/>
          <p:cNvSpPr/>
          <p:nvPr/>
        </p:nvSpPr>
        <p:spPr>
          <a:xfrm>
            <a:off x="777240" y="5504688"/>
            <a:ext cx="2302368" cy="365760"/>
          </a:xfrm>
          <a:prstGeom prst="rect">
            <a:avLst/>
          </a:prstGeom>
          <a:solidFill>
            <a:schemeClr val="accent2"/>
          </a:solidFill>
          <a:ln/>
          <a:effectLst>
            <a:outerShdw blurRad="101600" dist="38100" dir="5400000" algn="bl" rotWithShape="0">
              <a:srgbClr val="1B2433">
                <a:alpha val="16000"/>
              </a:srgbClr>
            </a:outerShdw>
          </a:effectLst>
          <a:scene3d>
            <a:camera prst="orthographicFront"/>
            <a:lightRig rig="soft" dir="t"/>
          </a:scene3d>
          <a:sp3d prstMaterial="softEdge">
            <a:bevelT w="63500" h="63500" prst="softRound"/>
          </a:sp3d>
        </p:spPr>
        <p:txBody>
          <a:bodyPr/>
          <a:lstStyle/>
          <a:p>
            <a:endParaRPr lang="en-US"/>
          </a:p>
        </p:txBody>
      </p:sp>
      <p:sp>
        <p:nvSpPr>
          <p:cNvPr id="18" name="pc_v2"/>
          <p:cNvSpPr txBox="1"/>
          <p:nvPr/>
        </p:nvSpPr>
        <p:spPr>
          <a:xfrm>
            <a:off x="3189336" y="5504688"/>
            <a:ext cx="914400" cy="365760"/>
          </a:xfrm>
          <a:prstGeom prst="rect">
            <a:avLst/>
          </a:prstGeom>
          <a:noFill/>
          <a:ln/>
        </p:spPr>
        <p:txBody>
          <a:bodyPr wrap="square" lIns="0" tIns="0" rIns="0" bIns="0" rtlCol="0" anchor="ctr"/>
          <a:lstStyle/>
          <a:p>
            <a:pPr marL="0" indent="0" algn="l">
              <a:buNone/>
            </a:pPr>
            <a:r>
              <a:rPr lang="en-US" sz="1800" b="1" dirty="0">
                <a:solidFill>
                  <a:schemeClr val="tx1"/>
                </a:solidFill>
              </a:rPr>
              <a:t>83.93</a:t>
            </a:r>
            <a:endParaRPr lang="en-US" sz="1800" dirty="0"/>
          </a:p>
        </p:txBody>
      </p:sp>
      <p:sp>
        <p:nvSpPr>
          <p:cNvPr id="19" name="pc_warn"/>
          <p:cNvSpPr txBox="1"/>
          <p:nvPr/>
        </p:nvSpPr>
        <p:spPr>
          <a:xfrm>
            <a:off x="7040880" y="1508760"/>
            <a:ext cx="4599432" cy="2834640"/>
          </a:xfrm>
          <a:prstGeom prst="roundRect">
            <a:avLst>
              <a:gd name="adj" fmla="val 2581"/>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accent6"/>
                </a:solidFill>
              </a:rPr>
              <a:t>Check before reading these</a:t>
            </a:r>
            <a:endParaRPr lang="en-US" sz="1800" dirty="0"/>
          </a:p>
          <a:p>
            <a:pPr marL="0" indent="0" algn="l">
              <a:spcAft>
                <a:spcPts val="600"/>
              </a:spcAft>
              <a:buNone/>
            </a:pPr>
            <a:r>
              <a:rPr lang="en-US" sz="1500" dirty="0">
                <a:solidFill>
                  <a:schemeClr val="tx1"/>
                </a:solidFill>
              </a:rPr>
              <a:t>Printed supports: 95, 165, 433 (little/no, mild, severe). Dataset counts: 2,166, 823, 474, so a 20% test split should give about 433, 165, 95. The first and third labels look swapped.</a:t>
            </a:r>
            <a:endParaRPr lang="en-US" sz="1800" dirty="0"/>
          </a:p>
          <a:p>
            <a:pPr marL="0" indent="0" algn="l">
              <a:spcAft>
                <a:spcPts val="600"/>
              </a:spcAft>
              <a:buNone/>
            </a:pPr>
            <a:r>
              <a:rPr lang="en-US" sz="1500" dirty="0">
                <a:solidFill>
                  <a:schemeClr val="tx1"/>
                </a:solidFill>
              </a:rPr>
              <a:t>Aggregate metrics are unaffected; per-class names are provisional.</a:t>
            </a:r>
            <a:endParaRPr lang="en-US" sz="1800" dirty="0"/>
          </a:p>
          <a:p>
            <a:pPr marL="0" indent="0" algn="l">
              <a:buNone/>
            </a:pPr>
            <a:r>
              <a:rPr lang="en-US" sz="1500" b="1" dirty="0">
                <a:solidFill>
                  <a:schemeClr val="tx1"/>
                </a:solidFill>
              </a:rPr>
              <a:t>Next: decode predictions with the training label mapping and regenerate the confusion matrix.</a:t>
            </a:r>
            <a:endParaRPr lang="en-US" sz="1800" dirty="0"/>
          </a:p>
        </p:txBody>
      </p:sp>
      <p:sp>
        <p:nvSpPr>
          <p:cNvPr id="20" name="pc_term"/>
          <p:cNvSpPr txBox="1"/>
          <p:nvPr/>
        </p:nvSpPr>
        <p:spPr>
          <a:xfrm>
            <a:off x="7040880" y="4480560"/>
            <a:ext cx="4599432" cy="1783080"/>
          </a:xfrm>
          <a:prstGeom prst="roundRect">
            <a:avLst>
              <a:gd name="adj" fmla="val 4103"/>
            </a:avLst>
          </a:prstGeom>
          <a:solidFill>
            <a:schemeClr val="accent3">
              <a:alpha val="12000"/>
            </a:schemeClr>
          </a:solidFill>
          <a:ln w="15875">
            <a:solidFill>
              <a:schemeClr val="accent3"/>
            </a:solidFill>
          </a:ln>
          <a:effectLst>
            <a:outerShdw blurRad="101600" dist="38100" dir="5400000" algn="bl" rotWithShape="0">
              <a:srgbClr val="1B2433">
                <a:alpha val="16000"/>
              </a:srgbClr>
            </a:outerShdw>
          </a:effectLst>
        </p:spPr>
        <p:txBody>
          <a:bodyPr wrap="square" lIns="127000" tIns="127000" rIns="127000" bIns="127000" rtlCol="0" anchor="t"/>
          <a:lstStyle/>
          <a:p>
            <a:pPr marL="0" indent="0">
              <a:buNone/>
            </a:pPr>
            <a:r>
              <a:rPr lang="en-US" sz="1100" b="1" dirty="0">
                <a:solidFill>
                  <a:schemeClr val="accent3"/>
                </a:solidFill>
              </a:rPr>
              <a:t>KEY TERM</a:t>
            </a:r>
            <a:endParaRPr lang="en-US" sz="1100" dirty="0"/>
          </a:p>
          <a:p>
            <a:pPr marL="0" indent="0">
              <a:spcAft>
                <a:spcPts val="400"/>
              </a:spcAft>
              <a:buNone/>
            </a:pPr>
            <a:r>
              <a:rPr lang="en-US" sz="1700" b="1" dirty="0">
                <a:solidFill>
                  <a:schemeClr val="tx2"/>
                </a:solidFill>
              </a:rPr>
              <a:t>Precision, recall, support</a:t>
            </a:r>
            <a:endParaRPr lang="en-US" sz="1100" dirty="0"/>
          </a:p>
          <a:p>
            <a:pPr marL="0" indent="0">
              <a:spcAft>
                <a:spcPts val="400"/>
              </a:spcAft>
              <a:buNone/>
            </a:pPr>
            <a:r>
              <a:rPr lang="en-US" sz="1300" dirty="0">
                <a:solidFill>
                  <a:schemeClr val="tx1"/>
                </a:solidFill>
              </a:rPr>
              <a:t>Precision: share of images predicted as a class that truly belong to it.</a:t>
            </a:r>
            <a:endParaRPr lang="en-US" sz="1100" dirty="0"/>
          </a:p>
          <a:p>
            <a:pPr marL="0" indent="0">
              <a:spcAft>
                <a:spcPts val="400"/>
              </a:spcAft>
              <a:buNone/>
            </a:pPr>
            <a:r>
              <a:rPr lang="en-US" sz="1300" dirty="0">
                <a:solidFill>
                  <a:schemeClr val="tx1"/>
                </a:solidFill>
              </a:rPr>
              <a:t>Recall: share of images truly in a class that the model finds.</a:t>
            </a:r>
            <a:endParaRPr lang="en-US" sz="1100" dirty="0"/>
          </a:p>
          <a:p>
            <a:pPr marL="0" indent="0">
              <a:buNone/>
            </a:pPr>
            <a:r>
              <a:rPr lang="en-US" sz="1300" dirty="0">
                <a:solidFill>
                  <a:schemeClr val="tx1"/>
                </a:solidFill>
              </a:rPr>
              <a:t>Support (n): number of true test images of that class.</a:t>
            </a:r>
            <a:endParaRPr lang="en-US" sz="11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700"/>
                                        <p:tgtEl>
                                          <p:spTgt spid="9"/>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700"/>
                                        <p:tgtEl>
                                          <p:spTgt spid="13"/>
                                        </p:tgtEl>
                                      </p:cBhvr>
                                    </p:animEffect>
                                  </p:childTnLst>
                                </p:cTn>
                              </p:par>
                              <p:par>
                                <p:cTn id="22" presetID="10" presetClass="entr" presetSubtype="0" fill="hold" grpId="0" nodeType="withEffect">
                                  <p:stCondLst>
                                    <p:cond delay="50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700"/>
                                        <p:tgtEl>
                                          <p:spTgt spid="17"/>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600" fill="hold"/>
                                        <p:tgtEl>
                                          <p:spTgt spid="19"/>
                                        </p:tgtEl>
                                        <p:attrNameLst>
                                          <p:attrName>ppt_x</p:attrName>
                                        </p:attrNameLst>
                                      </p:cBhvr>
                                      <p:tavLst>
                                        <p:tav tm="0">
                                          <p:val>
                                            <p:strVal val="#ppt_x"/>
                                          </p:val>
                                        </p:tav>
                                        <p:tav tm="100000">
                                          <p:val>
                                            <p:strVal val="#ppt_x"/>
                                          </p:val>
                                        </p:tav>
                                      </p:tavLst>
                                    </p:anim>
                                    <p:anim calcmode="lin" valueType="num">
                                      <p:cBhvr additive="base">
                                        <p:cTn id="50" dur="6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0">
                                            <p:txEl>
                                              <p:charRg st="4294967295" end="4294967295"/>
                                            </p:txEl>
                                          </p:spTgt>
                                        </p:tgtEl>
                                        <p:attrNameLst>
                                          <p:attrName>style.visibility</p:attrName>
                                        </p:attrNameLst>
                                      </p:cBhvr>
                                      <p:to>
                                        <p:strVal val="visible"/>
                                      </p:to>
                                    </p:set>
                                    <p:anim calcmode="lin" valueType="num">
                                      <p:cBhvr additive="base">
                                        <p:cTn id="55" dur="600" fill="hold"/>
                                        <p:tgtEl>
                                          <p:spTgt spid="20">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56" dur="600" fill="hold"/>
                                        <p:tgtEl>
                                          <p:spTgt spid="20">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WHAT I LEARNED</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What the experiments showed</a:t>
            </a:r>
            <a:endParaRPr lang="en-US" sz="3600" dirty="0"/>
          </a:p>
        </p:txBody>
      </p:sp>
      <p:sp>
        <p:nvSpPr>
          <p:cNvPr id="5" name="kf_0"/>
          <p:cNvSpPr txBox="1"/>
          <p:nvPr/>
        </p:nvSpPr>
        <p:spPr>
          <a:xfrm>
            <a:off x="548640" y="1508760"/>
            <a:ext cx="5468112" cy="2286000"/>
          </a:xfrm>
          <a:prstGeom prst="roundRect">
            <a:avLst>
              <a:gd name="adj" fmla="val 32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800"/>
              </a:spcAft>
              <a:buNone/>
            </a:pPr>
            <a:r>
              <a:rPr lang="en-US" sz="2000" b="1" dirty="0">
                <a:solidFill>
                  <a:schemeClr val="tx2"/>
                </a:solidFill>
              </a:rPr>
              <a:t>1   Pretraining sets the starting point</a:t>
            </a:r>
            <a:endParaRPr lang="en-US" sz="2000" dirty="0"/>
          </a:p>
          <a:p>
            <a:pPr marL="0" indent="0" algn="l">
              <a:buNone/>
            </a:pPr>
            <a:r>
              <a:rPr lang="en-US" sz="1700" dirty="0">
                <a:solidFill>
                  <a:schemeClr val="tx1"/>
                </a:solidFill>
              </a:rPr>
              <a:t>With the backbone frozen, DINOv2 beat ViT by 5.73 and ConViT by 7.28 Macro-F1 points. Self-supervised features transferred better than supervised ones on this split.</a:t>
            </a:r>
            <a:endParaRPr lang="en-US" sz="2000" dirty="0"/>
          </a:p>
        </p:txBody>
      </p:sp>
      <p:sp>
        <p:nvSpPr>
          <p:cNvPr id="6" name="kf_1"/>
          <p:cNvSpPr txBox="1"/>
          <p:nvPr/>
        </p:nvSpPr>
        <p:spPr>
          <a:xfrm>
            <a:off x="6172200" y="1508760"/>
            <a:ext cx="5468112" cy="2286000"/>
          </a:xfrm>
          <a:prstGeom prst="roundRect">
            <a:avLst>
              <a:gd name="adj" fmla="val 32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800"/>
              </a:spcAft>
              <a:buNone/>
            </a:pPr>
            <a:r>
              <a:rPr lang="en-US" sz="2000" b="1" dirty="0">
                <a:solidFill>
                  <a:schemeClr val="tx2"/>
                </a:solidFill>
              </a:rPr>
              <a:t>2   More adaptation is not always better</a:t>
            </a:r>
            <a:endParaRPr lang="en-US" sz="2000" dirty="0"/>
          </a:p>
          <a:p>
            <a:pPr marL="0" indent="0" algn="l">
              <a:buNone/>
            </a:pPr>
            <a:r>
              <a:rPr lang="en-US" sz="1700" dirty="0">
                <a:solidFill>
                  <a:schemeClr val="tx1"/>
                </a:solidFill>
              </a:rPr>
              <a:t>Unfreezing two blocks raised accuracy to 68.40% but gave a lower Macro-F1 than one block (59.47 vs 60.00).</a:t>
            </a:r>
            <a:endParaRPr lang="en-US" sz="2000" dirty="0"/>
          </a:p>
        </p:txBody>
      </p:sp>
      <p:sp>
        <p:nvSpPr>
          <p:cNvPr id="7" name="kf_2"/>
          <p:cNvSpPr txBox="1"/>
          <p:nvPr/>
        </p:nvSpPr>
        <p:spPr>
          <a:xfrm>
            <a:off x="548640" y="3977640"/>
            <a:ext cx="5468112" cy="2286000"/>
          </a:xfrm>
          <a:prstGeom prst="roundRect">
            <a:avLst>
              <a:gd name="adj" fmla="val 32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800"/>
              </a:spcAft>
              <a:buNone/>
            </a:pPr>
            <a:r>
              <a:rPr lang="en-US" sz="2000" b="1" dirty="0">
                <a:solidFill>
                  <a:schemeClr val="tx2"/>
                </a:solidFill>
              </a:rPr>
              <a:t>3   Head and loss reshape class balance</a:t>
            </a:r>
            <a:endParaRPr lang="en-US" sz="2000" dirty="0"/>
          </a:p>
          <a:p>
            <a:pPr marL="0" indent="0" algn="l">
              <a:buNone/>
            </a:pPr>
            <a:r>
              <a:rPr lang="en-US" sz="1700" dirty="0">
                <a:solidFill>
                  <a:schemeClr val="tx1"/>
                </a:solidFill>
              </a:rPr>
              <a:t>Focal loss gave the highest Macro-F1 (65.74%); the Conv + GroupNorm head gave higher accuracy and balanced accuracy.</a:t>
            </a:r>
            <a:endParaRPr lang="en-US" sz="2000" dirty="0"/>
          </a:p>
        </p:txBody>
      </p:sp>
      <p:sp>
        <p:nvSpPr>
          <p:cNvPr id="8" name="kf_3"/>
          <p:cNvSpPr txBox="1"/>
          <p:nvPr/>
        </p:nvSpPr>
        <p:spPr>
          <a:xfrm>
            <a:off x="6172200" y="3977640"/>
            <a:ext cx="5468112" cy="2286000"/>
          </a:xfrm>
          <a:prstGeom prst="roundRect">
            <a:avLst>
              <a:gd name="adj" fmla="val 3200"/>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800"/>
              </a:spcAft>
              <a:buNone/>
            </a:pPr>
            <a:r>
              <a:rPr lang="en-US" sz="2000" b="1" dirty="0">
                <a:solidFill>
                  <a:schemeClr val="tx2"/>
                </a:solidFill>
              </a:rPr>
              <a:t>4   Augmentation trades one metric for another</a:t>
            </a:r>
            <a:endParaRPr lang="en-US" sz="2000" dirty="0"/>
          </a:p>
          <a:p>
            <a:pPr marL="0" indent="0" algn="l">
              <a:buNone/>
            </a:pPr>
            <a:r>
              <a:rPr lang="en-US" sz="1700" dirty="0">
                <a:solidFill>
                  <a:schemeClr val="tx1"/>
                </a:solidFill>
              </a:rPr>
              <a:t>Realistic led Macro-F1 (+0.11), RandAugment led balanced accuracy, baseline led accuracy. The gaps are small and come from single runs.</a:t>
            </a:r>
            <a:endParaRPr lang="en-US" sz="2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600" fill="hold"/>
                                        <p:tgtEl>
                                          <p:spTgt spid="6"/>
                                        </p:tgtEl>
                                        <p:attrNameLst>
                                          <p:attrName>ppt_x</p:attrName>
                                        </p:attrNameLst>
                                      </p:cBhvr>
                                      <p:tavLst>
                                        <p:tav tm="0">
                                          <p:val>
                                            <p:strVal val="#ppt_x"/>
                                          </p:val>
                                        </p:tav>
                                        <p:tav tm="100000">
                                          <p:val>
                                            <p:strVal val="#ppt_x"/>
                                          </p:val>
                                        </p:tav>
                                      </p:tavLst>
                                    </p:anim>
                                    <p:anim calcmode="lin" valueType="num">
                                      <p:cBhvr additive="base">
                                        <p:cTn id="14" dur="6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600" fill="hold"/>
                                        <p:tgtEl>
                                          <p:spTgt spid="8"/>
                                        </p:tgtEl>
                                        <p:attrNameLst>
                                          <p:attrName>ppt_x</p:attrName>
                                        </p:attrNameLst>
                                      </p:cBhvr>
                                      <p:tavLst>
                                        <p:tav tm="0">
                                          <p:val>
                                            <p:strVal val="#ppt_x"/>
                                          </p:val>
                                        </p:tav>
                                        <p:tav tm="100000">
                                          <p:val>
                                            <p:strVal val="#ppt_x"/>
                                          </p:val>
                                        </p:tav>
                                      </p:tavLst>
                                    </p:anim>
                                    <p:anim calcmode="lin" valueType="num">
                                      <p:cBhvr additive="base">
                                        <p:cTn id="26" dur="6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LIMITS AND NEXT STEPS</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Limits, responsible use, next steps</a:t>
            </a:r>
            <a:endParaRPr lang="en-US" sz="3600" dirty="0"/>
          </a:p>
        </p:txBody>
      </p:sp>
      <p:sp>
        <p:nvSpPr>
          <p:cNvPr id="5" name="lm_0"/>
          <p:cNvSpPr txBox="1"/>
          <p:nvPr/>
        </p:nvSpPr>
        <p:spPr>
          <a:xfrm>
            <a:off x="548640" y="1508760"/>
            <a:ext cx="3520440" cy="475488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Limits of this study</a:t>
            </a:r>
            <a:endParaRPr lang="en-US" sz="1800" dirty="0"/>
          </a:p>
          <a:p>
            <a:pPr marL="342900" indent="-342900" algn="l">
              <a:spcAft>
                <a:spcPts val="800"/>
              </a:spcAft>
              <a:buSzPct val="100000"/>
              <a:buChar char="•"/>
            </a:pPr>
            <a:r>
              <a:rPr lang="en-US" sz="1600" dirty="0">
                <a:solidFill>
                  <a:schemeClr val="tx1"/>
                </a:solidFill>
              </a:rPr>
              <a:t>One run per setting (seed 42), so small gaps are not conclusive.</a:t>
            </a:r>
            <a:endParaRPr lang="en-US" sz="1800" dirty="0"/>
          </a:p>
          <a:p>
            <a:pPr marL="342900" indent="-342900" algn="l">
              <a:spcAft>
                <a:spcPts val="800"/>
              </a:spcAft>
              <a:buSzPct val="100000"/>
              <a:buChar char="•"/>
            </a:pPr>
            <a:r>
              <a:rPr lang="en-US" sz="1600" dirty="0">
                <a:solidFill>
                  <a:schemeClr val="tx1"/>
                </a:solidFill>
              </a:rPr>
              <a:t>Image-level split, not event-held-out.</a:t>
            </a:r>
            <a:endParaRPr lang="en-US" sz="1800" dirty="0"/>
          </a:p>
          <a:p>
            <a:pPr marL="342900" indent="-342900" algn="l">
              <a:spcAft>
                <a:spcPts val="800"/>
              </a:spcAft>
              <a:buSzPct val="100000"/>
              <a:buChar char="•"/>
            </a:pPr>
            <a:r>
              <a:rPr lang="en-US" sz="1600" dirty="0">
                <a:solidFill>
                  <a:schemeClr val="tx1"/>
                </a:solidFill>
              </a:rPr>
              <a:t>Head and loss results are separate runs, not one-variable ablations.</a:t>
            </a:r>
            <a:endParaRPr lang="en-US" sz="1800" dirty="0"/>
          </a:p>
          <a:p>
            <a:pPr marL="342900" indent="-342900" algn="l">
              <a:spcAft>
                <a:spcPts val="800"/>
              </a:spcAft>
              <a:buSzPct val="100000"/>
              <a:buChar char="•"/>
            </a:pPr>
            <a:r>
              <a:rPr lang="en-US" sz="1600" dirty="0">
                <a:solidFill>
                  <a:schemeClr val="tx1"/>
                </a:solidFill>
              </a:rPr>
              <a:t>Per-class names need the label-mapping check.</a:t>
            </a:r>
            <a:endParaRPr lang="en-US" sz="1800" dirty="0"/>
          </a:p>
          <a:p>
            <a:pPr marL="342900" indent="-342900" algn="l">
              <a:spcAft>
                <a:spcPts val="800"/>
              </a:spcAft>
              <a:buSzPct val="100000"/>
              <a:buChar char="•"/>
            </a:pPr>
            <a:r>
              <a:rPr lang="en-US" sz="1600" dirty="0">
                <a:solidFill>
                  <a:schemeClr val="tx1"/>
                </a:solidFill>
              </a:rPr>
              <a:t>Training times depend on the hardware used.</a:t>
            </a:r>
            <a:endParaRPr lang="en-US" sz="1800" dirty="0"/>
          </a:p>
        </p:txBody>
      </p:sp>
      <p:sp>
        <p:nvSpPr>
          <p:cNvPr id="6" name="lm_1"/>
          <p:cNvSpPr txBox="1"/>
          <p:nvPr/>
        </p:nvSpPr>
        <p:spPr>
          <a:xfrm>
            <a:off x="4334256" y="1508760"/>
            <a:ext cx="3520440" cy="475488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Responsible use</a:t>
            </a:r>
            <a:endParaRPr lang="en-US" sz="1800" dirty="0"/>
          </a:p>
          <a:p>
            <a:pPr marL="342900" indent="-342900" algn="l">
              <a:spcAft>
                <a:spcPts val="800"/>
              </a:spcAft>
              <a:buSzPct val="100000"/>
              <a:buChar char="•"/>
            </a:pPr>
            <a:r>
              <a:rPr lang="en-US" sz="1600" dirty="0">
                <a:solidFill>
                  <a:schemeClr val="tx1"/>
                </a:solidFill>
              </a:rPr>
              <a:t>Crisis images can show people and private property: follow the dataset terms, do not redistribute or identify anyone.</a:t>
            </a:r>
            <a:endParaRPr lang="en-US" sz="1800" dirty="0"/>
          </a:p>
          <a:p>
            <a:pPr marL="342900" indent="-342900" algn="l">
              <a:spcAft>
                <a:spcPts val="800"/>
              </a:spcAft>
              <a:buSzPct val="100000"/>
              <a:buChar char="•"/>
            </a:pPr>
            <a:r>
              <a:rPr lang="en-US" sz="1600" dirty="0">
                <a:solidFill>
                  <a:schemeClr val="tx1"/>
                </a:solidFill>
              </a:rPr>
              <a:t>A wrong prediction could mislead responders, so this is decision support only.</a:t>
            </a:r>
            <a:endParaRPr lang="en-US" sz="1800" dirty="0"/>
          </a:p>
          <a:p>
            <a:pPr marL="342900" indent="-342900" algn="l">
              <a:spcAft>
                <a:spcPts val="800"/>
              </a:spcAft>
              <a:buSzPct val="100000"/>
              <a:buChar char="•"/>
            </a:pPr>
            <a:r>
              <a:rPr lang="en-US" sz="1600" dirty="0">
                <a:solidFill>
                  <a:schemeClr val="tx1"/>
                </a:solidFill>
              </a:rPr>
              <a:t>Real use would need expert validation across events, regions and cameras.</a:t>
            </a:r>
            <a:endParaRPr lang="en-US" sz="1800" dirty="0"/>
          </a:p>
        </p:txBody>
      </p:sp>
      <p:sp>
        <p:nvSpPr>
          <p:cNvPr id="7" name="lm_2"/>
          <p:cNvSpPr txBox="1"/>
          <p:nvPr/>
        </p:nvSpPr>
        <p:spPr>
          <a:xfrm>
            <a:off x="8119872" y="1508760"/>
            <a:ext cx="3520440" cy="4754880"/>
          </a:xfrm>
          <a:prstGeom prst="roundRect">
            <a:avLst>
              <a:gd name="adj" fmla="val 207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Next steps</a:t>
            </a:r>
            <a:endParaRPr lang="en-US" sz="1800" dirty="0"/>
          </a:p>
          <a:p>
            <a:pPr marL="342900" indent="-342900" algn="l">
              <a:spcAft>
                <a:spcPts val="800"/>
              </a:spcAft>
              <a:buSzPct val="100000"/>
              <a:buChar char="•"/>
            </a:pPr>
            <a:r>
              <a:rPr lang="en-US" sz="1600" dirty="0">
                <a:solidFill>
                  <a:schemeClr val="tx1"/>
                </a:solidFill>
              </a:rPr>
              <a:t>Verify the class mapping and regenerate the confusion matrix.</a:t>
            </a:r>
            <a:endParaRPr lang="en-US" sz="1800" dirty="0"/>
          </a:p>
          <a:p>
            <a:pPr marL="342900" indent="-342900" algn="l">
              <a:spcAft>
                <a:spcPts val="800"/>
              </a:spcAft>
              <a:buSzPct val="100000"/>
              <a:buChar char="•"/>
            </a:pPr>
            <a:r>
              <a:rPr lang="en-US" sz="1600" dirty="0">
                <a:solidFill>
                  <a:schemeClr val="tx1"/>
                </a:solidFill>
              </a:rPr>
              <a:t>Repeat the key runs with several seeds.</a:t>
            </a:r>
            <a:endParaRPr lang="en-US" sz="1800" dirty="0"/>
          </a:p>
          <a:p>
            <a:pPr marL="342900" indent="-342900" algn="l">
              <a:spcAft>
                <a:spcPts val="800"/>
              </a:spcAft>
              <a:buSzPct val="100000"/>
              <a:buChar char="•"/>
            </a:pPr>
            <a:r>
              <a:rPr lang="en-US" sz="1600" dirty="0">
                <a:solidFill>
                  <a:schemeClr val="tx1"/>
                </a:solidFill>
              </a:rPr>
              <a:t>Evaluate on held-out disaster events.</a:t>
            </a:r>
            <a:endParaRPr lang="en-US" sz="1800" dirty="0"/>
          </a:p>
          <a:p>
            <a:pPr marL="342900" indent="-342900" algn="l">
              <a:spcAft>
                <a:spcPts val="800"/>
              </a:spcAft>
              <a:buSzPct val="100000"/>
              <a:buChar char="•"/>
            </a:pPr>
            <a:r>
              <a:rPr lang="en-US" sz="1600" dirty="0">
                <a:solidFill>
                  <a:schemeClr val="tx1"/>
                </a:solidFill>
              </a:rPr>
              <a:t>Run class-balancing experiments and error analysis.</a:t>
            </a:r>
            <a:endParaRPr lang="en-US" sz="1800" dirty="0"/>
          </a:p>
          <a:p>
            <a:pPr marL="342900" indent="-342900" algn="l">
              <a:spcAft>
                <a:spcPts val="800"/>
              </a:spcAft>
              <a:buSzPct val="100000"/>
              <a:buChar char="•"/>
            </a:pPr>
            <a:r>
              <a:rPr lang="en-US" sz="1600" dirty="0">
                <a:solidFill>
                  <a:schemeClr val="tx1"/>
                </a:solidFill>
              </a:rPr>
              <a:t>Record memory use and inference latency.</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600" fill="hold"/>
                                        <p:tgtEl>
                                          <p:spTgt spid="6"/>
                                        </p:tgtEl>
                                        <p:attrNameLst>
                                          <p:attrName>ppt_x</p:attrName>
                                        </p:attrNameLst>
                                      </p:cBhvr>
                                      <p:tavLst>
                                        <p:tav tm="0">
                                          <p:val>
                                            <p:strVal val="#ppt_x"/>
                                          </p:val>
                                        </p:tav>
                                        <p:tav tm="100000">
                                          <p:val>
                                            <p:strVal val="#ppt_x"/>
                                          </p:val>
                                        </p:tav>
                                      </p:tavLst>
                                    </p:anim>
                                    <p:anim calcmode="lin" valueType="num">
                                      <p:cBhvr additive="base">
                                        <p:cTn id="14" dur="6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1672" cy="274320"/>
          </a:xfrm>
          <a:prstGeom prst="rect">
            <a:avLst/>
          </a:prstGeom>
          <a:noFill/>
          <a:ln/>
        </p:spPr>
        <p:txBody>
          <a:bodyPr wrap="square" lIns="0" tIns="0" rIns="0" bIns="0" rtlCol="0" anchor="ctr"/>
          <a:lstStyle/>
          <a:p>
            <a:pPr marL="0" indent="0" algn="l">
              <a:buNone/>
            </a:pPr>
            <a:r>
              <a:rPr lang="en-US" sz="1200" b="1" dirty="0">
                <a:solidFill>
                  <a:schemeClr val="accent1"/>
                </a:solidFill>
              </a:rPr>
              <a:t>SUMMARY</a:t>
            </a:r>
            <a:endParaRPr lang="en-US" sz="1200" dirty="0"/>
          </a:p>
        </p:txBody>
      </p:sp>
      <p:sp>
        <p:nvSpPr>
          <p:cNvPr id="3" name="Text 0"/>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600" b="1" dirty="0">
                <a:solidFill>
                  <a:schemeClr val="tx2"/>
                </a:solidFill>
              </a:rPr>
              <a:t>Summary</a:t>
            </a:r>
            <a:endParaRPr lang="en-US" sz="3600" dirty="0"/>
          </a:p>
        </p:txBody>
      </p:sp>
      <p:sp>
        <p:nvSpPr>
          <p:cNvPr id="5" name="sm_a"/>
          <p:cNvSpPr txBox="1"/>
          <p:nvPr/>
        </p:nvSpPr>
        <p:spPr>
          <a:xfrm>
            <a:off x="548640" y="1508760"/>
            <a:ext cx="5852160" cy="2377440"/>
          </a:xfrm>
          <a:prstGeom prst="roundRect">
            <a:avLst>
              <a:gd name="adj" fmla="val 3077"/>
            </a:avLst>
          </a:prstGeom>
          <a:solidFill>
            <a:schemeClr val="bg2"/>
          </a:solidFill>
          <a:ln/>
          <a:effectLst>
            <a:outerShdw blurRad="101600" dist="38100" dir="5400000" algn="bl" rotWithShape="0">
              <a:srgbClr val="1B2433">
                <a:alpha val="16000"/>
              </a:srgbClr>
            </a:outerShdw>
          </a:effectLst>
        </p:spPr>
        <p:txBody>
          <a:bodyPr wrap="square" lIns="203200" tIns="203200" rIns="203200" bIns="203200" rtlCol="0" anchor="ctr"/>
          <a:lstStyle/>
          <a:p>
            <a:pPr marL="0" indent="0" algn="l">
              <a:spcAft>
                <a:spcPts val="600"/>
              </a:spcAft>
              <a:buNone/>
            </a:pPr>
            <a:r>
              <a:rPr lang="en-US" sz="4000" b="1" dirty="0">
                <a:solidFill>
                  <a:schemeClr val="accent1"/>
                </a:solidFill>
              </a:rPr>
              <a:t>57.30%  →  64.18%</a:t>
            </a:r>
            <a:endParaRPr lang="en-US" sz="4000" dirty="0"/>
          </a:p>
          <a:p>
            <a:pPr marL="0" indent="0" algn="l">
              <a:buNone/>
            </a:pPr>
            <a:r>
              <a:rPr lang="en-US" sz="1800" dirty="0">
                <a:solidFill>
                  <a:schemeClr val="tx1"/>
                </a:solidFill>
              </a:rPr>
              <a:t>Validation Macro-F1, from the frozen DINOv2 probe to the selected realistic-augmentation checkpoint.</a:t>
            </a:r>
            <a:endParaRPr lang="en-US" sz="4000" dirty="0"/>
          </a:p>
        </p:txBody>
      </p:sp>
      <p:sp>
        <p:nvSpPr>
          <p:cNvPr id="6" name="sm_b"/>
          <p:cNvSpPr txBox="1"/>
          <p:nvPr/>
        </p:nvSpPr>
        <p:spPr>
          <a:xfrm>
            <a:off x="548640" y="4069080"/>
            <a:ext cx="5852160" cy="2194560"/>
          </a:xfrm>
          <a:prstGeom prst="roundRect">
            <a:avLst>
              <a:gd name="adj" fmla="val 3333"/>
            </a:avLst>
          </a:prstGeom>
          <a:solidFill>
            <a:schemeClr val="bg2"/>
          </a:solidFill>
          <a:ln/>
          <a:effectLst>
            <a:outerShdw blurRad="101600" dist="38100" dir="5400000" algn="bl" rotWithShape="0">
              <a:srgbClr val="1B2433">
                <a:alpha val="16000"/>
              </a:srgbClr>
            </a:outerShdw>
          </a:effectLst>
        </p:spPr>
        <p:txBody>
          <a:bodyPr wrap="square" lIns="203200" tIns="203200" rIns="203200" bIns="203200" rtlCol="0" anchor="ctr"/>
          <a:lstStyle/>
          <a:p>
            <a:pPr marL="0" indent="0" algn="l">
              <a:spcAft>
                <a:spcPts val="600"/>
              </a:spcAft>
              <a:buNone/>
            </a:pPr>
            <a:r>
              <a:rPr lang="en-US" sz="3200" b="1" dirty="0">
                <a:solidFill>
                  <a:schemeClr val="accent3"/>
                </a:solidFill>
              </a:rPr>
              <a:t>59.78% Macro-F1</a:t>
            </a:r>
            <a:endParaRPr lang="en-US" sz="3200" dirty="0"/>
          </a:p>
          <a:p>
            <a:pPr marL="0" indent="0" algn="l">
              <a:buNone/>
            </a:pPr>
            <a:r>
              <a:rPr lang="en-US" sz="1800" dirty="0">
                <a:solidFill>
                  <a:schemeClr val="tx1"/>
                </a:solidFill>
              </a:rPr>
              <a:t>69.41% accuracy on 693 held-out test images, evaluated once.</a:t>
            </a:r>
            <a:endParaRPr lang="en-US" sz="3200" dirty="0"/>
          </a:p>
        </p:txBody>
      </p:sp>
      <p:sp>
        <p:nvSpPr>
          <p:cNvPr id="7" name="sm_c"/>
          <p:cNvSpPr txBox="1"/>
          <p:nvPr/>
        </p:nvSpPr>
        <p:spPr>
          <a:xfrm>
            <a:off x="6675120" y="1508760"/>
            <a:ext cx="4965192" cy="4754880"/>
          </a:xfrm>
          <a:prstGeom prst="roundRect">
            <a:avLst>
              <a:gd name="adj" fmla="val 1538"/>
            </a:avLst>
          </a:prstGeom>
          <a:solidFill>
            <a:schemeClr val="bg2"/>
          </a:solidFill>
          <a:ln/>
          <a:effectLst>
            <a:outerShdw blurRad="101600" dist="38100" dir="5400000" algn="bl" rotWithShape="0">
              <a:srgbClr val="1B2433">
                <a:alpha val="16000"/>
              </a:srgbClr>
            </a:outerShdw>
          </a:effectLst>
        </p:spPr>
        <p:txBody>
          <a:bodyPr wrap="square" lIns="152400" tIns="152400" rIns="152400" bIns="152400" rtlCol="0" anchor="t"/>
          <a:lstStyle/>
          <a:p>
            <a:pPr marL="0" indent="0" algn="l">
              <a:spcAft>
                <a:spcPts val="600"/>
              </a:spcAft>
              <a:buNone/>
            </a:pPr>
            <a:r>
              <a:rPr lang="en-US" sz="1800" b="1" dirty="0">
                <a:solidFill>
                  <a:schemeClr val="tx2"/>
                </a:solidFill>
              </a:rPr>
              <a:t>Takeaways</a:t>
            </a:r>
            <a:endParaRPr lang="en-US" sz="1800" dirty="0"/>
          </a:p>
          <a:p>
            <a:pPr marL="342900" indent="-342900" algn="l">
              <a:spcAft>
                <a:spcPts val="1200"/>
              </a:spcAft>
              <a:buSzPct val="100000"/>
              <a:buChar char="•"/>
            </a:pPr>
            <a:r>
              <a:rPr lang="en-US" sz="1800" dirty="0">
                <a:solidFill>
                  <a:schemeClr val="tx1"/>
                </a:solidFill>
              </a:rPr>
              <a:t>Model choice, tuning and the data pipeline each moved different metrics.</a:t>
            </a:r>
            <a:endParaRPr lang="en-US" sz="1800" dirty="0"/>
          </a:p>
          <a:p>
            <a:pPr marL="342900" indent="-342900" algn="l">
              <a:spcAft>
                <a:spcPts val="1200"/>
              </a:spcAft>
              <a:buSzPct val="100000"/>
              <a:buChar char="•"/>
            </a:pPr>
            <a:r>
              <a:rPr lang="en-US" sz="1800" dirty="0">
                <a:solidFill>
                  <a:schemeClr val="tx1"/>
                </a:solidFill>
              </a:rPr>
              <a:t>Validation gains did not carry over in full to the test set.</a:t>
            </a:r>
            <a:endParaRPr lang="en-US" sz="1800" dirty="0"/>
          </a:p>
          <a:p>
            <a:pPr marL="342900" indent="-342900" algn="l">
              <a:spcAft>
                <a:spcPts val="2200"/>
              </a:spcAft>
              <a:buSzPct val="100000"/>
              <a:buChar char="•"/>
            </a:pPr>
            <a:r>
              <a:rPr lang="en-US" sz="1800" dirty="0">
                <a:solidFill>
                  <a:schemeClr val="tx1"/>
                </a:solidFill>
              </a:rPr>
              <a:t>This is a documented research baseline, not a deployment-ready damage assessment system.</a:t>
            </a:r>
            <a:endParaRPr lang="en-US" sz="1800" dirty="0"/>
          </a:p>
          <a:p>
            <a:pPr marL="0" indent="0" algn="l">
              <a:buNone/>
            </a:pPr>
            <a:r>
              <a:rPr lang="en-US" sz="2800" b="1" dirty="0">
                <a:solidFill>
                  <a:schemeClr val="accent1"/>
                </a:solidFill>
              </a:rPr>
              <a:t>Questions?</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100">
        <p14:prism/>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ppt_x</p:attrName>
                                        </p:attrNameLst>
                                      </p:cBhvr>
                                      <p:tavLst>
                                        <p:tav tm="0">
                                          <p:val>
                                            <p:strVal val="#ppt_x"/>
                                          </p:val>
                                        </p:tav>
                                        <p:tav tm="100000">
                                          <p:val>
                                            <p:strVal val="#ppt_x"/>
                                          </p:val>
                                        </p:tav>
                                      </p:tavLst>
                                    </p:anim>
                                    <p:anim calcmode="lin" valueType="num">
                                      <p:cBhvr additive="base">
                                        <p:cTn id="8" dur="6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600" fill="hold"/>
                                        <p:tgtEl>
                                          <p:spTgt spid="6"/>
                                        </p:tgtEl>
                                        <p:attrNameLst>
                                          <p:attrName>ppt_x</p:attrName>
                                        </p:attrNameLst>
                                      </p:cBhvr>
                                      <p:tavLst>
                                        <p:tav tm="0">
                                          <p:val>
                                            <p:strVal val="#ppt_x"/>
                                          </p:val>
                                        </p:tav>
                                        <p:tav tm="100000">
                                          <p:val>
                                            <p:strVal val="#ppt_x"/>
                                          </p:val>
                                        </p:tav>
                                      </p:tavLst>
                                    </p:anim>
                                    <p:anim calcmode="lin" valueType="num">
                                      <p:cBhvr additive="base">
                                        <p:cTn id="14" dur="6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theme/theme1.xml><?xml version="1.0" encoding="utf-8"?>
<a:theme xmlns:a="http://schemas.openxmlformats.org/drawingml/2006/main" name="Academic Light">
  <a:themeElements>
    <a:clrScheme name="Academic Light">
      <a:dk1>
        <a:srgbClr val="1B2433"/>
      </a:dk1>
      <a:lt1>
        <a:srgbClr val="FFFFFF"/>
      </a:lt1>
      <a:dk2>
        <a:srgbClr val="24477A"/>
      </a:dk2>
      <a:lt2>
        <a:srgbClr val="EEF2F8"/>
      </a:lt2>
      <a:accent1>
        <a:srgbClr val="2B5C9E"/>
      </a:accent1>
      <a:accent2>
        <a:srgbClr val="2A8C82"/>
      </a:accent2>
      <a:accent3>
        <a:srgbClr val="B5701F"/>
      </a:accent3>
      <a:accent4>
        <a:srgbClr val="7A4E8A"/>
      </a:accent4>
      <a:accent5>
        <a:srgbClr val="5B6B82"/>
      </a:accent5>
      <a:accent6>
        <a:srgbClr val="B5483A"/>
      </a:accent6>
      <a:hlink>
        <a:srgbClr val="2B5C9E"/>
      </a:hlink>
      <a:folHlink>
        <a:srgbClr val="7A4E8A"/>
      </a:folHlink>
    </a:clrScheme>
    <a:fontScheme name="Academic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3540</Words>
  <Application>Microsoft Macintosh PowerPoint</Application>
  <PresentationFormat>Widescreen</PresentationFormat>
  <Paragraphs>376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Academic Light</vt:lpstr>
      <vt:lpstr>Vision Transformers for Disaster Damage Classification</vt:lpstr>
      <vt:lpstr>Project description and objective</vt:lpstr>
      <vt:lpstr>How the study is organized</vt:lpstr>
      <vt:lpstr>Inside a Vision Transformer</vt:lpstr>
      <vt:lpstr>Three models, three ways of learning</vt:lpstr>
      <vt:lpstr>Data, split and the rule for choosing</vt:lpstr>
      <vt:lpstr>Starting point: frozen backbones</vt:lpstr>
      <vt:lpstr>Learning rate and fine-tuning</vt:lpstr>
      <vt:lpstr>Classifier head and loss function</vt:lpstr>
      <vt:lpstr>Augmentation: three training pipelines</vt:lpstr>
      <vt:lpstr>The full journey in one view</vt:lpstr>
      <vt:lpstr>Final checkpoint and test result</vt:lpstr>
      <vt:lpstr>Validation versus test</vt:lpstr>
      <vt:lpstr>Per-class results need a label check</vt:lpstr>
      <vt:lpstr>What the experiments showed</vt:lpstr>
      <vt:lpstr>Limits, responsible use, next steps</vt:lpstr>
      <vt:lpstr>Summary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 Transformers for Disaster Damage Classification</dc:title>
  <dc:subject>PptxGenJS Presentation</dc:subject>
  <dc:creator>Hozefa Mustan Kanchwala</dc:creator>
  <cp:lastModifiedBy>Hozefa Mustan Kanchwala</cp:lastModifiedBy>
  <cp:revision>1</cp:revision>
  <dcterms:created xsi:type="dcterms:W3CDTF">2026-10-25T21:40:28Z</dcterms:created>
  <dcterms:modified xsi:type="dcterms:W3CDTF">2026-10-25T21:42:55Z</dcterms:modified>
</cp:coreProperties>
</file>